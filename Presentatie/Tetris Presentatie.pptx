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57" r:id="rId6"/>
    <p:sldId id="278" r:id="rId7"/>
    <p:sldId id="265" r:id="rId8"/>
    <p:sldId id="261" r:id="rId9"/>
    <p:sldId id="264" r:id="rId10"/>
    <p:sldId id="277" r:id="rId11"/>
    <p:sldId id="262" r:id="rId12"/>
    <p:sldId id="271" r:id="rId13"/>
    <p:sldId id="263" r:id="rId14"/>
    <p:sldId id="270" r:id="rId15"/>
    <p:sldId id="275" r:id="rId16"/>
    <p:sldId id="267" r:id="rId17"/>
  </p:sldIdLst>
  <p:sldSz cx="18288000" cy="10287000"/>
  <p:notesSz cx="6858000" cy="9144000"/>
  <p:embeddedFontLst>
    <p:embeddedFont>
      <p:font typeface="Assistant" pitchFamily="2" charset="-79"/>
      <p:regular r:id="rId19"/>
      <p:bold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Fira Sans" panose="020B0503050000020004" pitchFamily="34" charset="0"/>
      <p:regular r:id="rId25"/>
      <p:bold r:id="rId26"/>
      <p:italic r:id="rId27"/>
      <p:boldItalic r:id="rId28"/>
    </p:embeddedFont>
    <p:embeddedFont>
      <p:font typeface="Fira Sans Medium" panose="020B0603050000020004" pitchFamily="3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AA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534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480297702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g1480297702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6865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5" name="Google Shape;19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25702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8373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olet Yellow and Green Geometric Project Roadmap Presentation 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/>
          <p:nvPr/>
        </p:nvSpPr>
        <p:spPr>
          <a:xfrm>
            <a:off x="-3075206" y="-2259745"/>
            <a:ext cx="14864508" cy="1493113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3"/>
          <p:cNvGrpSpPr/>
          <p:nvPr/>
        </p:nvGrpSpPr>
        <p:grpSpPr>
          <a:xfrm>
            <a:off x="1119321" y="6923675"/>
            <a:ext cx="497803" cy="500035"/>
            <a:chOff x="1813" y="0"/>
            <a:chExt cx="809173" cy="812800"/>
          </a:xfrm>
        </p:grpSpPr>
        <p:sp>
          <p:nvSpPr>
            <p:cNvPr id="12" name="Google Shape;12;p3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A16A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3"/>
            <p:cNvSpPr txBox="1"/>
            <p:nvPr/>
          </p:nvSpPr>
          <p:spPr>
            <a:xfrm>
              <a:off x="76200" y="9525"/>
              <a:ext cx="660300" cy="72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" name="Google Shape;14;p3"/>
          <p:cNvGrpSpPr/>
          <p:nvPr/>
        </p:nvGrpSpPr>
        <p:grpSpPr>
          <a:xfrm>
            <a:off x="1776546" y="6923675"/>
            <a:ext cx="497803" cy="500035"/>
            <a:chOff x="1813" y="0"/>
            <a:chExt cx="809173" cy="812800"/>
          </a:xfrm>
        </p:grpSpPr>
        <p:sp>
          <p:nvSpPr>
            <p:cNvPr id="15" name="Google Shape;15;p3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3"/>
            <p:cNvSpPr txBox="1"/>
            <p:nvPr/>
          </p:nvSpPr>
          <p:spPr>
            <a:xfrm>
              <a:off x="76200" y="9525"/>
              <a:ext cx="660300" cy="72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17;p3"/>
          <p:cNvGrpSpPr/>
          <p:nvPr/>
        </p:nvGrpSpPr>
        <p:grpSpPr>
          <a:xfrm>
            <a:off x="2438533" y="6923675"/>
            <a:ext cx="497803" cy="500035"/>
            <a:chOff x="1813" y="0"/>
            <a:chExt cx="809173" cy="812800"/>
          </a:xfrm>
        </p:grpSpPr>
        <p:sp>
          <p:nvSpPr>
            <p:cNvPr id="18" name="Google Shape;18;p3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3"/>
            <p:cNvSpPr txBox="1"/>
            <p:nvPr/>
          </p:nvSpPr>
          <p:spPr>
            <a:xfrm>
              <a:off x="76200" y="9525"/>
              <a:ext cx="660300" cy="72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" name="Google Shape;20;p3"/>
          <p:cNvSpPr txBox="1">
            <a:spLocks noGrp="1"/>
          </p:cNvSpPr>
          <p:nvPr>
            <p:ph type="ctrTitle"/>
          </p:nvPr>
        </p:nvSpPr>
        <p:spPr>
          <a:xfrm>
            <a:off x="1119325" y="434687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5925" y="80465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sz="7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919825" y="33736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 sz="2400"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ubTitle" idx="2"/>
          </p:nvPr>
        </p:nvSpPr>
        <p:spPr>
          <a:xfrm>
            <a:off x="1010175" y="1950125"/>
            <a:ext cx="6984900" cy="90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64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1pPr>
            <a:lvl2pPr lvl="1">
              <a:spcBef>
                <a:spcPts val="56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2pPr>
            <a:lvl3pPr lvl="2">
              <a:spcBef>
                <a:spcPts val="48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8pPr>
            <a:lvl9pPr lvl="8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1098538" y="4975988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400"/>
              <a:buNone/>
              <a:defRPr sz="24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400"/>
              <a:buNone/>
              <a:defRPr sz="24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400"/>
              <a:buNone/>
              <a:defRPr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15925" y="80465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sz="75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/>
          <p:nvPr/>
        </p:nvSpPr>
        <p:spPr>
          <a:xfrm>
            <a:off x="3000" y="-8875"/>
            <a:ext cx="18291008" cy="10286869"/>
          </a:xfrm>
          <a:custGeom>
            <a:avLst/>
            <a:gdLst/>
            <a:ahLst/>
            <a:cxnLst/>
            <a:rect l="l" t="t" r="r" b="b"/>
            <a:pathLst>
              <a:path w="4816592" h="982509" extrusionOk="0">
                <a:moveTo>
                  <a:pt x="0" y="0"/>
                </a:moveTo>
                <a:lnTo>
                  <a:pt x="4816592" y="0"/>
                </a:lnTo>
                <a:lnTo>
                  <a:pt x="4816592" y="982509"/>
                </a:lnTo>
                <a:lnTo>
                  <a:pt x="0" y="982509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</p:sp>
      <p:sp>
        <p:nvSpPr>
          <p:cNvPr id="30" name="Google Shape;30;p6"/>
          <p:cNvSpPr txBox="1">
            <a:spLocks noGrp="1"/>
          </p:cNvSpPr>
          <p:nvPr>
            <p:ph type="body" idx="1"/>
          </p:nvPr>
        </p:nvSpPr>
        <p:spPr>
          <a:xfrm>
            <a:off x="3687875" y="3399575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»"/>
              <a:defRPr sz="2400">
                <a:solidFill>
                  <a:schemeClr val="lt1"/>
                </a:solidFill>
              </a:defRPr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2"/>
          </p:nvPr>
        </p:nvSpPr>
        <p:spPr>
          <a:xfrm>
            <a:off x="9620975" y="3334125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»"/>
              <a:defRPr sz="2400">
                <a:solidFill>
                  <a:schemeClr val="lt1"/>
                </a:solidFill>
              </a:defRPr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15925" y="80465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None/>
              <a:defRPr sz="7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711750" y="1248913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2035750" y="4604000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7589425" y="4546750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0"/>
            <a:ext cx="18291012" cy="6557614"/>
          </a:xfrm>
          <a:custGeom>
            <a:avLst/>
            <a:gdLst/>
            <a:ahLst/>
            <a:cxnLst/>
            <a:rect l="l" t="t" r="r" b="b"/>
            <a:pathLst>
              <a:path w="4816593" h="1726824" extrusionOk="0">
                <a:moveTo>
                  <a:pt x="0" y="0"/>
                </a:moveTo>
                <a:lnTo>
                  <a:pt x="4816593" y="0"/>
                </a:lnTo>
                <a:lnTo>
                  <a:pt x="4816593" y="1726824"/>
                </a:lnTo>
                <a:lnTo>
                  <a:pt x="0" y="1726824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</p:sp>
      <p:sp>
        <p:nvSpPr>
          <p:cNvPr id="39" name="Google Shape;39;p8"/>
          <p:cNvSpPr/>
          <p:nvPr/>
        </p:nvSpPr>
        <p:spPr>
          <a:xfrm>
            <a:off x="0" y="6547010"/>
            <a:ext cx="18291008" cy="3731078"/>
          </a:xfrm>
          <a:custGeom>
            <a:avLst/>
            <a:gdLst/>
            <a:ahLst/>
            <a:cxnLst/>
            <a:rect l="l" t="t" r="r" b="b"/>
            <a:pathLst>
              <a:path w="4816592" h="982509" extrusionOk="0">
                <a:moveTo>
                  <a:pt x="0" y="0"/>
                </a:moveTo>
                <a:lnTo>
                  <a:pt x="4816592" y="0"/>
                </a:lnTo>
                <a:lnTo>
                  <a:pt x="4816592" y="982509"/>
                </a:lnTo>
                <a:lnTo>
                  <a:pt x="0" y="982509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</p:sp>
      <p:grpSp>
        <p:nvGrpSpPr>
          <p:cNvPr id="40" name="Google Shape;40;p8"/>
          <p:cNvGrpSpPr/>
          <p:nvPr/>
        </p:nvGrpSpPr>
        <p:grpSpPr>
          <a:xfrm>
            <a:off x="6045522" y="5786632"/>
            <a:ext cx="5949307" cy="1463065"/>
            <a:chOff x="0" y="-102688"/>
            <a:chExt cx="7932409" cy="1950753"/>
          </a:xfrm>
        </p:grpSpPr>
        <p:grpSp>
          <p:nvGrpSpPr>
            <p:cNvPr id="41" name="Google Shape;41;p8"/>
            <p:cNvGrpSpPr/>
            <p:nvPr/>
          </p:nvGrpSpPr>
          <p:grpSpPr>
            <a:xfrm>
              <a:off x="0" y="24699"/>
              <a:ext cx="1481211" cy="1823366"/>
              <a:chOff x="0" y="0"/>
              <a:chExt cx="660400" cy="812950"/>
            </a:xfrm>
          </p:grpSpPr>
          <p:sp>
            <p:nvSpPr>
              <p:cNvPr id="42" name="Google Shape;42;p8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8"/>
              <p:cNvSpPr txBox="1"/>
              <p:nvPr/>
            </p:nvSpPr>
            <p:spPr>
              <a:xfrm>
                <a:off x="0" y="69850"/>
                <a:ext cx="660300" cy="74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4" name="Google Shape;44;p8"/>
            <p:cNvGrpSpPr/>
            <p:nvPr/>
          </p:nvGrpSpPr>
          <p:grpSpPr>
            <a:xfrm>
              <a:off x="4059904" y="-102688"/>
              <a:ext cx="1641881" cy="1939119"/>
              <a:chOff x="0" y="-57150"/>
              <a:chExt cx="736600" cy="869950"/>
            </a:xfrm>
          </p:grpSpPr>
          <p:sp>
            <p:nvSpPr>
              <p:cNvPr id="45" name="Google Shape;45;p8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</p:sp>
          <p:sp>
            <p:nvSpPr>
              <p:cNvPr id="46" name="Google Shape;46;p8"/>
              <p:cNvSpPr txBox="1"/>
              <p:nvPr/>
            </p:nvSpPr>
            <p:spPr>
              <a:xfrm>
                <a:off x="0" y="-57150"/>
                <a:ext cx="736500" cy="74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7" name="Google Shape;47;p8"/>
            <p:cNvGrpSpPr/>
            <p:nvPr/>
          </p:nvGrpSpPr>
          <p:grpSpPr>
            <a:xfrm>
              <a:off x="1868719" y="24699"/>
              <a:ext cx="1803647" cy="1811731"/>
              <a:chOff x="1813" y="0"/>
              <a:chExt cx="809173" cy="812800"/>
            </a:xfrm>
          </p:grpSpPr>
          <p:sp>
            <p:nvSpPr>
              <p:cNvPr id="48" name="Google Shape;48;p8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EE604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8"/>
              <p:cNvSpPr txBox="1"/>
              <p:nvPr/>
            </p:nvSpPr>
            <p:spPr>
              <a:xfrm>
                <a:off x="76200" y="19050"/>
                <a:ext cx="660300" cy="71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0" name="Google Shape;50;p8"/>
            <p:cNvSpPr/>
            <p:nvPr/>
          </p:nvSpPr>
          <p:spPr>
            <a:xfrm rot="10800000">
              <a:off x="6096342" y="530"/>
              <a:ext cx="1836068" cy="1835906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4703050" y="33508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None/>
              <a:defRPr sz="7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title" idx="2"/>
          </p:nvPr>
        </p:nvSpPr>
        <p:spPr>
          <a:xfrm>
            <a:off x="4817550" y="734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ira Sans Medium"/>
              <a:buNone/>
              <a:defRPr sz="3600" b="0">
                <a:solidFill>
                  <a:schemeClr val="lt1"/>
                </a:solidFill>
                <a:latin typeface="Fira Sans Medium"/>
                <a:ea typeface="Fira Sans Medium"/>
                <a:cs typeface="Fira Sans Medium"/>
                <a:sym typeface="Fira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/>
          <p:nvPr/>
        </p:nvSpPr>
        <p:spPr>
          <a:xfrm>
            <a:off x="0" y="0"/>
            <a:ext cx="18287898" cy="10286740"/>
          </a:xfrm>
          <a:custGeom>
            <a:avLst/>
            <a:gdLst/>
            <a:ahLst/>
            <a:cxnLst/>
            <a:rect l="l" t="t" r="r" b="b"/>
            <a:pathLst>
              <a:path w="660511" h="714481" extrusionOk="0">
                <a:moveTo>
                  <a:pt x="0" y="0"/>
                </a:moveTo>
                <a:lnTo>
                  <a:pt x="660511" y="0"/>
                </a:lnTo>
                <a:lnTo>
                  <a:pt x="660511" y="714481"/>
                </a:lnTo>
                <a:lnTo>
                  <a:pt x="0" y="714481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</p:sp>
      <p:sp>
        <p:nvSpPr>
          <p:cNvPr id="55" name="Google Shape;55;p9"/>
          <p:cNvSpPr txBox="1">
            <a:spLocks noGrp="1"/>
          </p:cNvSpPr>
          <p:nvPr>
            <p:ph type="body" idx="1"/>
          </p:nvPr>
        </p:nvSpPr>
        <p:spPr>
          <a:xfrm>
            <a:off x="1389600" y="29661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2pPr>
            <a:lvl3pPr marL="1371600" lvl="2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4pPr>
            <a:lvl5pPr marL="2286000" lvl="4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»"/>
              <a:defRPr sz="2400">
                <a:solidFill>
                  <a:schemeClr val="lt1"/>
                </a:solidFill>
              </a:defRPr>
            </a:lvl5pPr>
            <a:lvl6pPr marL="2743200" lvl="5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marL="3200400" lvl="6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marL="3657600" lvl="7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marL="4114800" lvl="8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315925" y="80465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None/>
              <a:defRPr sz="7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>
            <a:spLocks noGrp="1"/>
          </p:cNvSpPr>
          <p:nvPr>
            <p:ph type="pic" idx="2"/>
          </p:nvPr>
        </p:nvSpPr>
        <p:spPr>
          <a:xfrm>
            <a:off x="9509600" y="2432500"/>
            <a:ext cx="8778300" cy="675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/>
          <p:nvPr/>
        </p:nvSpPr>
        <p:spPr>
          <a:xfrm>
            <a:off x="3000" y="-8875"/>
            <a:ext cx="18363257" cy="10370382"/>
          </a:xfrm>
          <a:custGeom>
            <a:avLst/>
            <a:gdLst/>
            <a:ahLst/>
            <a:cxnLst/>
            <a:rect l="l" t="t" r="r" b="b"/>
            <a:pathLst>
              <a:path w="4816592" h="982509" extrusionOk="0">
                <a:moveTo>
                  <a:pt x="0" y="0"/>
                </a:moveTo>
                <a:lnTo>
                  <a:pt x="4816592" y="0"/>
                </a:lnTo>
                <a:lnTo>
                  <a:pt x="4816592" y="982509"/>
                </a:lnTo>
                <a:lnTo>
                  <a:pt x="0" y="982509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</p:sp>
      <p:sp>
        <p:nvSpPr>
          <p:cNvPr id="60" name="Google Shape;60;p10"/>
          <p:cNvSpPr>
            <a:spLocks noGrp="1"/>
          </p:cNvSpPr>
          <p:nvPr>
            <p:ph type="pic" idx="2"/>
          </p:nvPr>
        </p:nvSpPr>
        <p:spPr>
          <a:xfrm>
            <a:off x="-5863107" y="-8437"/>
            <a:ext cx="13825800" cy="103695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8521625" y="282705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2pPr>
            <a:lvl3pPr marL="1371600" lvl="2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4pPr>
            <a:lvl5pPr marL="2286000" lvl="4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»"/>
              <a:defRPr sz="2400">
                <a:solidFill>
                  <a:schemeClr val="lt1"/>
                </a:solidFill>
              </a:defRPr>
            </a:lvl5pPr>
            <a:lvl6pPr marL="2743200" lvl="5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marL="3200400" lvl="6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marL="3657600" lvl="7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marL="4114800" lvl="8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7701450" y="82360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None/>
              <a:defRPr sz="7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1750" y="1248913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Fira Sans"/>
              <a:buNone/>
              <a:defRPr sz="4400" b="1" i="0" u="none" strike="noStrike" cap="non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361875" y="37067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ssistant"/>
              <a:buChar char="•"/>
              <a:defRPr sz="32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Char char="–"/>
              <a:defRPr sz="28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ssistant"/>
              <a:buChar char="•"/>
              <a:defRPr sz="24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–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»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•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•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•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•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hyperlink" Target="https://github.com/danielchang2002/tetris_ai.git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estebandesmedt/Tetris-AI" TargetMode="External"/><Relationship Id="rId5" Type="http://schemas.openxmlformats.org/officeDocument/2006/relationships/hyperlink" Target="https://www.youtube.com/watch?v=nF_crEtmpBo" TargetMode="External"/><Relationship Id="rId4" Type="http://schemas.openxmlformats.org/officeDocument/2006/relationships/hyperlink" Target="https://codemyroad.wordpress.com/2013/04/14/tetris-ai-the-near-perfect-player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/>
          <p:nvPr/>
        </p:nvSpPr>
        <p:spPr>
          <a:xfrm>
            <a:off x="16467536" y="4562534"/>
            <a:ext cx="1189609" cy="1312672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67" name="Google Shape;67;p11"/>
          <p:cNvSpPr/>
          <p:nvPr/>
        </p:nvSpPr>
        <p:spPr>
          <a:xfrm>
            <a:off x="12348277" y="6542926"/>
            <a:ext cx="2209038" cy="2718816"/>
          </a:xfrm>
          <a:custGeom>
            <a:avLst/>
            <a:gdLst/>
            <a:ahLst/>
            <a:cxnLst/>
            <a:rect l="l" t="t" r="r" b="b"/>
            <a:pathLst>
              <a:path w="660400" h="812800" extrusionOk="0">
                <a:moveTo>
                  <a:pt x="220252" y="19070"/>
                </a:moveTo>
                <a:cubicBezTo>
                  <a:pt x="254000" y="7556"/>
                  <a:pt x="292600" y="0"/>
                  <a:pt x="330378" y="0"/>
                </a:cubicBezTo>
                <a:cubicBezTo>
                  <a:pt x="368157" y="0"/>
                  <a:pt x="404509" y="6476"/>
                  <a:pt x="438009" y="17990"/>
                </a:cubicBezTo>
                <a:cubicBezTo>
                  <a:pt x="438723" y="18350"/>
                  <a:pt x="439435" y="18350"/>
                  <a:pt x="440148" y="18710"/>
                </a:cubicBezTo>
                <a:cubicBezTo>
                  <a:pt x="565955" y="64765"/>
                  <a:pt x="658618" y="186379"/>
                  <a:pt x="660400" y="328502"/>
                </a:cubicBezTo>
                <a:lnTo>
                  <a:pt x="660400" y="812800"/>
                </a:lnTo>
                <a:lnTo>
                  <a:pt x="0" y="812800"/>
                </a:lnTo>
                <a:lnTo>
                  <a:pt x="0" y="328861"/>
                </a:lnTo>
                <a:cubicBezTo>
                  <a:pt x="1782" y="185660"/>
                  <a:pt x="93019" y="64045"/>
                  <a:pt x="220252" y="1907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50" name="Picture 2" descr="Play Tetris® Online for Free on PC &amp; Mobile | now.gg">
            <a:extLst>
              <a:ext uri="{FF2B5EF4-FFF2-40B4-BE49-F238E27FC236}">
                <a16:creationId xmlns:a16="http://schemas.microsoft.com/office/drawing/2014/main" id="{E99F58A5-A278-F7BD-BE55-5C84C4EE4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3807" y="2705100"/>
            <a:ext cx="4876800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1" name="Google Shape;71;p11"/>
          <p:cNvSpPr/>
          <p:nvPr/>
        </p:nvSpPr>
        <p:spPr>
          <a:xfrm rot="10800000">
            <a:off x="13943448" y="8080058"/>
            <a:ext cx="1548057" cy="1547921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ctrTitle"/>
          </p:nvPr>
        </p:nvSpPr>
        <p:spPr>
          <a:xfrm>
            <a:off x="1017300" y="3935275"/>
            <a:ext cx="10286700" cy="2246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BE" sz="9900" dirty="0" err="1"/>
              <a:t>Tetris</a:t>
            </a:r>
            <a:r>
              <a:rPr lang="nl-BE" sz="9900" dirty="0"/>
              <a:t> AI</a:t>
            </a:r>
            <a:endParaRPr sz="9900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4DD24C7-FBD7-3F26-9D9C-ABF86400C039}"/>
              </a:ext>
            </a:extLst>
          </p:cNvPr>
          <p:cNvSpPr txBox="1">
            <a:spLocks/>
          </p:cNvSpPr>
          <p:nvPr/>
        </p:nvSpPr>
        <p:spPr>
          <a:xfrm>
            <a:off x="502236" y="8059957"/>
            <a:ext cx="8813259" cy="2246700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nl-BE" sz="2200" dirty="0">
                <a:latin typeface="Fira Sans" panose="020B0503050000020004" pitchFamily="34" charset="0"/>
              </a:rPr>
              <a:t>Elektronica-ICT</a:t>
            </a:r>
          </a:p>
          <a:p>
            <a:r>
              <a:rPr lang="nl-BE" sz="2200" dirty="0">
                <a:latin typeface="Fira Sans" panose="020B0503050000020004" pitchFamily="34" charset="0"/>
              </a:rPr>
              <a:t>AI Programming </a:t>
            </a:r>
          </a:p>
          <a:p>
            <a:endParaRPr lang="nl-BE" sz="2200" dirty="0"/>
          </a:p>
          <a:p>
            <a:r>
              <a:rPr lang="nl-BE" sz="2200" dirty="0"/>
              <a:t>							</a:t>
            </a:r>
            <a:r>
              <a:rPr lang="nl-BE" sz="2200" dirty="0" err="1">
                <a:latin typeface="Fira Sans" panose="020B0503050000020004" pitchFamily="34" charset="0"/>
              </a:rPr>
              <a:t>Esteban</a:t>
            </a:r>
            <a:r>
              <a:rPr lang="nl-BE" sz="2200" dirty="0">
                <a:latin typeface="Fira Sans" panose="020B0503050000020004" pitchFamily="34" charset="0"/>
              </a:rPr>
              <a:t> Desmedt</a:t>
            </a:r>
          </a:p>
          <a:p>
            <a:r>
              <a:rPr lang="nl-BE" sz="2200" dirty="0">
                <a:latin typeface="Fira Sans" panose="020B0503050000020004" pitchFamily="34" charset="0"/>
              </a:rPr>
              <a:t>							Colin Bossuyt</a:t>
            </a:r>
          </a:p>
        </p:txBody>
      </p:sp>
      <p:sp>
        <p:nvSpPr>
          <p:cNvPr id="70" name="Google Shape;70;p11"/>
          <p:cNvSpPr/>
          <p:nvPr/>
        </p:nvSpPr>
        <p:spPr>
          <a:xfrm>
            <a:off x="12192444" y="1120893"/>
            <a:ext cx="1919763" cy="1928368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16AE8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 txBox="1"/>
          <p:nvPr/>
        </p:nvSpPr>
        <p:spPr>
          <a:xfrm>
            <a:off x="7216160" y="1298575"/>
            <a:ext cx="8986185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Inhoud</a:t>
            </a:r>
            <a:endParaRPr dirty="0"/>
          </a:p>
        </p:txBody>
      </p:sp>
      <p:grpSp>
        <p:nvGrpSpPr>
          <p:cNvPr id="106" name="Google Shape;106;p13"/>
          <p:cNvGrpSpPr/>
          <p:nvPr/>
        </p:nvGrpSpPr>
        <p:grpSpPr>
          <a:xfrm>
            <a:off x="5952698" y="7772336"/>
            <a:ext cx="7698139" cy="1954599"/>
            <a:chOff x="0" y="-215291"/>
            <a:chExt cx="10264185" cy="2606133"/>
          </a:xfrm>
        </p:grpSpPr>
        <p:grpSp>
          <p:nvGrpSpPr>
            <p:cNvPr id="107" name="Google Shape;107;p13"/>
            <p:cNvGrpSpPr/>
            <p:nvPr/>
          </p:nvGrpSpPr>
          <p:grpSpPr>
            <a:xfrm>
              <a:off x="0" y="31960"/>
              <a:ext cx="1916592" cy="2358882"/>
              <a:chOff x="0" y="0"/>
              <a:chExt cx="660400" cy="812800"/>
            </a:xfrm>
          </p:grpSpPr>
          <p:sp>
            <p:nvSpPr>
              <p:cNvPr id="108" name="Google Shape;108;p13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13"/>
              <p:cNvSpPr txBox="1"/>
              <p:nvPr/>
            </p:nvSpPr>
            <p:spPr>
              <a:xfrm>
                <a:off x="0" y="41275"/>
                <a:ext cx="6604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0" name="Google Shape;110;p13"/>
            <p:cNvGrpSpPr/>
            <p:nvPr/>
          </p:nvGrpSpPr>
          <p:grpSpPr>
            <a:xfrm>
              <a:off x="5253336" y="-215291"/>
              <a:ext cx="2124528" cy="2591558"/>
              <a:chOff x="0" y="-85725"/>
              <a:chExt cx="736600" cy="898525"/>
            </a:xfrm>
          </p:grpSpPr>
          <p:sp>
            <p:nvSpPr>
              <p:cNvPr id="111" name="Google Shape;111;p13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112" name="Google Shape;112;p13"/>
              <p:cNvSpPr txBox="1"/>
              <p:nvPr/>
            </p:nvSpPr>
            <p:spPr>
              <a:xfrm>
                <a:off x="0" y="-85725"/>
                <a:ext cx="7366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3" name="Google Shape;113;p13"/>
            <p:cNvGrpSpPr/>
            <p:nvPr/>
          </p:nvGrpSpPr>
          <p:grpSpPr>
            <a:xfrm>
              <a:off x="2418039" y="4488"/>
              <a:ext cx="2333846" cy="2371779"/>
              <a:chOff x="1813" y="-9525"/>
              <a:chExt cx="809173" cy="822325"/>
            </a:xfrm>
          </p:grpSpPr>
          <p:sp>
            <p:nvSpPr>
              <p:cNvPr id="114" name="Google Shape;114;p13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13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6" name="Google Shape;116;p13"/>
            <p:cNvSpPr/>
            <p:nvPr/>
          </p:nvSpPr>
          <p:spPr>
            <a:xfrm rot="10779982">
              <a:off x="7880981" y="7107"/>
              <a:ext cx="2376307" cy="2376098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" name="Google Shape;117;p13"/>
          <p:cNvGrpSpPr/>
          <p:nvPr/>
        </p:nvGrpSpPr>
        <p:grpSpPr>
          <a:xfrm>
            <a:off x="7206635" y="3132035"/>
            <a:ext cx="5514870" cy="2784130"/>
            <a:chOff x="0" y="0"/>
            <a:chExt cx="7353160" cy="3712173"/>
          </a:xfrm>
        </p:grpSpPr>
        <p:sp>
          <p:nvSpPr>
            <p:cNvPr id="118" name="Google Shape;118;p13"/>
            <p:cNvSpPr txBox="1"/>
            <p:nvPr/>
          </p:nvSpPr>
          <p:spPr>
            <a:xfrm>
              <a:off x="0" y="948949"/>
              <a:ext cx="7353160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755651" marR="0" lvl="1" indent="-377825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500"/>
                <a:buFont typeface="Arial"/>
                <a:buChar char="•"/>
              </a:pPr>
              <a:r>
                <a:rPr lang="en-US" sz="3500" b="0" i="0" u="none" strike="noStrike" cap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Probleemstelling</a:t>
              </a:r>
              <a:endParaRPr dirty="0"/>
            </a:p>
          </p:txBody>
        </p:sp>
        <p:sp>
          <p:nvSpPr>
            <p:cNvPr id="119" name="Google Shape;119;p13"/>
            <p:cNvSpPr txBox="1"/>
            <p:nvPr/>
          </p:nvSpPr>
          <p:spPr>
            <a:xfrm>
              <a:off x="0" y="0"/>
              <a:ext cx="664487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755651" marR="0" lvl="1" indent="-377825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500"/>
                <a:buFont typeface="Arial"/>
                <a:buChar char="•"/>
              </a:pPr>
              <a:r>
                <a:rPr lang="en-US" sz="3500" b="0" i="0" u="none" strike="noStrike" cap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Doelstellingen</a:t>
              </a:r>
              <a:endParaRPr dirty="0"/>
            </a:p>
          </p:txBody>
        </p:sp>
        <p:sp>
          <p:nvSpPr>
            <p:cNvPr id="120" name="Google Shape;120;p13"/>
            <p:cNvSpPr txBox="1"/>
            <p:nvPr/>
          </p:nvSpPr>
          <p:spPr>
            <a:xfrm>
              <a:off x="0" y="2850398"/>
              <a:ext cx="7353160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755651" marR="0" lvl="1" indent="-377825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500"/>
                <a:buFont typeface="Arial"/>
                <a:buChar char="•"/>
              </a:pPr>
              <a:r>
                <a:rPr lang="en-US" sz="3500" b="0" i="0" u="none" strike="noStrike" cap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Resultaat</a:t>
              </a:r>
              <a:endParaRPr dirty="0"/>
            </a:p>
          </p:txBody>
        </p:sp>
        <p:sp>
          <p:nvSpPr>
            <p:cNvPr id="121" name="Google Shape;121;p13"/>
            <p:cNvSpPr txBox="1"/>
            <p:nvPr/>
          </p:nvSpPr>
          <p:spPr>
            <a:xfrm>
              <a:off x="0" y="1901449"/>
              <a:ext cx="664487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755651" marR="0" lvl="1" indent="-377825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500"/>
                <a:buFont typeface="Arial"/>
                <a:buChar char="•"/>
              </a:pPr>
              <a:r>
                <a:rPr lang="en-US" sz="3500" b="0" i="0" u="none" strike="noStrike" cap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Analyse</a:t>
              </a:r>
              <a:endParaRPr dirty="0"/>
            </a:p>
          </p:txBody>
        </p:sp>
      </p:grpSp>
      <p:sp>
        <p:nvSpPr>
          <p:cNvPr id="122" name="Google Shape;122;p13"/>
          <p:cNvSpPr/>
          <p:nvPr/>
        </p:nvSpPr>
        <p:spPr>
          <a:xfrm>
            <a:off x="7503712" y="3197237"/>
            <a:ext cx="307086" cy="377952"/>
          </a:xfrm>
          <a:custGeom>
            <a:avLst/>
            <a:gdLst/>
            <a:ahLst/>
            <a:cxnLst/>
            <a:rect l="l" t="t" r="r" b="b"/>
            <a:pathLst>
              <a:path w="660400" h="812800" extrusionOk="0">
                <a:moveTo>
                  <a:pt x="220252" y="19070"/>
                </a:moveTo>
                <a:cubicBezTo>
                  <a:pt x="254000" y="7556"/>
                  <a:pt x="292600" y="0"/>
                  <a:pt x="330378" y="0"/>
                </a:cubicBezTo>
                <a:cubicBezTo>
                  <a:pt x="368157" y="0"/>
                  <a:pt x="404509" y="6476"/>
                  <a:pt x="438009" y="17990"/>
                </a:cubicBezTo>
                <a:cubicBezTo>
                  <a:pt x="438723" y="18350"/>
                  <a:pt x="439435" y="18350"/>
                  <a:pt x="440148" y="18710"/>
                </a:cubicBezTo>
                <a:cubicBezTo>
                  <a:pt x="565955" y="64765"/>
                  <a:pt x="658618" y="186379"/>
                  <a:pt x="660400" y="328502"/>
                </a:cubicBezTo>
                <a:lnTo>
                  <a:pt x="660400" y="812800"/>
                </a:lnTo>
                <a:lnTo>
                  <a:pt x="0" y="812800"/>
                </a:lnTo>
                <a:lnTo>
                  <a:pt x="0" y="328861"/>
                </a:lnTo>
                <a:cubicBezTo>
                  <a:pt x="1782" y="185660"/>
                  <a:pt x="93019" y="64045"/>
                  <a:pt x="220252" y="1907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3"/>
          <p:cNvSpPr/>
          <p:nvPr/>
        </p:nvSpPr>
        <p:spPr>
          <a:xfrm>
            <a:off x="7504344" y="4638311"/>
            <a:ext cx="340677" cy="375920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124" name="Google Shape;124;p13"/>
          <p:cNvSpPr/>
          <p:nvPr/>
        </p:nvSpPr>
        <p:spPr>
          <a:xfrm>
            <a:off x="7470635" y="3918940"/>
            <a:ext cx="374243" cy="375920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10800000">
            <a:off x="7456339" y="5342043"/>
            <a:ext cx="396015" cy="395980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2;p13">
            <a:extLst>
              <a:ext uri="{FF2B5EF4-FFF2-40B4-BE49-F238E27FC236}">
                <a16:creationId xmlns:a16="http://schemas.microsoft.com/office/drawing/2014/main" id="{11463966-BD07-0C3B-6537-8ACD00A96491}"/>
              </a:ext>
            </a:extLst>
          </p:cNvPr>
          <p:cNvSpPr/>
          <p:nvPr/>
        </p:nvSpPr>
        <p:spPr>
          <a:xfrm>
            <a:off x="11540011" y="3171673"/>
            <a:ext cx="307086" cy="377952"/>
          </a:xfrm>
          <a:custGeom>
            <a:avLst/>
            <a:gdLst/>
            <a:ahLst/>
            <a:cxnLst/>
            <a:rect l="l" t="t" r="r" b="b"/>
            <a:pathLst>
              <a:path w="660400" h="812800" extrusionOk="0">
                <a:moveTo>
                  <a:pt x="220252" y="19070"/>
                </a:moveTo>
                <a:cubicBezTo>
                  <a:pt x="254000" y="7556"/>
                  <a:pt x="292600" y="0"/>
                  <a:pt x="330378" y="0"/>
                </a:cubicBezTo>
                <a:cubicBezTo>
                  <a:pt x="368157" y="0"/>
                  <a:pt x="404509" y="6476"/>
                  <a:pt x="438009" y="17990"/>
                </a:cubicBezTo>
                <a:cubicBezTo>
                  <a:pt x="438723" y="18350"/>
                  <a:pt x="439435" y="18350"/>
                  <a:pt x="440148" y="18710"/>
                </a:cubicBezTo>
                <a:cubicBezTo>
                  <a:pt x="565955" y="64765"/>
                  <a:pt x="658618" y="186379"/>
                  <a:pt x="660400" y="328502"/>
                </a:cubicBezTo>
                <a:lnTo>
                  <a:pt x="660400" y="812800"/>
                </a:lnTo>
                <a:lnTo>
                  <a:pt x="0" y="812800"/>
                </a:lnTo>
                <a:lnTo>
                  <a:pt x="0" y="328861"/>
                </a:lnTo>
                <a:cubicBezTo>
                  <a:pt x="1782" y="185660"/>
                  <a:pt x="93019" y="64045"/>
                  <a:pt x="220252" y="1907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9;p13">
            <a:extLst>
              <a:ext uri="{FF2B5EF4-FFF2-40B4-BE49-F238E27FC236}">
                <a16:creationId xmlns:a16="http://schemas.microsoft.com/office/drawing/2014/main" id="{352FD049-E9B2-60FD-1CAD-B3A4F5601859}"/>
              </a:ext>
            </a:extLst>
          </p:cNvPr>
          <p:cNvSpPr txBox="1"/>
          <p:nvPr/>
        </p:nvSpPr>
        <p:spPr>
          <a:xfrm>
            <a:off x="11159010" y="3132035"/>
            <a:ext cx="498365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7826"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	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Uitbreiding</a:t>
            </a:r>
            <a:endParaRPr dirty="0"/>
          </a:p>
        </p:txBody>
      </p:sp>
      <p:sp>
        <p:nvSpPr>
          <p:cNvPr id="5" name="Google Shape;124;p13">
            <a:extLst>
              <a:ext uri="{FF2B5EF4-FFF2-40B4-BE49-F238E27FC236}">
                <a16:creationId xmlns:a16="http://schemas.microsoft.com/office/drawing/2014/main" id="{174931C7-EF07-49FB-7A8F-D1DC66A4C443}"/>
              </a:ext>
            </a:extLst>
          </p:cNvPr>
          <p:cNvSpPr/>
          <p:nvPr/>
        </p:nvSpPr>
        <p:spPr>
          <a:xfrm>
            <a:off x="11486096" y="3864464"/>
            <a:ext cx="374243" cy="375920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" name="Google Shape;119;p13">
            <a:extLst>
              <a:ext uri="{FF2B5EF4-FFF2-40B4-BE49-F238E27FC236}">
                <a16:creationId xmlns:a16="http://schemas.microsoft.com/office/drawing/2014/main" id="{235750F1-EBA6-1CA7-4766-50896D359142}"/>
              </a:ext>
            </a:extLst>
          </p:cNvPr>
          <p:cNvSpPr txBox="1"/>
          <p:nvPr/>
        </p:nvSpPr>
        <p:spPr>
          <a:xfrm>
            <a:off x="11159010" y="3786729"/>
            <a:ext cx="498365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7826"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	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Conclusie</a:t>
            </a:r>
            <a:endParaRPr dirty="0"/>
          </a:p>
        </p:txBody>
      </p:sp>
      <p:sp>
        <p:nvSpPr>
          <p:cNvPr id="7" name="Google Shape;123;p13">
            <a:extLst>
              <a:ext uri="{FF2B5EF4-FFF2-40B4-BE49-F238E27FC236}">
                <a16:creationId xmlns:a16="http://schemas.microsoft.com/office/drawing/2014/main" id="{410986D2-936A-EF18-F53A-BBD07FADD4AC}"/>
              </a:ext>
            </a:extLst>
          </p:cNvPr>
          <p:cNvSpPr/>
          <p:nvPr/>
        </p:nvSpPr>
        <p:spPr>
          <a:xfrm>
            <a:off x="11488452" y="4646826"/>
            <a:ext cx="340677" cy="375920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84276D-7417-3813-D73B-099F00EA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878" y="255402"/>
            <a:ext cx="6410542" cy="4448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119;p13">
            <a:extLst>
              <a:ext uri="{FF2B5EF4-FFF2-40B4-BE49-F238E27FC236}">
                <a16:creationId xmlns:a16="http://schemas.microsoft.com/office/drawing/2014/main" id="{63F12F47-9406-1743-85A8-7E3E3C2A01BD}"/>
              </a:ext>
            </a:extLst>
          </p:cNvPr>
          <p:cNvSpPr txBox="1"/>
          <p:nvPr/>
        </p:nvSpPr>
        <p:spPr>
          <a:xfrm>
            <a:off x="11159010" y="4618498"/>
            <a:ext cx="498365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7826"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	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Bibliografie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1010175" y="764650"/>
            <a:ext cx="94620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latin typeface="Fira Sans"/>
                <a:ea typeface="Fira Sans"/>
                <a:cs typeface="Fira Sans"/>
                <a:sym typeface="Fira Sans"/>
              </a:rPr>
              <a:t>Doelstellingen</a:t>
            </a:r>
            <a:endParaRPr dirty="0"/>
          </a:p>
        </p:txBody>
      </p:sp>
      <p:pic>
        <p:nvPicPr>
          <p:cNvPr id="131" name="Google Shape;131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2296" y="6027074"/>
            <a:ext cx="3737441" cy="1868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783164">
            <a:off x="4280392" y="4168848"/>
            <a:ext cx="3737441" cy="1868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50765" y="6017549"/>
            <a:ext cx="3737441" cy="1868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783164">
            <a:off x="10628861" y="4168848"/>
            <a:ext cx="3737441" cy="1868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808780" y="6008024"/>
            <a:ext cx="3737441" cy="186872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6" name="Google Shape;136;p14"/>
          <p:cNvGrpSpPr/>
          <p:nvPr/>
        </p:nvGrpSpPr>
        <p:grpSpPr>
          <a:xfrm>
            <a:off x="8815676" y="6879913"/>
            <a:ext cx="1067769" cy="1314178"/>
            <a:chOff x="0" y="0"/>
            <a:chExt cx="660400" cy="812800"/>
          </a:xfrm>
        </p:grpSpPr>
        <p:sp>
          <p:nvSpPr>
            <p:cNvPr id="137" name="Google Shape;137;p14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4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4"/>
          <p:cNvGrpSpPr/>
          <p:nvPr/>
        </p:nvGrpSpPr>
        <p:grpSpPr>
          <a:xfrm>
            <a:off x="2380366" y="6780895"/>
            <a:ext cx="1183615" cy="1413196"/>
            <a:chOff x="0" y="-66675"/>
            <a:chExt cx="736600" cy="879475"/>
          </a:xfrm>
        </p:grpSpPr>
        <p:sp>
          <p:nvSpPr>
            <p:cNvPr id="140" name="Google Shape;140;p14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41" name="Google Shape;141;p14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4"/>
          <p:cNvGrpSpPr/>
          <p:nvPr/>
        </p:nvGrpSpPr>
        <p:grpSpPr>
          <a:xfrm>
            <a:off x="5474996" y="3821164"/>
            <a:ext cx="1300230" cy="1306058"/>
            <a:chOff x="1813" y="0"/>
            <a:chExt cx="809173" cy="812800"/>
          </a:xfrm>
        </p:grpSpPr>
        <p:sp>
          <p:nvSpPr>
            <p:cNvPr id="143" name="Google Shape;143;p14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5" name="Google Shape;145;p14"/>
          <p:cNvSpPr/>
          <p:nvPr/>
        </p:nvSpPr>
        <p:spPr>
          <a:xfrm rot="10779982">
            <a:off x="11969823" y="3900420"/>
            <a:ext cx="1323885" cy="1323768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" name="Google Shape;146;p14"/>
          <p:cNvGrpSpPr/>
          <p:nvPr/>
        </p:nvGrpSpPr>
        <p:grpSpPr>
          <a:xfrm>
            <a:off x="15161430" y="6702301"/>
            <a:ext cx="1183615" cy="1413196"/>
            <a:chOff x="0" y="-66675"/>
            <a:chExt cx="736600" cy="879475"/>
          </a:xfrm>
        </p:grpSpPr>
        <p:sp>
          <p:nvSpPr>
            <p:cNvPr id="147" name="Google Shape;147;p14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48" name="Google Shape;148;p14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4"/>
          <p:cNvGrpSpPr/>
          <p:nvPr/>
        </p:nvGrpSpPr>
        <p:grpSpPr>
          <a:xfrm>
            <a:off x="1298579" y="4051134"/>
            <a:ext cx="3042745" cy="939457"/>
            <a:chOff x="0" y="-28575"/>
            <a:chExt cx="4056993" cy="1252610"/>
          </a:xfrm>
        </p:grpSpPr>
        <p:sp>
          <p:nvSpPr>
            <p:cNvPr id="150" name="Google Shape;150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dirty="0">
                  <a:latin typeface="Fira Sans"/>
                  <a:sym typeface="Fira Sans"/>
                </a:rPr>
                <a:t>Tetris game</a:t>
              </a:r>
              <a:endParaRPr dirty="0"/>
            </a:p>
          </p:txBody>
        </p:sp>
        <p:sp>
          <p:nvSpPr>
            <p:cNvPr id="151" name="Google Shape;151;p14"/>
            <p:cNvSpPr txBox="1"/>
            <p:nvPr/>
          </p:nvSpPr>
          <p:spPr>
            <a:xfrm>
              <a:off x="0" y="670037"/>
              <a:ext cx="4056993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Codering van het basis spel</a:t>
              </a:r>
              <a:endParaRPr dirty="0"/>
            </a:p>
          </p:txBody>
        </p:sp>
      </p:grpSp>
      <p:sp>
        <p:nvSpPr>
          <p:cNvPr id="152" name="Google Shape;152;p14"/>
          <p:cNvSpPr txBox="1"/>
          <p:nvPr/>
        </p:nvSpPr>
        <p:spPr>
          <a:xfrm>
            <a:off x="2775570" y="6990690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  <a:endParaRPr/>
          </a:p>
        </p:txBody>
      </p:sp>
      <p:sp>
        <p:nvSpPr>
          <p:cNvPr id="153" name="Google Shape;153;p14"/>
          <p:cNvSpPr txBox="1"/>
          <p:nvPr/>
        </p:nvSpPr>
        <p:spPr>
          <a:xfrm>
            <a:off x="5930376" y="4017879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2</a:t>
            </a:r>
            <a:endParaRPr/>
          </a:p>
        </p:txBody>
      </p:sp>
      <p:sp>
        <p:nvSpPr>
          <p:cNvPr id="154" name="Google Shape;154;p14"/>
          <p:cNvSpPr txBox="1"/>
          <p:nvPr/>
        </p:nvSpPr>
        <p:spPr>
          <a:xfrm>
            <a:off x="9144000" y="7076644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3</a:t>
            </a:r>
            <a:endParaRPr/>
          </a:p>
        </p:txBody>
      </p:sp>
      <p:sp>
        <p:nvSpPr>
          <p:cNvPr id="155" name="Google Shape;155;p14"/>
          <p:cNvSpPr txBox="1"/>
          <p:nvPr/>
        </p:nvSpPr>
        <p:spPr>
          <a:xfrm>
            <a:off x="12406738" y="4064618"/>
            <a:ext cx="627136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4</a:t>
            </a:r>
            <a:endParaRPr/>
          </a:p>
        </p:txBody>
      </p:sp>
      <p:sp>
        <p:nvSpPr>
          <p:cNvPr id="156" name="Google Shape;156;p14"/>
          <p:cNvSpPr txBox="1"/>
          <p:nvPr/>
        </p:nvSpPr>
        <p:spPr>
          <a:xfrm>
            <a:off x="15548167" y="6942205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5</a:t>
            </a:r>
            <a:endParaRPr dirty="0"/>
          </a:p>
        </p:txBody>
      </p:sp>
      <p:grpSp>
        <p:nvGrpSpPr>
          <p:cNvPr id="157" name="Google Shape;157;p14"/>
          <p:cNvGrpSpPr/>
          <p:nvPr/>
        </p:nvGrpSpPr>
        <p:grpSpPr>
          <a:xfrm>
            <a:off x="8022386" y="4051134"/>
            <a:ext cx="3042745" cy="2093619"/>
            <a:chOff x="0" y="-28575"/>
            <a:chExt cx="4056993" cy="2791496"/>
          </a:xfrm>
        </p:grpSpPr>
        <p:sp>
          <p:nvSpPr>
            <p:cNvPr id="158" name="Google Shape;158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 dirty="0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Extra </a:t>
              </a: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functionaliteit</a:t>
              </a:r>
              <a:endParaRPr dirty="0"/>
            </a:p>
          </p:txBody>
        </p:sp>
        <p:sp>
          <p:nvSpPr>
            <p:cNvPr id="159" name="Google Shape;159;p14"/>
            <p:cNvSpPr txBox="1"/>
            <p:nvPr/>
          </p:nvSpPr>
          <p:spPr>
            <a:xfrm>
              <a:off x="0" y="670038"/>
              <a:ext cx="4056993" cy="20928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Blok direct laten vallen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dirty="0">
                  <a:latin typeface="Assistant"/>
                  <a:ea typeface="Assistant"/>
                  <a:cs typeface="Assistant"/>
                  <a:sym typeface="Assistant"/>
                </a:rPr>
                <a:t>Combo’s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Geluidseffecten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60" name="Google Shape;160;p14"/>
          <p:cNvGrpSpPr/>
          <p:nvPr/>
        </p:nvGrpSpPr>
        <p:grpSpPr>
          <a:xfrm>
            <a:off x="14755483" y="4051134"/>
            <a:ext cx="3042745" cy="939457"/>
            <a:chOff x="0" y="-28575"/>
            <a:chExt cx="4056993" cy="1252610"/>
          </a:xfrm>
        </p:grpSpPr>
        <p:sp>
          <p:nvSpPr>
            <p:cNvPr id="161" name="Google Shape;161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dirty="0" err="1">
                  <a:latin typeface="Fira Sans"/>
                  <a:sym typeface="Fira Sans"/>
                </a:rPr>
                <a:t>Genetisch</a:t>
              </a:r>
              <a:r>
                <a:rPr lang="en-US" sz="2499" b="1" dirty="0">
                  <a:latin typeface="Fira Sans"/>
                  <a:sym typeface="Fira Sans"/>
                </a:rPr>
                <a:t> </a:t>
              </a:r>
              <a:r>
                <a:rPr lang="en-US" sz="2499" b="1" dirty="0" err="1">
                  <a:latin typeface="Fira Sans"/>
                  <a:sym typeface="Fira Sans"/>
                </a:rPr>
                <a:t>algoritme</a:t>
              </a:r>
              <a:endParaRPr dirty="0"/>
            </a:p>
          </p:txBody>
        </p:sp>
        <p:sp>
          <p:nvSpPr>
            <p:cNvPr id="162" name="Google Shape;162;p14"/>
            <p:cNvSpPr txBox="1"/>
            <p:nvPr/>
          </p:nvSpPr>
          <p:spPr>
            <a:xfrm>
              <a:off x="0" y="670037"/>
              <a:ext cx="4056993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Bepaling voor beste waarden</a:t>
              </a:r>
              <a:endParaRPr dirty="0"/>
            </a:p>
          </p:txBody>
        </p:sp>
      </p:grpSp>
      <p:grpSp>
        <p:nvGrpSpPr>
          <p:cNvPr id="163" name="Google Shape;163;p14"/>
          <p:cNvGrpSpPr/>
          <p:nvPr/>
        </p:nvGrpSpPr>
        <p:grpSpPr>
          <a:xfrm>
            <a:off x="4839737" y="7441037"/>
            <a:ext cx="3042745" cy="1354956"/>
            <a:chOff x="0" y="-28575"/>
            <a:chExt cx="4056993" cy="1806609"/>
          </a:xfrm>
        </p:grpSpPr>
        <p:sp>
          <p:nvSpPr>
            <p:cNvPr id="164" name="Google Shape;164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Algoritme</a:t>
              </a:r>
              <a:r>
                <a:rPr lang="en-US" sz="2499" b="1" i="0" u="none" strike="noStrike" cap="none" dirty="0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toevoegen</a:t>
              </a:r>
              <a:endParaRPr dirty="0"/>
            </a:p>
          </p:txBody>
        </p:sp>
        <p:sp>
          <p:nvSpPr>
            <p:cNvPr id="165" name="Google Shape;165;p14"/>
            <p:cNvSpPr txBox="1"/>
            <p:nvPr/>
          </p:nvSpPr>
          <p:spPr>
            <a:xfrm>
              <a:off x="0" y="670037"/>
              <a:ext cx="4056993" cy="1107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dirty="0">
                  <a:latin typeface="Assistant"/>
                  <a:ea typeface="Assistant"/>
                  <a:cs typeface="Assistant"/>
                  <a:sym typeface="Assistant"/>
                </a:rPr>
                <a:t>Algoritme in kaart brengen</a:t>
              </a: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Wingdings" panose="05000000000000000000" pitchFamily="2" charset="2"/>
                </a:rPr>
                <a:t> Optimale oplossing</a:t>
              </a:r>
              <a:endParaRPr dirty="0"/>
            </a:p>
          </p:txBody>
        </p:sp>
      </p:grpSp>
      <p:grpSp>
        <p:nvGrpSpPr>
          <p:cNvPr id="166" name="Google Shape;166;p14"/>
          <p:cNvGrpSpPr/>
          <p:nvPr/>
        </p:nvGrpSpPr>
        <p:grpSpPr>
          <a:xfrm>
            <a:off x="11262157" y="7441037"/>
            <a:ext cx="3042745" cy="1770454"/>
            <a:chOff x="0" y="-28575"/>
            <a:chExt cx="4056993" cy="2360605"/>
          </a:xfrm>
        </p:grpSpPr>
        <p:sp>
          <p:nvSpPr>
            <p:cNvPr id="167" name="Google Shape;167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Heuristiek</a:t>
              </a:r>
              <a:r>
                <a:rPr lang="en-US" sz="2499" b="1" i="0" u="none" strike="noStrike" cap="none" dirty="0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algoritme</a:t>
              </a:r>
              <a:endParaRPr dirty="0"/>
            </a:p>
          </p:txBody>
        </p:sp>
        <p:sp>
          <p:nvSpPr>
            <p:cNvPr id="168" name="Google Shape;168;p14"/>
            <p:cNvSpPr txBox="1"/>
            <p:nvPr/>
          </p:nvSpPr>
          <p:spPr>
            <a:xfrm>
              <a:off x="0" y="670037"/>
              <a:ext cx="4056993" cy="16619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Heuristieke</a:t>
              </a: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waarden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Berekenen + uitvoeren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Data</a:t>
              </a:r>
            </a:p>
          </p:txBody>
        </p:sp>
      </p:grpSp>
      <p:sp>
        <p:nvSpPr>
          <p:cNvPr id="169" name="Google Shape;169;p14"/>
          <p:cNvSpPr txBox="1">
            <a:spLocks noGrp="1"/>
          </p:cNvSpPr>
          <p:nvPr>
            <p:ph type="subTitle" idx="2"/>
          </p:nvPr>
        </p:nvSpPr>
        <p:spPr>
          <a:xfrm>
            <a:off x="1010175" y="1950125"/>
            <a:ext cx="8978400" cy="90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nl-BE" dirty="0"/>
              <a:t>Leren werken met AI algoritmen</a:t>
            </a:r>
            <a:endParaRPr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64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15"/>
          <p:cNvGrpSpPr/>
          <p:nvPr/>
        </p:nvGrpSpPr>
        <p:grpSpPr>
          <a:xfrm>
            <a:off x="381416" y="5335124"/>
            <a:ext cx="1038238" cy="1239620"/>
            <a:chOff x="0" y="-66675"/>
            <a:chExt cx="736600" cy="879475"/>
          </a:xfrm>
        </p:grpSpPr>
        <p:sp>
          <p:nvSpPr>
            <p:cNvPr id="175" name="Google Shape;175;p15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6" name="Google Shape;176;p15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15"/>
          <p:cNvGrpSpPr/>
          <p:nvPr/>
        </p:nvGrpSpPr>
        <p:grpSpPr>
          <a:xfrm>
            <a:off x="316374" y="3384262"/>
            <a:ext cx="1168323" cy="1173560"/>
            <a:chOff x="1813" y="0"/>
            <a:chExt cx="809173" cy="812800"/>
          </a:xfrm>
        </p:grpSpPr>
        <p:sp>
          <p:nvSpPr>
            <p:cNvPr id="178" name="Google Shape;178;p15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0" name="Google Shape;180;p15"/>
          <p:cNvSpPr/>
          <p:nvPr/>
        </p:nvSpPr>
        <p:spPr>
          <a:xfrm rot="10779982">
            <a:off x="384388" y="7706299"/>
            <a:ext cx="1097125" cy="1097028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1028700" y="1019175"/>
            <a:ext cx="10483503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Probleemstelling</a:t>
            </a:r>
            <a:endParaRPr dirty="0"/>
          </a:p>
        </p:txBody>
      </p:sp>
      <p:grpSp>
        <p:nvGrpSpPr>
          <p:cNvPr id="183" name="Google Shape;183;p15"/>
          <p:cNvGrpSpPr/>
          <p:nvPr/>
        </p:nvGrpSpPr>
        <p:grpSpPr>
          <a:xfrm>
            <a:off x="1824188" y="5461199"/>
            <a:ext cx="4584151" cy="1362453"/>
            <a:chOff x="0" y="-9525"/>
            <a:chExt cx="6112200" cy="1816604"/>
          </a:xfrm>
        </p:grpSpPr>
        <p:sp>
          <p:nvSpPr>
            <p:cNvPr id="184" name="Google Shape;184;p15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b="0" i="0" u="none" strike="noStrike" cap="none" dirty="0">
                  <a:solidFill>
                    <a:srgbClr val="191919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1 </a:t>
              </a:r>
              <a:r>
                <a:rPr lang="en-US" sz="3500" b="0" i="0" u="none" strike="noStrike" cap="none" dirty="0" err="1">
                  <a:solidFill>
                    <a:srgbClr val="191919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tege</a:t>
              </a:r>
              <a:r>
                <a:rPr lang="en-US" sz="3500" dirty="0" err="1">
                  <a:solidFill>
                    <a:srgbClr val="191919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n</a:t>
              </a:r>
              <a:r>
                <a:rPr lang="en-US" sz="3500" dirty="0">
                  <a:solidFill>
                    <a:srgbClr val="191919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 1 duel</a:t>
              </a:r>
              <a:endParaRPr dirty="0"/>
            </a:p>
          </p:txBody>
        </p:sp>
        <p:sp>
          <p:nvSpPr>
            <p:cNvPr id="185" name="Google Shape;185;p15"/>
            <p:cNvSpPr txBox="1"/>
            <p:nvPr/>
          </p:nvSpPr>
          <p:spPr>
            <a:xfrm>
              <a:off x="0" y="781499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 err="1">
                  <a:latin typeface="Assistant"/>
                  <a:cs typeface="Assistant"/>
                  <a:sym typeface="Assistant"/>
                </a:rPr>
                <a:t>Tegenstander</a:t>
              </a:r>
              <a:r>
                <a:rPr lang="en-US" sz="2499" dirty="0">
                  <a:latin typeface="Assistant"/>
                  <a:cs typeface="Assistant"/>
                  <a:sym typeface="Assistant"/>
                </a:rPr>
                <a:t> </a:t>
              </a:r>
              <a:r>
                <a:rPr lang="en-US" sz="2499" dirty="0" err="1">
                  <a:latin typeface="Assistant"/>
                  <a:cs typeface="Assistant"/>
                  <a:sym typeface="Assistant"/>
                </a:rPr>
                <a:t>verslaan</a:t>
              </a:r>
              <a:r>
                <a:rPr lang="en-US" sz="2499" dirty="0">
                  <a:latin typeface="Assistant"/>
                  <a:cs typeface="Assistant"/>
                  <a:sym typeface="Assistant"/>
                </a:rPr>
                <a:t> </a:t>
              </a:r>
              <a:r>
                <a:rPr lang="en-US" sz="2499" dirty="0" err="1">
                  <a:latin typeface="Assistant"/>
                  <a:cs typeface="Assistant"/>
                  <a:sym typeface="Assistant"/>
                </a:rPr>
                <a:t>a.d.h.v</a:t>
              </a:r>
              <a:r>
                <a:rPr lang="en-US" sz="2499" dirty="0">
                  <a:latin typeface="Assistant"/>
                  <a:cs typeface="Assistant"/>
                  <a:sym typeface="Assistant"/>
                </a:rPr>
                <a:t>. combo’s.</a:t>
              </a:r>
              <a:endParaRPr dirty="0"/>
            </a:p>
          </p:txBody>
        </p:sp>
      </p:grpSp>
      <p:sp>
        <p:nvSpPr>
          <p:cNvPr id="186" name="Google Shape;186;p15"/>
          <p:cNvSpPr/>
          <p:nvPr/>
        </p:nvSpPr>
        <p:spPr>
          <a:xfrm rot="10779982">
            <a:off x="9154021" y="5796951"/>
            <a:ext cx="3451633" cy="3451329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7" name="Google Shape;187;p15"/>
          <p:cNvGrpSpPr/>
          <p:nvPr/>
        </p:nvGrpSpPr>
        <p:grpSpPr>
          <a:xfrm>
            <a:off x="1889256" y="3369673"/>
            <a:ext cx="4584151" cy="977859"/>
            <a:chOff x="0" y="-9525"/>
            <a:chExt cx="6112200" cy="1303812"/>
          </a:xfrm>
        </p:grpSpPr>
        <p:sp>
          <p:nvSpPr>
            <p:cNvPr id="188" name="Google Shape;188;p15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b="0" i="0" u="none" strike="noStrike" cap="none" dirty="0">
                  <a:solidFill>
                    <a:srgbClr val="000000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Breed </a:t>
              </a:r>
              <a:r>
                <a:rPr lang="en-US" sz="3500" b="0" i="0" u="none" strike="noStrike" cap="none" dirty="0" err="1">
                  <a:solidFill>
                    <a:srgbClr val="000000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doelpubliek</a:t>
              </a:r>
              <a:endParaRPr dirty="0"/>
            </a:p>
          </p:txBody>
        </p:sp>
        <p:sp>
          <p:nvSpPr>
            <p:cNvPr id="189" name="Google Shape;189;p15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Sterke</a:t>
              </a:r>
              <a:r>
                <a:rPr lang="en-US" sz="2499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spelers</a:t>
              </a:r>
              <a:endParaRPr dirty="0"/>
            </a:p>
          </p:txBody>
        </p:sp>
      </p:grpSp>
      <p:grpSp>
        <p:nvGrpSpPr>
          <p:cNvPr id="190" name="Google Shape;190;p15"/>
          <p:cNvGrpSpPr/>
          <p:nvPr/>
        </p:nvGrpSpPr>
        <p:grpSpPr>
          <a:xfrm>
            <a:off x="1824214" y="7443970"/>
            <a:ext cx="4584151" cy="977859"/>
            <a:chOff x="0" y="-9525"/>
            <a:chExt cx="6112200" cy="1303812"/>
          </a:xfrm>
        </p:grpSpPr>
        <p:sp>
          <p:nvSpPr>
            <p:cNvPr id="191" name="Google Shape;191;p15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 err="1">
                  <a:latin typeface="Fira Sans Medium"/>
                  <a:sym typeface="Fira Sans Medium"/>
                </a:rPr>
                <a:t>Berekenen</a:t>
              </a:r>
              <a:r>
                <a:rPr lang="en-US" sz="3500" dirty="0">
                  <a:latin typeface="Fira Sans Medium"/>
                  <a:sym typeface="Fira Sans Medium"/>
                </a:rPr>
                <a:t> </a:t>
              </a:r>
              <a:r>
                <a:rPr lang="en-US" sz="3500" dirty="0" err="1">
                  <a:latin typeface="Fira Sans Medium"/>
                  <a:sym typeface="Fira Sans Medium"/>
                </a:rPr>
                <a:t>zetten</a:t>
              </a:r>
              <a:endParaRPr dirty="0"/>
            </a:p>
          </p:txBody>
        </p:sp>
        <p:sp>
          <p:nvSpPr>
            <p:cNvPr id="192" name="Google Shape;192;p15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Veel</a:t>
              </a:r>
              <a:r>
                <a:rPr lang="en-US" sz="2499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mogelijke</a:t>
              </a:r>
              <a:r>
                <a:rPr lang="en-US" sz="2499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zetten</a:t>
              </a:r>
              <a:r>
                <a:rPr lang="en-US" sz="2499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per </a:t>
              </a: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blok</a:t>
              </a:r>
              <a:endParaRPr dirty="0"/>
            </a:p>
          </p:txBody>
        </p:sp>
      </p:grpSp>
      <p:pic>
        <p:nvPicPr>
          <p:cNvPr id="2" name="Picture 4" descr="Do tetris coaching for beginners to intermediate by Kaasyu | Fiverr">
            <a:extLst>
              <a:ext uri="{FF2B5EF4-FFF2-40B4-BE49-F238E27FC236}">
                <a16:creationId xmlns:a16="http://schemas.microsoft.com/office/drawing/2014/main" id="{D97FCE5C-578D-53F7-533E-DB9A5F3E0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847" y="2633928"/>
            <a:ext cx="11267466" cy="69472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B8BE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/>
          <p:nvPr/>
        </p:nvSpPr>
        <p:spPr>
          <a:xfrm>
            <a:off x="0" y="4311732"/>
            <a:ext cx="18288000" cy="6010275"/>
          </a:xfrm>
          <a:custGeom>
            <a:avLst/>
            <a:gdLst/>
            <a:ahLst/>
            <a:cxnLst/>
            <a:rect l="l" t="t" r="r" b="b"/>
            <a:pathLst>
              <a:path w="8971816" h="2948550" extrusionOk="0">
                <a:moveTo>
                  <a:pt x="0" y="0"/>
                </a:moveTo>
                <a:lnTo>
                  <a:pt x="8971816" y="0"/>
                </a:lnTo>
                <a:lnTo>
                  <a:pt x="8971816" y="2948550"/>
                </a:lnTo>
                <a:lnTo>
                  <a:pt x="0" y="294855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r>
              <a:rPr lang="nl-BE" dirty="0"/>
              <a:t> 	</a:t>
            </a:r>
            <a:endParaRPr lang="LID4096" dirty="0"/>
          </a:p>
        </p:txBody>
      </p:sp>
      <p:cxnSp>
        <p:nvCxnSpPr>
          <p:cNvPr id="78" name="Google Shape;78;p12"/>
          <p:cNvCxnSpPr/>
          <p:nvPr/>
        </p:nvCxnSpPr>
        <p:spPr>
          <a:xfrm rot="5399999">
            <a:off x="3859933" y="7290114"/>
            <a:ext cx="5210687" cy="0"/>
          </a:xfrm>
          <a:prstGeom prst="straightConnector1">
            <a:avLst/>
          </a:prstGeom>
          <a:noFill/>
          <a:ln w="19050" cap="flat" cmpd="sng">
            <a:solidFill>
              <a:srgbClr val="000000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9" name="Google Shape;79;p12"/>
          <p:cNvCxnSpPr/>
          <p:nvPr/>
        </p:nvCxnSpPr>
        <p:spPr>
          <a:xfrm rot="5399999">
            <a:off x="9627529" y="7290114"/>
            <a:ext cx="5210687" cy="0"/>
          </a:xfrm>
          <a:prstGeom prst="straightConnector1">
            <a:avLst/>
          </a:prstGeom>
          <a:noFill/>
          <a:ln w="19050" cap="flat" cmpd="sng">
            <a:solidFill>
              <a:srgbClr val="000000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0" name="Google Shape;80;p12"/>
          <p:cNvSpPr txBox="1"/>
          <p:nvPr/>
        </p:nvSpPr>
        <p:spPr>
          <a:xfrm>
            <a:off x="1028700" y="1019175"/>
            <a:ext cx="70155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Analyse</a:t>
            </a:r>
            <a:endParaRPr dirty="0"/>
          </a:p>
        </p:txBody>
      </p:sp>
      <p:sp>
        <p:nvSpPr>
          <p:cNvPr id="81" name="Google Shape;81;p12"/>
          <p:cNvSpPr txBox="1"/>
          <p:nvPr/>
        </p:nvSpPr>
        <p:spPr>
          <a:xfrm>
            <a:off x="1247775" y="5778500"/>
            <a:ext cx="4531800" cy="1538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>
                <a:latin typeface="Assistant"/>
                <a:cs typeface="Assistant"/>
                <a:sym typeface="Assistant"/>
              </a:rPr>
              <a:t>Eerder complex met meerdere algoritmes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>
                <a:latin typeface="Assistant"/>
                <a:cs typeface="Assistant"/>
                <a:sym typeface="Assistant"/>
              </a:rPr>
              <a:t>Video’s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endParaRPr lang="nl-BE" sz="2499" dirty="0">
              <a:latin typeface="Assistant"/>
              <a:cs typeface="Assistant"/>
              <a:sym typeface="Assistant"/>
            </a:endParaRPr>
          </a:p>
        </p:txBody>
      </p:sp>
      <p:sp>
        <p:nvSpPr>
          <p:cNvPr id="82" name="Google Shape;82;p12"/>
          <p:cNvSpPr txBox="1"/>
          <p:nvPr/>
        </p:nvSpPr>
        <p:spPr>
          <a:xfrm>
            <a:off x="1524640" y="4656196"/>
            <a:ext cx="4713485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 err="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Soortgelijke</a:t>
            </a:r>
            <a:r>
              <a:rPr lang="en-US" sz="3500" b="0" i="0" u="none" strike="noStrike" cap="none" dirty="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</a:t>
            </a:r>
            <a:r>
              <a:rPr lang="en-US" sz="3500" b="0" i="0" u="none" strike="noStrike" cap="none" dirty="0" err="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projecten</a:t>
            </a:r>
            <a:endParaRPr dirty="0"/>
          </a:p>
        </p:txBody>
      </p:sp>
      <p:sp>
        <p:nvSpPr>
          <p:cNvPr id="83" name="Google Shape;83;p12"/>
          <p:cNvSpPr txBox="1"/>
          <p:nvPr/>
        </p:nvSpPr>
        <p:spPr>
          <a:xfrm>
            <a:off x="7152368" y="5778500"/>
            <a:ext cx="4671900" cy="3076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Eigen dataset</a:t>
            </a:r>
            <a:endParaRPr dirty="0"/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Uitbreiding </a:t>
            </a:r>
            <a:r>
              <a:rPr lang="nl-BE" sz="2499" b="0" i="0" u="none" strike="noStrike" cap="none" dirty="0" err="1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tetrisGen</a:t>
            </a: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 voor meer data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 err="1">
                <a:latin typeface="Assistant"/>
                <a:ea typeface="Assistant"/>
                <a:cs typeface="Assistant"/>
                <a:sym typeface="Assistant"/>
              </a:rPr>
              <a:t>Pygame</a:t>
            </a:r>
            <a:endParaRPr lang="nl-BE" sz="2499" dirty="0">
              <a:latin typeface="Assistant"/>
              <a:ea typeface="Assistant"/>
              <a:cs typeface="Assistant"/>
              <a:sym typeface="Assistant"/>
            </a:endParaRP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Time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 err="1">
                <a:latin typeface="Assistant"/>
                <a:ea typeface="Assistant"/>
                <a:cs typeface="Assistant"/>
                <a:sym typeface="Assistant"/>
              </a:rPr>
              <a:t>Sys</a:t>
            </a:r>
            <a:endParaRPr lang="nl-BE" sz="2499" dirty="0">
              <a:latin typeface="Assistant"/>
              <a:ea typeface="Assistant"/>
              <a:cs typeface="Assistant"/>
              <a:sym typeface="Assistant"/>
            </a:endParaRP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OS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>
                <a:latin typeface="Assistant"/>
                <a:ea typeface="Assistant"/>
                <a:cs typeface="Assistant"/>
                <a:sym typeface="Assistant"/>
              </a:rPr>
              <a:t>Random</a:t>
            </a:r>
            <a:endParaRPr lang="nl-BE" sz="2499" b="0" i="0" u="none" strike="noStrike" cap="none" dirty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84" name="Google Shape;84;p12"/>
          <p:cNvSpPr txBox="1"/>
          <p:nvPr/>
        </p:nvSpPr>
        <p:spPr>
          <a:xfrm>
            <a:off x="7460237" y="4656196"/>
            <a:ext cx="2385531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Libraries</a:t>
            </a:r>
            <a:endParaRPr dirty="0"/>
          </a:p>
        </p:txBody>
      </p:sp>
      <p:sp>
        <p:nvSpPr>
          <p:cNvPr id="85" name="Google Shape;85;p12"/>
          <p:cNvSpPr txBox="1"/>
          <p:nvPr/>
        </p:nvSpPr>
        <p:spPr>
          <a:xfrm>
            <a:off x="13067788" y="5778500"/>
            <a:ext cx="3998100" cy="759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33002" marR="0" lvl="1" indent="-266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68"/>
              <a:buFont typeface="Arial"/>
              <a:buChar char="•"/>
            </a:pPr>
            <a:r>
              <a:rPr lang="en-US" sz="2468" b="0" i="0" u="none" strike="noStrike" cap="none" dirty="0" err="1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Heuristiek</a:t>
            </a:r>
            <a:endParaRPr lang="en-US" sz="2468" b="0" i="0" u="none" strike="noStrike" cap="none" dirty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marL="533002" marR="0" lvl="1" indent="-266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68"/>
              <a:buFont typeface="Arial"/>
              <a:buChar char="•"/>
            </a:pPr>
            <a:r>
              <a:rPr lang="en-US" sz="2468" dirty="0" err="1">
                <a:latin typeface="Assistant"/>
                <a:cs typeface="Assistant"/>
                <a:sym typeface="Assistant"/>
              </a:rPr>
              <a:t>Genetisch</a:t>
            </a:r>
            <a:endParaRPr dirty="0"/>
          </a:p>
        </p:txBody>
      </p:sp>
      <p:sp>
        <p:nvSpPr>
          <p:cNvPr id="86" name="Google Shape;86;p12"/>
          <p:cNvSpPr txBox="1"/>
          <p:nvPr/>
        </p:nvSpPr>
        <p:spPr>
          <a:xfrm>
            <a:off x="13317315" y="4656196"/>
            <a:ext cx="3149417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AI </a:t>
            </a:r>
            <a:r>
              <a:rPr lang="en-US" sz="3500" b="0" i="0" u="none" strike="noStrike" cap="none" dirty="0" err="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structuren</a:t>
            </a:r>
            <a:endParaRPr dirty="0"/>
          </a:p>
        </p:txBody>
      </p:sp>
      <p:grpSp>
        <p:nvGrpSpPr>
          <p:cNvPr id="87" name="Google Shape;87;p12"/>
          <p:cNvGrpSpPr/>
          <p:nvPr/>
        </p:nvGrpSpPr>
        <p:grpSpPr>
          <a:xfrm>
            <a:off x="13879516" y="858646"/>
            <a:ext cx="1066856" cy="1313054"/>
            <a:chOff x="0" y="0"/>
            <a:chExt cx="660400" cy="812800"/>
          </a:xfrm>
        </p:grpSpPr>
        <p:sp>
          <p:nvSpPr>
            <p:cNvPr id="88" name="Google Shape;88;p12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2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2"/>
          <p:cNvGrpSpPr/>
          <p:nvPr/>
        </p:nvGrpSpPr>
        <p:grpSpPr>
          <a:xfrm>
            <a:off x="13858670" y="2275929"/>
            <a:ext cx="1108547" cy="1323568"/>
            <a:chOff x="0" y="-66675"/>
            <a:chExt cx="736600" cy="879475"/>
          </a:xfrm>
        </p:grpSpPr>
        <p:sp>
          <p:nvSpPr>
            <p:cNvPr id="91" name="Google Shape;91;p12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92" name="Google Shape;92;p12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" name="Google Shape;93;p12"/>
          <p:cNvGrpSpPr/>
          <p:nvPr/>
        </p:nvGrpSpPr>
        <p:grpSpPr>
          <a:xfrm>
            <a:off x="15167618" y="900647"/>
            <a:ext cx="1299117" cy="1304940"/>
            <a:chOff x="1813" y="0"/>
            <a:chExt cx="809173" cy="812800"/>
          </a:xfrm>
        </p:grpSpPr>
        <p:sp>
          <p:nvSpPr>
            <p:cNvPr id="94" name="Google Shape;94;p12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A16A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" name="Google Shape;96;p12"/>
          <p:cNvSpPr/>
          <p:nvPr/>
        </p:nvSpPr>
        <p:spPr>
          <a:xfrm rot="10779982">
            <a:off x="15243751" y="2377499"/>
            <a:ext cx="1305003" cy="1304888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2"/>
          <p:cNvSpPr/>
          <p:nvPr/>
        </p:nvSpPr>
        <p:spPr>
          <a:xfrm>
            <a:off x="928552" y="4607601"/>
            <a:ext cx="443688" cy="546078"/>
          </a:xfrm>
          <a:custGeom>
            <a:avLst/>
            <a:gdLst/>
            <a:ahLst/>
            <a:cxnLst/>
            <a:rect l="l" t="t" r="r" b="b"/>
            <a:pathLst>
              <a:path w="660400" h="812800" extrusionOk="0">
                <a:moveTo>
                  <a:pt x="220252" y="19070"/>
                </a:moveTo>
                <a:cubicBezTo>
                  <a:pt x="254000" y="7556"/>
                  <a:pt x="292600" y="0"/>
                  <a:pt x="330378" y="0"/>
                </a:cubicBezTo>
                <a:cubicBezTo>
                  <a:pt x="368157" y="0"/>
                  <a:pt x="404509" y="6476"/>
                  <a:pt x="438009" y="17990"/>
                </a:cubicBezTo>
                <a:cubicBezTo>
                  <a:pt x="438723" y="18350"/>
                  <a:pt x="439435" y="18350"/>
                  <a:pt x="440148" y="18710"/>
                </a:cubicBezTo>
                <a:cubicBezTo>
                  <a:pt x="565955" y="64765"/>
                  <a:pt x="658618" y="186379"/>
                  <a:pt x="660400" y="328502"/>
                </a:cubicBezTo>
                <a:lnTo>
                  <a:pt x="660400" y="812800"/>
                </a:lnTo>
                <a:lnTo>
                  <a:pt x="0" y="812800"/>
                </a:lnTo>
                <a:lnTo>
                  <a:pt x="0" y="328861"/>
                </a:lnTo>
                <a:cubicBezTo>
                  <a:pt x="1782" y="185660"/>
                  <a:pt x="93019" y="64045"/>
                  <a:pt x="220252" y="1907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2"/>
          <p:cNvSpPr/>
          <p:nvPr/>
        </p:nvSpPr>
        <p:spPr>
          <a:xfrm>
            <a:off x="6818341" y="4703461"/>
            <a:ext cx="461027" cy="508719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99" name="Google Shape;99;p12"/>
          <p:cNvSpPr/>
          <p:nvPr/>
        </p:nvSpPr>
        <p:spPr>
          <a:xfrm rot="10779982">
            <a:off x="12586873" y="4677089"/>
            <a:ext cx="542730" cy="542682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8"/>
          <p:cNvSpPr/>
          <p:nvPr/>
        </p:nvSpPr>
        <p:spPr>
          <a:xfrm>
            <a:off x="9488079" y="0"/>
            <a:ext cx="8799921" cy="10287000"/>
          </a:xfrm>
          <a:custGeom>
            <a:avLst/>
            <a:gdLst/>
            <a:ahLst/>
            <a:cxnLst/>
            <a:rect l="l" t="t" r="r" b="b"/>
            <a:pathLst>
              <a:path w="611196" h="714481" extrusionOk="0">
                <a:moveTo>
                  <a:pt x="0" y="0"/>
                </a:moveTo>
                <a:lnTo>
                  <a:pt x="611196" y="0"/>
                </a:lnTo>
                <a:lnTo>
                  <a:pt x="611196" y="714481"/>
                </a:lnTo>
                <a:lnTo>
                  <a:pt x="0" y="714481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51" name="Google Shape;251;p18"/>
          <p:cNvSpPr txBox="1"/>
          <p:nvPr/>
        </p:nvSpPr>
        <p:spPr>
          <a:xfrm>
            <a:off x="1102296" y="828675"/>
            <a:ext cx="71271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7500" b="1" i="0" u="none" strike="noStrike" cap="none" dirty="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Analyse</a:t>
            </a:r>
            <a:endParaRPr dirty="0"/>
          </a:p>
        </p:txBody>
      </p:sp>
      <p:grpSp>
        <p:nvGrpSpPr>
          <p:cNvPr id="253" name="Google Shape;253;p18"/>
          <p:cNvGrpSpPr/>
          <p:nvPr/>
        </p:nvGrpSpPr>
        <p:grpSpPr>
          <a:xfrm>
            <a:off x="1102296" y="8522768"/>
            <a:ext cx="3989062" cy="959486"/>
            <a:chOff x="0" y="-40383"/>
            <a:chExt cx="5318750" cy="1279314"/>
          </a:xfrm>
        </p:grpSpPr>
        <p:grpSp>
          <p:nvGrpSpPr>
            <p:cNvPr id="254" name="Google Shape;254;p18"/>
            <p:cNvGrpSpPr/>
            <p:nvPr/>
          </p:nvGrpSpPr>
          <p:grpSpPr>
            <a:xfrm>
              <a:off x="0" y="16561"/>
              <a:ext cx="993176" cy="1222370"/>
              <a:chOff x="0" y="0"/>
              <a:chExt cx="660400" cy="812800"/>
            </a:xfrm>
          </p:grpSpPr>
          <p:sp>
            <p:nvSpPr>
              <p:cNvPr id="255" name="Google Shape;255;p18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8"/>
              <p:cNvSpPr txBox="1"/>
              <p:nvPr/>
            </p:nvSpPr>
            <p:spPr>
              <a:xfrm>
                <a:off x="0" y="88900"/>
                <a:ext cx="6603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7" name="Google Shape;257;p18"/>
            <p:cNvGrpSpPr/>
            <p:nvPr/>
          </p:nvGrpSpPr>
          <p:grpSpPr>
            <a:xfrm>
              <a:off x="2722201" y="-40383"/>
              <a:ext cx="1100922" cy="1271755"/>
              <a:chOff x="0" y="-38100"/>
              <a:chExt cx="736600" cy="850900"/>
            </a:xfrm>
          </p:grpSpPr>
          <p:sp>
            <p:nvSpPr>
              <p:cNvPr id="258" name="Google Shape;258;p18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59" name="Google Shape;259;p18"/>
              <p:cNvSpPr txBox="1"/>
              <p:nvPr/>
            </p:nvSpPr>
            <p:spPr>
              <a:xfrm>
                <a:off x="0" y="-38100"/>
                <a:ext cx="7365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0" name="Google Shape;260;p18"/>
            <p:cNvGrpSpPr/>
            <p:nvPr/>
          </p:nvGrpSpPr>
          <p:grpSpPr>
            <a:xfrm>
              <a:off x="1252993" y="16561"/>
              <a:ext cx="1209390" cy="1214811"/>
              <a:chOff x="1813" y="0"/>
              <a:chExt cx="809173" cy="812800"/>
            </a:xfrm>
          </p:grpSpPr>
          <p:sp>
            <p:nvSpPr>
              <p:cNvPr id="261" name="Google Shape;261;p18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A16AE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8"/>
              <p:cNvSpPr txBox="1"/>
              <p:nvPr/>
            </p:nvSpPr>
            <p:spPr>
              <a:xfrm>
                <a:off x="76200" y="38100"/>
                <a:ext cx="660300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63" name="Google Shape;263;p18"/>
            <p:cNvSpPr/>
            <p:nvPr/>
          </p:nvSpPr>
          <p:spPr>
            <a:xfrm rot="10800000">
              <a:off x="4094705" y="7409"/>
              <a:ext cx="1224045" cy="1223937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18"/>
          <p:cNvSpPr txBox="1"/>
          <p:nvPr/>
        </p:nvSpPr>
        <p:spPr>
          <a:xfrm>
            <a:off x="10054970" y="1109034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Dataset</a:t>
            </a:r>
            <a:endParaRPr dirty="0"/>
          </a:p>
        </p:txBody>
      </p:sp>
      <p:sp>
        <p:nvSpPr>
          <p:cNvPr id="265" name="Google Shape;265;p18"/>
          <p:cNvSpPr txBox="1"/>
          <p:nvPr/>
        </p:nvSpPr>
        <p:spPr>
          <a:xfrm>
            <a:off x="10054969" y="1702301"/>
            <a:ext cx="5151015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Eigen data</a:t>
            </a:r>
            <a:endParaRPr lang="nl-BE" sz="2499" dirty="0">
              <a:solidFill>
                <a:srgbClr val="FFFFFF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Uitbreiding </a:t>
            </a:r>
            <a:r>
              <a:rPr lang="nl-BE" sz="2499" dirty="0" err="1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tetrisGen</a:t>
            </a:r>
            <a:endParaRPr dirty="0"/>
          </a:p>
        </p:txBody>
      </p:sp>
      <p:sp>
        <p:nvSpPr>
          <p:cNvPr id="266" name="Google Shape;266;p18"/>
          <p:cNvSpPr txBox="1"/>
          <p:nvPr/>
        </p:nvSpPr>
        <p:spPr>
          <a:xfrm>
            <a:off x="10054970" y="3350077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Software</a:t>
            </a:r>
            <a:endParaRPr dirty="0"/>
          </a:p>
        </p:txBody>
      </p:sp>
      <p:sp>
        <p:nvSpPr>
          <p:cNvPr id="267" name="Google Shape;267;p18"/>
          <p:cNvSpPr txBox="1"/>
          <p:nvPr/>
        </p:nvSpPr>
        <p:spPr>
          <a:xfrm>
            <a:off x="10054970" y="3943344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Windows</a:t>
            </a:r>
            <a:endParaRPr dirty="0"/>
          </a:p>
        </p:txBody>
      </p:sp>
      <p:sp>
        <p:nvSpPr>
          <p:cNvPr id="268" name="Google Shape;268;p18"/>
          <p:cNvSpPr txBox="1"/>
          <p:nvPr/>
        </p:nvSpPr>
        <p:spPr>
          <a:xfrm>
            <a:off x="10054970" y="5591119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rgbClr val="FFFFFF"/>
                </a:solidFill>
                <a:latin typeface="Fira Sans Medium"/>
                <a:sym typeface="Fira Sans Medium"/>
              </a:rPr>
              <a:t>Hardware</a:t>
            </a:r>
            <a:endParaRPr lang="en-US" dirty="0"/>
          </a:p>
        </p:txBody>
      </p:sp>
      <p:sp>
        <p:nvSpPr>
          <p:cNvPr id="269" name="Google Shape;269;p18"/>
          <p:cNvSpPr txBox="1"/>
          <p:nvPr/>
        </p:nvSpPr>
        <p:spPr>
          <a:xfrm>
            <a:off x="10054970" y="6162887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Pc</a:t>
            </a:r>
            <a:endParaRPr dirty="0"/>
          </a:p>
        </p:txBody>
      </p:sp>
      <p:sp>
        <p:nvSpPr>
          <p:cNvPr id="270" name="Google Shape;270;p18"/>
          <p:cNvSpPr txBox="1"/>
          <p:nvPr/>
        </p:nvSpPr>
        <p:spPr>
          <a:xfrm>
            <a:off x="10054970" y="7832162"/>
            <a:ext cx="492316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Deployen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van software</a:t>
            </a:r>
            <a:endParaRPr lang="en-US" dirty="0"/>
          </a:p>
        </p:txBody>
      </p:sp>
      <p:sp>
        <p:nvSpPr>
          <p:cNvPr id="271" name="Google Shape;271;p18"/>
          <p:cNvSpPr txBox="1"/>
          <p:nvPr/>
        </p:nvSpPr>
        <p:spPr>
          <a:xfrm>
            <a:off x="10054970" y="8425429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.exe</a:t>
            </a:r>
            <a:endParaRPr lang="en-US" dirty="0"/>
          </a:p>
        </p:txBody>
      </p:sp>
      <p:sp>
        <p:nvSpPr>
          <p:cNvPr id="272" name="Google Shape;272;p18"/>
          <p:cNvSpPr/>
          <p:nvPr/>
        </p:nvSpPr>
        <p:spPr>
          <a:xfrm>
            <a:off x="9223965" y="1118982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9243297" y="3360025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5C5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9243297" y="5596093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F5F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8"/>
          <p:cNvSpPr/>
          <p:nvPr/>
        </p:nvSpPr>
        <p:spPr>
          <a:xfrm>
            <a:off x="9223965" y="7832161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blue screen with white lines">
            <a:extLst>
              <a:ext uri="{FF2B5EF4-FFF2-40B4-BE49-F238E27FC236}">
                <a16:creationId xmlns:a16="http://schemas.microsoft.com/office/drawing/2014/main" id="{E0145208-40F0-C217-ECC8-0003B08AE0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664"/>
          <a:stretch/>
        </p:blipFill>
        <p:spPr>
          <a:xfrm>
            <a:off x="1438242" y="2471486"/>
            <a:ext cx="4946997" cy="67002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3424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oogle Shape;310;p20"/>
          <p:cNvGrpSpPr/>
          <p:nvPr/>
        </p:nvGrpSpPr>
        <p:grpSpPr>
          <a:xfrm>
            <a:off x="6045522" y="5786631"/>
            <a:ext cx="5949307" cy="1462792"/>
            <a:chOff x="0" y="-102689"/>
            <a:chExt cx="7932409" cy="1950389"/>
          </a:xfrm>
        </p:grpSpPr>
        <p:grpSp>
          <p:nvGrpSpPr>
            <p:cNvPr id="311" name="Google Shape;311;p20"/>
            <p:cNvGrpSpPr/>
            <p:nvPr/>
          </p:nvGrpSpPr>
          <p:grpSpPr>
            <a:xfrm>
              <a:off x="0" y="24699"/>
              <a:ext cx="1481188" cy="1823001"/>
              <a:chOff x="0" y="0"/>
              <a:chExt cx="660400" cy="812800"/>
            </a:xfrm>
          </p:grpSpPr>
          <p:sp>
            <p:nvSpPr>
              <p:cNvPr id="312" name="Google Shape;312;p20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20"/>
              <p:cNvSpPr txBox="1"/>
              <p:nvPr/>
            </p:nvSpPr>
            <p:spPr>
              <a:xfrm>
                <a:off x="0" y="69850"/>
                <a:ext cx="660400" cy="742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4" name="Google Shape;314;p20"/>
            <p:cNvGrpSpPr/>
            <p:nvPr/>
          </p:nvGrpSpPr>
          <p:grpSpPr>
            <a:xfrm>
              <a:off x="4059904" y="-102689"/>
              <a:ext cx="1641886" cy="1939125"/>
              <a:chOff x="0" y="-57150"/>
              <a:chExt cx="736600" cy="869950"/>
            </a:xfrm>
          </p:grpSpPr>
          <p:sp>
            <p:nvSpPr>
              <p:cNvPr id="315" name="Google Shape;315;p20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316" name="Google Shape;316;p20"/>
              <p:cNvSpPr txBox="1"/>
              <p:nvPr/>
            </p:nvSpPr>
            <p:spPr>
              <a:xfrm>
                <a:off x="0" y="-57150"/>
                <a:ext cx="736600" cy="742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7" name="Google Shape;317;p20"/>
            <p:cNvGrpSpPr/>
            <p:nvPr/>
          </p:nvGrpSpPr>
          <p:grpSpPr>
            <a:xfrm>
              <a:off x="1868719" y="24699"/>
              <a:ext cx="1803652" cy="1811737"/>
              <a:chOff x="1813" y="0"/>
              <a:chExt cx="809173" cy="812800"/>
            </a:xfrm>
          </p:grpSpPr>
          <p:sp>
            <p:nvSpPr>
              <p:cNvPr id="318" name="Google Shape;318;p20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EE604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20"/>
              <p:cNvSpPr txBox="1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20" name="Google Shape;320;p20"/>
            <p:cNvSpPr/>
            <p:nvPr/>
          </p:nvSpPr>
          <p:spPr>
            <a:xfrm rot="10779982">
              <a:off x="6090611" y="5493"/>
              <a:ext cx="1836467" cy="1836305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1" name="Google Shape;321;p20"/>
          <p:cNvSpPr txBox="1">
            <a:spLocks noGrp="1"/>
          </p:cNvSpPr>
          <p:nvPr>
            <p:ph type="title"/>
          </p:nvPr>
        </p:nvSpPr>
        <p:spPr>
          <a:xfrm>
            <a:off x="4380525" y="2968950"/>
            <a:ext cx="100590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2" name="Google Shape;322;p20"/>
          <p:cNvSpPr txBox="1">
            <a:spLocks noGrp="1"/>
          </p:cNvSpPr>
          <p:nvPr>
            <p:ph type="title" idx="2"/>
          </p:nvPr>
        </p:nvSpPr>
        <p:spPr>
          <a:xfrm>
            <a:off x="3739275" y="7471600"/>
            <a:ext cx="113415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6146" name="Picture 2" descr="If Tetris has taught me anything it's that errors pile up and  accomplishments disappear&quot; -- Unknown (1900x1200) : r/QuotesPorn">
            <a:extLst>
              <a:ext uri="{FF2B5EF4-FFF2-40B4-BE49-F238E27FC236}">
                <a16:creationId xmlns:a16="http://schemas.microsoft.com/office/drawing/2014/main" id="{2F1BA24B-2D97-88A4-4383-E3DFA1580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2463" y="856619"/>
            <a:ext cx="13575123" cy="8573761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16AE8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6"/>
          <p:cNvSpPr txBox="1"/>
          <p:nvPr/>
        </p:nvSpPr>
        <p:spPr>
          <a:xfrm>
            <a:off x="9889521" y="611923"/>
            <a:ext cx="5446213" cy="1384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499" b="1" i="0" u="none" strike="noStrike" cap="none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Resultaat</a:t>
            </a:r>
            <a:endParaRPr dirty="0"/>
          </a:p>
        </p:txBody>
      </p:sp>
      <p:sp>
        <p:nvSpPr>
          <p:cNvPr id="199" name="Google Shape;199;p16"/>
          <p:cNvSpPr txBox="1"/>
          <p:nvPr/>
        </p:nvSpPr>
        <p:spPr>
          <a:xfrm>
            <a:off x="9889521" y="1841966"/>
            <a:ext cx="56205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Algemene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beschrijving</a:t>
            </a:r>
            <a:endParaRPr dirty="0"/>
          </a:p>
        </p:txBody>
      </p:sp>
      <p:grpSp>
        <p:nvGrpSpPr>
          <p:cNvPr id="200" name="Google Shape;200;p16"/>
          <p:cNvGrpSpPr/>
          <p:nvPr/>
        </p:nvGrpSpPr>
        <p:grpSpPr>
          <a:xfrm>
            <a:off x="7637594" y="7840275"/>
            <a:ext cx="7698139" cy="1954599"/>
            <a:chOff x="0" y="-215291"/>
            <a:chExt cx="10264185" cy="2606133"/>
          </a:xfrm>
        </p:grpSpPr>
        <p:grpSp>
          <p:nvGrpSpPr>
            <p:cNvPr id="201" name="Google Shape;201;p16"/>
            <p:cNvGrpSpPr/>
            <p:nvPr/>
          </p:nvGrpSpPr>
          <p:grpSpPr>
            <a:xfrm>
              <a:off x="0" y="31960"/>
              <a:ext cx="1916592" cy="2358882"/>
              <a:chOff x="0" y="0"/>
              <a:chExt cx="660400" cy="812800"/>
            </a:xfrm>
          </p:grpSpPr>
          <p:sp>
            <p:nvSpPr>
              <p:cNvPr id="202" name="Google Shape;202;p16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16"/>
              <p:cNvSpPr txBox="1"/>
              <p:nvPr/>
            </p:nvSpPr>
            <p:spPr>
              <a:xfrm>
                <a:off x="0" y="41275"/>
                <a:ext cx="6604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4" name="Google Shape;204;p16"/>
            <p:cNvGrpSpPr/>
            <p:nvPr/>
          </p:nvGrpSpPr>
          <p:grpSpPr>
            <a:xfrm>
              <a:off x="5253336" y="-215291"/>
              <a:ext cx="2124528" cy="2591558"/>
              <a:chOff x="0" y="-85725"/>
              <a:chExt cx="736600" cy="898525"/>
            </a:xfrm>
          </p:grpSpPr>
          <p:sp>
            <p:nvSpPr>
              <p:cNvPr id="205" name="Google Shape;205;p16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EE604A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06" name="Google Shape;206;p16"/>
              <p:cNvSpPr txBox="1"/>
              <p:nvPr/>
            </p:nvSpPr>
            <p:spPr>
              <a:xfrm>
                <a:off x="0" y="-85725"/>
                <a:ext cx="7366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7" name="Google Shape;207;p16"/>
            <p:cNvGrpSpPr/>
            <p:nvPr/>
          </p:nvGrpSpPr>
          <p:grpSpPr>
            <a:xfrm>
              <a:off x="2418039" y="4488"/>
              <a:ext cx="2333846" cy="2371779"/>
              <a:chOff x="1813" y="-9525"/>
              <a:chExt cx="809173" cy="822325"/>
            </a:xfrm>
          </p:grpSpPr>
          <p:sp>
            <p:nvSpPr>
              <p:cNvPr id="208" name="Google Shape;208;p16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16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10" name="Google Shape;210;p16"/>
            <p:cNvSpPr/>
            <p:nvPr/>
          </p:nvSpPr>
          <p:spPr>
            <a:xfrm rot="10779982">
              <a:off x="7880981" y="7107"/>
              <a:ext cx="2376307" cy="2376098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" name="Google Shape;211;p16"/>
          <p:cNvGrpSpPr/>
          <p:nvPr/>
        </p:nvGrpSpPr>
        <p:grpSpPr>
          <a:xfrm>
            <a:off x="15711723" y="8025713"/>
            <a:ext cx="1437444" cy="1769162"/>
            <a:chOff x="0" y="0"/>
            <a:chExt cx="660400" cy="812800"/>
          </a:xfrm>
        </p:grpSpPr>
        <p:sp>
          <p:nvSpPr>
            <p:cNvPr id="212" name="Google Shape;212;p16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6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6"/>
          <p:cNvGrpSpPr/>
          <p:nvPr/>
        </p:nvGrpSpPr>
        <p:grpSpPr>
          <a:xfrm>
            <a:off x="17525253" y="8025713"/>
            <a:ext cx="1750384" cy="1758230"/>
            <a:chOff x="1813" y="0"/>
            <a:chExt cx="809173" cy="812800"/>
          </a:xfrm>
        </p:grpSpPr>
        <p:sp>
          <p:nvSpPr>
            <p:cNvPr id="215" name="Google Shape;215;p16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7" name="Google Shape;217;p16"/>
          <p:cNvSpPr/>
          <p:nvPr/>
        </p:nvSpPr>
        <p:spPr>
          <a:xfrm rot="10779982">
            <a:off x="9511266" y="5740833"/>
            <a:ext cx="1782230" cy="1782073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8" name="Google Shape;218;p16"/>
          <p:cNvGrpSpPr/>
          <p:nvPr/>
        </p:nvGrpSpPr>
        <p:grpSpPr>
          <a:xfrm>
            <a:off x="11674659" y="5574034"/>
            <a:ext cx="7698139" cy="1954599"/>
            <a:chOff x="0" y="-215291"/>
            <a:chExt cx="10264185" cy="2606133"/>
          </a:xfrm>
        </p:grpSpPr>
        <p:grpSp>
          <p:nvGrpSpPr>
            <p:cNvPr id="219" name="Google Shape;219;p16"/>
            <p:cNvGrpSpPr/>
            <p:nvPr/>
          </p:nvGrpSpPr>
          <p:grpSpPr>
            <a:xfrm>
              <a:off x="0" y="31960"/>
              <a:ext cx="1916592" cy="2358882"/>
              <a:chOff x="0" y="0"/>
              <a:chExt cx="660400" cy="812800"/>
            </a:xfrm>
          </p:grpSpPr>
          <p:sp>
            <p:nvSpPr>
              <p:cNvPr id="220" name="Google Shape;220;p16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6"/>
              <p:cNvSpPr txBox="1"/>
              <p:nvPr/>
            </p:nvSpPr>
            <p:spPr>
              <a:xfrm>
                <a:off x="0" y="41275"/>
                <a:ext cx="6604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2" name="Google Shape;222;p16"/>
            <p:cNvGrpSpPr/>
            <p:nvPr/>
          </p:nvGrpSpPr>
          <p:grpSpPr>
            <a:xfrm>
              <a:off x="5253336" y="-215291"/>
              <a:ext cx="2124528" cy="2591558"/>
              <a:chOff x="0" y="-85725"/>
              <a:chExt cx="736600" cy="898525"/>
            </a:xfrm>
          </p:grpSpPr>
          <p:sp>
            <p:nvSpPr>
              <p:cNvPr id="223" name="Google Shape;223;p16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EE604A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24" name="Google Shape;224;p16"/>
              <p:cNvSpPr txBox="1"/>
              <p:nvPr/>
            </p:nvSpPr>
            <p:spPr>
              <a:xfrm>
                <a:off x="0" y="-85725"/>
                <a:ext cx="7366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5" name="Google Shape;225;p16"/>
            <p:cNvGrpSpPr/>
            <p:nvPr/>
          </p:nvGrpSpPr>
          <p:grpSpPr>
            <a:xfrm>
              <a:off x="2418039" y="4488"/>
              <a:ext cx="2333846" cy="2371779"/>
              <a:chOff x="1813" y="-9525"/>
              <a:chExt cx="809173" cy="822325"/>
            </a:xfrm>
          </p:grpSpPr>
          <p:sp>
            <p:nvSpPr>
              <p:cNvPr id="226" name="Google Shape;226;p16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EE604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6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28" name="Google Shape;228;p16"/>
            <p:cNvSpPr/>
            <p:nvPr/>
          </p:nvSpPr>
          <p:spPr>
            <a:xfrm rot="10779982">
              <a:off x="7880981" y="7107"/>
              <a:ext cx="2376307" cy="2376098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" name="Google Shape;229;p16"/>
          <p:cNvSpPr/>
          <p:nvPr/>
        </p:nvSpPr>
        <p:spPr>
          <a:xfrm>
            <a:off x="7540532" y="5759472"/>
            <a:ext cx="1593413" cy="1758249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pic>
        <p:nvPicPr>
          <p:cNvPr id="2" name="Picture 1" descr="A graph of a graph">
            <a:extLst>
              <a:ext uri="{FF2B5EF4-FFF2-40B4-BE49-F238E27FC236}">
                <a16:creationId xmlns:a16="http://schemas.microsoft.com/office/drawing/2014/main" id="{F783676E-4840-6DA9-F2A1-8C61C0D347E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8799"/>
          <a:stretch/>
        </p:blipFill>
        <p:spPr>
          <a:xfrm>
            <a:off x="8488420" y="2995466"/>
            <a:ext cx="9849798" cy="64800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 descr="A blue rectangular object with white lines">
            <a:extLst>
              <a:ext uri="{FF2B5EF4-FFF2-40B4-BE49-F238E27FC236}">
                <a16:creationId xmlns:a16="http://schemas.microsoft.com/office/drawing/2014/main" id="{8BF97DB1-869E-E85F-5527-EA2BB60EE9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3569"/>
          <a:stretch/>
        </p:blipFill>
        <p:spPr>
          <a:xfrm>
            <a:off x="4874214" y="1996789"/>
            <a:ext cx="3885146" cy="7906853"/>
          </a:xfrm>
          <a:prstGeom prst="rect">
            <a:avLst/>
          </a:prstGeom>
        </p:spPr>
      </p:pic>
      <p:sp>
        <p:nvSpPr>
          <p:cNvPr id="4" name="Google Shape;199;p16">
            <a:extLst>
              <a:ext uri="{FF2B5EF4-FFF2-40B4-BE49-F238E27FC236}">
                <a16:creationId xmlns:a16="http://schemas.microsoft.com/office/drawing/2014/main" id="{EC28E346-036C-868D-8CC7-BEA72743EFDE}"/>
              </a:ext>
            </a:extLst>
          </p:cNvPr>
          <p:cNvSpPr txBox="1"/>
          <p:nvPr/>
        </p:nvSpPr>
        <p:spPr>
          <a:xfrm>
            <a:off x="9889521" y="2291548"/>
            <a:ext cx="56205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Overzicht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van de </a:t>
            </a: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onderdelen</a:t>
            </a:r>
            <a:endParaRPr dirty="0"/>
          </a:p>
        </p:txBody>
      </p:sp>
      <p:sp>
        <p:nvSpPr>
          <p:cNvPr id="5" name="Google Shape;273;p18">
            <a:extLst>
              <a:ext uri="{FF2B5EF4-FFF2-40B4-BE49-F238E27FC236}">
                <a16:creationId xmlns:a16="http://schemas.microsoft.com/office/drawing/2014/main" id="{A6618DF6-01C9-1C55-C387-531ABBBA739C}"/>
              </a:ext>
            </a:extLst>
          </p:cNvPr>
          <p:cNvSpPr/>
          <p:nvPr/>
        </p:nvSpPr>
        <p:spPr>
          <a:xfrm>
            <a:off x="421269" y="2822966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5C5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64;p18">
            <a:extLst>
              <a:ext uri="{FF2B5EF4-FFF2-40B4-BE49-F238E27FC236}">
                <a16:creationId xmlns:a16="http://schemas.microsoft.com/office/drawing/2014/main" id="{CF679A1A-1044-BBF2-2EB6-9FEC0D239A14}"/>
              </a:ext>
            </a:extLst>
          </p:cNvPr>
          <p:cNvSpPr txBox="1"/>
          <p:nvPr/>
        </p:nvSpPr>
        <p:spPr>
          <a:xfrm>
            <a:off x="1129299" y="2765098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Data files</a:t>
            </a:r>
            <a:endParaRPr dirty="0"/>
          </a:p>
        </p:txBody>
      </p:sp>
      <p:sp>
        <p:nvSpPr>
          <p:cNvPr id="7" name="Google Shape;265;p18">
            <a:extLst>
              <a:ext uri="{FF2B5EF4-FFF2-40B4-BE49-F238E27FC236}">
                <a16:creationId xmlns:a16="http://schemas.microsoft.com/office/drawing/2014/main" id="{10BDBA86-E086-9007-678D-24E6C2803E9F}"/>
              </a:ext>
            </a:extLst>
          </p:cNvPr>
          <p:cNvSpPr txBox="1"/>
          <p:nvPr/>
        </p:nvSpPr>
        <p:spPr>
          <a:xfrm>
            <a:off x="1129423" y="3353562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Hiscores</a:t>
            </a:r>
            <a:r>
              <a:rPr lang="nl-BE" sz="24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a</a:t>
            </a: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fhankelijk van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parameters</a:t>
            </a:r>
            <a:endParaRPr dirty="0"/>
          </a:p>
        </p:txBody>
      </p:sp>
      <p:sp>
        <p:nvSpPr>
          <p:cNvPr id="8" name="Google Shape;274;p18">
            <a:extLst>
              <a:ext uri="{FF2B5EF4-FFF2-40B4-BE49-F238E27FC236}">
                <a16:creationId xmlns:a16="http://schemas.microsoft.com/office/drawing/2014/main" id="{687B0ED6-CD8C-155A-D779-BC63689163BA}"/>
              </a:ext>
            </a:extLst>
          </p:cNvPr>
          <p:cNvSpPr/>
          <p:nvPr/>
        </p:nvSpPr>
        <p:spPr>
          <a:xfrm>
            <a:off x="406096" y="4930686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F5F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64;p18">
            <a:extLst>
              <a:ext uri="{FF2B5EF4-FFF2-40B4-BE49-F238E27FC236}">
                <a16:creationId xmlns:a16="http://schemas.microsoft.com/office/drawing/2014/main" id="{7D2E45A2-D21E-C22F-D4D0-34258D96CA9D}"/>
              </a:ext>
            </a:extLst>
          </p:cNvPr>
          <p:cNvSpPr txBox="1"/>
          <p:nvPr/>
        </p:nvSpPr>
        <p:spPr>
          <a:xfrm>
            <a:off x="1186821" y="7295000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rgbClr val="FFFFFF"/>
                </a:solidFill>
                <a:latin typeface="Fira Sans Medium"/>
                <a:sym typeface="Fira Sans Medium"/>
              </a:rPr>
              <a:t>???</a:t>
            </a:r>
            <a:endParaRPr dirty="0"/>
          </a:p>
        </p:txBody>
      </p:sp>
      <p:sp>
        <p:nvSpPr>
          <p:cNvPr id="10" name="Google Shape;265;p18">
            <a:extLst>
              <a:ext uri="{FF2B5EF4-FFF2-40B4-BE49-F238E27FC236}">
                <a16:creationId xmlns:a16="http://schemas.microsoft.com/office/drawing/2014/main" id="{FBF4C4AD-022C-BFA0-2D26-E6A1835FBEEB}"/>
              </a:ext>
            </a:extLst>
          </p:cNvPr>
          <p:cNvSpPr txBox="1"/>
          <p:nvPr/>
        </p:nvSpPr>
        <p:spPr>
          <a:xfrm>
            <a:off x="1129423" y="5517627"/>
            <a:ext cx="4584000" cy="1153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tetrisPyGame.py</a:t>
            </a:r>
            <a:endParaRPr lang="nl-BE" sz="2499" b="0" i="0" u="none" strike="noStrike" cap="none" dirty="0">
              <a:solidFill>
                <a:srgbClr val="FFFFFF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tetrisGen.py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game.py</a:t>
            </a:r>
          </a:p>
        </p:txBody>
      </p:sp>
      <p:sp>
        <p:nvSpPr>
          <p:cNvPr id="11" name="Google Shape;274;p18">
            <a:extLst>
              <a:ext uri="{FF2B5EF4-FFF2-40B4-BE49-F238E27FC236}">
                <a16:creationId xmlns:a16="http://schemas.microsoft.com/office/drawing/2014/main" id="{61358516-72AB-D277-81E2-852968B901D1}"/>
              </a:ext>
            </a:extLst>
          </p:cNvPr>
          <p:cNvSpPr/>
          <p:nvPr/>
        </p:nvSpPr>
        <p:spPr>
          <a:xfrm>
            <a:off x="421269" y="7352868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48AAB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264;p18">
            <a:extLst>
              <a:ext uri="{FF2B5EF4-FFF2-40B4-BE49-F238E27FC236}">
                <a16:creationId xmlns:a16="http://schemas.microsoft.com/office/drawing/2014/main" id="{65D5BF48-78FF-559E-20E8-D64D2B9E90EF}"/>
              </a:ext>
            </a:extLst>
          </p:cNvPr>
          <p:cNvSpPr txBox="1"/>
          <p:nvPr/>
        </p:nvSpPr>
        <p:spPr>
          <a:xfrm>
            <a:off x="1129299" y="4871296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rgbClr val="FFFFFF"/>
                </a:solidFill>
                <a:latin typeface="Fira Sans Medium"/>
                <a:sym typeface="Fira Sans Medium"/>
              </a:rPr>
              <a:t>Main files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9"/>
          <p:cNvSpPr/>
          <p:nvPr/>
        </p:nvSpPr>
        <p:spPr>
          <a:xfrm>
            <a:off x="0" y="0"/>
            <a:ext cx="18280075" cy="4427418"/>
          </a:xfrm>
          <a:custGeom>
            <a:avLst/>
            <a:gdLst/>
            <a:ahLst/>
            <a:cxnLst/>
            <a:rect l="l" t="t" r="r" b="b"/>
            <a:pathLst>
              <a:path w="8971816" h="2172966" extrusionOk="0">
                <a:moveTo>
                  <a:pt x="0" y="0"/>
                </a:moveTo>
                <a:lnTo>
                  <a:pt x="8971816" y="0"/>
                </a:lnTo>
                <a:lnTo>
                  <a:pt x="8971816" y="2172966"/>
                </a:lnTo>
                <a:lnTo>
                  <a:pt x="0" y="2172966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1" name="Google Shape;281;p19"/>
          <p:cNvSpPr txBox="1"/>
          <p:nvPr/>
        </p:nvSpPr>
        <p:spPr>
          <a:xfrm>
            <a:off x="1028700" y="1019175"/>
            <a:ext cx="1135929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Resultaat</a:t>
            </a:r>
            <a:endParaRPr dirty="0"/>
          </a:p>
        </p:txBody>
      </p:sp>
      <p:sp>
        <p:nvSpPr>
          <p:cNvPr id="282" name="Google Shape;282;p19"/>
          <p:cNvSpPr/>
          <p:nvPr/>
        </p:nvSpPr>
        <p:spPr>
          <a:xfrm>
            <a:off x="990600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3" name="Google Shape;283;p19"/>
          <p:cNvSpPr/>
          <p:nvPr/>
        </p:nvSpPr>
        <p:spPr>
          <a:xfrm>
            <a:off x="6570341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4" name="Google Shape;284;p19"/>
          <p:cNvSpPr/>
          <p:nvPr/>
        </p:nvSpPr>
        <p:spPr>
          <a:xfrm>
            <a:off x="12151466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5" name="Google Shape;285;p19"/>
          <p:cNvSpPr/>
          <p:nvPr/>
        </p:nvSpPr>
        <p:spPr>
          <a:xfrm>
            <a:off x="990600" y="6568331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6" name="Google Shape;286;p19"/>
          <p:cNvSpPr/>
          <p:nvPr/>
        </p:nvSpPr>
        <p:spPr>
          <a:xfrm>
            <a:off x="6570341" y="6568331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7" name="Google Shape;287;p19"/>
          <p:cNvSpPr/>
          <p:nvPr/>
        </p:nvSpPr>
        <p:spPr>
          <a:xfrm>
            <a:off x="12151466" y="6568331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grpSp>
        <p:nvGrpSpPr>
          <p:cNvPr id="288" name="Google Shape;288;p19"/>
          <p:cNvGrpSpPr/>
          <p:nvPr/>
        </p:nvGrpSpPr>
        <p:grpSpPr>
          <a:xfrm>
            <a:off x="1273105" y="3938178"/>
            <a:ext cx="4584151" cy="977859"/>
            <a:chOff x="0" y="-9525"/>
            <a:chExt cx="6112200" cy="1303812"/>
          </a:xfrm>
        </p:grpSpPr>
        <p:sp>
          <p:nvSpPr>
            <p:cNvPr id="289" name="Google Shape;289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T</a:t>
              </a:r>
              <a:r>
                <a:rPr lang="en-US" sz="3500" u="none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etrisPyGame</a:t>
              </a:r>
              <a:endParaRPr dirty="0"/>
            </a:p>
          </p:txBody>
        </p:sp>
        <p:sp>
          <p:nvSpPr>
            <p:cNvPr id="290" name="Google Shape;290;p19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Speler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tegen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AI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291" name="Google Shape;291;p19"/>
          <p:cNvGrpSpPr/>
          <p:nvPr/>
        </p:nvGrpSpPr>
        <p:grpSpPr>
          <a:xfrm>
            <a:off x="6852846" y="3938178"/>
            <a:ext cx="4584151" cy="1362452"/>
            <a:chOff x="0" y="-9525"/>
            <a:chExt cx="6112200" cy="1816603"/>
          </a:xfrm>
        </p:grpSpPr>
        <p:sp>
          <p:nvSpPr>
            <p:cNvPr id="292" name="Google Shape;292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 err="1">
                  <a:solidFill>
                    <a:srgbClr val="FFFFFF"/>
                  </a:solidFill>
                  <a:latin typeface="Fira Sans Medium"/>
                  <a:sym typeface="Fira Sans Medium"/>
                </a:rPr>
                <a:t>TetrisGen</a:t>
              </a:r>
              <a:endParaRPr dirty="0"/>
            </a:p>
          </p:txBody>
        </p:sp>
        <p:sp>
          <p:nvSpPr>
            <p:cNvPr id="293" name="Google Shape;293;p19"/>
            <p:cNvSpPr txBox="1"/>
            <p:nvPr/>
          </p:nvSpPr>
          <p:spPr>
            <a:xfrm>
              <a:off x="0" y="781498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Simultaan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lopen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van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meerdere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tetris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velden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294" name="Google Shape;294;p19"/>
          <p:cNvGrpSpPr/>
          <p:nvPr/>
        </p:nvGrpSpPr>
        <p:grpSpPr>
          <a:xfrm>
            <a:off x="12430771" y="3938178"/>
            <a:ext cx="4584151" cy="1747044"/>
            <a:chOff x="0" y="-9525"/>
            <a:chExt cx="6112200" cy="2329393"/>
          </a:xfrm>
        </p:grpSpPr>
        <p:sp>
          <p:nvSpPr>
            <p:cNvPr id="295" name="Google Shape;295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G</a:t>
              </a: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ame</a:t>
              </a:r>
              <a:endParaRPr dirty="0"/>
            </a:p>
          </p:txBody>
        </p:sp>
        <p:sp>
          <p:nvSpPr>
            <p:cNvPr id="296" name="Google Shape;296;p19"/>
            <p:cNvSpPr txBox="1"/>
            <p:nvPr/>
          </p:nvSpPr>
          <p:spPr>
            <a:xfrm>
              <a:off x="0" y="781498"/>
              <a:ext cx="6112200" cy="15383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/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Combinatie van functies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Controle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blokken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AI </a:t>
              </a:r>
              <a:r>
                <a:rPr lang="en-US" sz="2499" dirty="0" err="1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methoden</a:t>
              </a:r>
              <a:endParaRPr dirty="0"/>
            </a:p>
          </p:txBody>
        </p:sp>
      </p:grpSp>
      <p:grpSp>
        <p:nvGrpSpPr>
          <p:cNvPr id="297" name="Google Shape;297;p19"/>
          <p:cNvGrpSpPr/>
          <p:nvPr/>
        </p:nvGrpSpPr>
        <p:grpSpPr>
          <a:xfrm>
            <a:off x="1273105" y="6870730"/>
            <a:ext cx="4584151" cy="1362452"/>
            <a:chOff x="0" y="-9525"/>
            <a:chExt cx="6112200" cy="1816603"/>
          </a:xfrm>
        </p:grpSpPr>
        <p:sp>
          <p:nvSpPr>
            <p:cNvPr id="298" name="Google Shape;298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G</a:t>
              </a: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rid</a:t>
              </a:r>
              <a:endParaRPr dirty="0"/>
            </a:p>
          </p:txBody>
        </p:sp>
        <p:sp>
          <p:nvSpPr>
            <p:cNvPr id="299" name="Google Shape;299;p19"/>
            <p:cNvSpPr txBox="1"/>
            <p:nvPr/>
          </p:nvSpPr>
          <p:spPr>
            <a:xfrm>
              <a:off x="0" y="781498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Functionaliteit speelveld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Parameters voor blokken</a:t>
              </a:r>
              <a:endParaRPr dirty="0"/>
            </a:p>
          </p:txBody>
        </p:sp>
      </p:grpSp>
      <p:grpSp>
        <p:nvGrpSpPr>
          <p:cNvPr id="300" name="Google Shape;300;p19"/>
          <p:cNvGrpSpPr/>
          <p:nvPr/>
        </p:nvGrpSpPr>
        <p:grpSpPr>
          <a:xfrm>
            <a:off x="6852846" y="6870730"/>
            <a:ext cx="4584151" cy="1747044"/>
            <a:chOff x="0" y="-9525"/>
            <a:chExt cx="6112200" cy="2329394"/>
          </a:xfrm>
        </p:grpSpPr>
        <p:sp>
          <p:nvSpPr>
            <p:cNvPr id="301" name="Google Shape;301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>
                  <a:solidFill>
                    <a:srgbClr val="FFFFFF"/>
                  </a:solidFill>
                  <a:latin typeface="Fira Sans Medium"/>
                  <a:sym typeface="Fira Sans Medium"/>
                </a:rPr>
                <a:t>Block</a:t>
              </a:r>
              <a:endParaRPr dirty="0"/>
            </a:p>
          </p:txBody>
        </p:sp>
        <p:sp>
          <p:nvSpPr>
            <p:cNvPr id="302" name="Google Shape;302;p19"/>
            <p:cNvSpPr txBox="1"/>
            <p:nvPr/>
          </p:nvSpPr>
          <p:spPr>
            <a:xfrm>
              <a:off x="0" y="781498"/>
              <a:ext cx="6112200" cy="15383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Toepassing</a:t>
              </a:r>
              <a:r>
                <a:rPr lang="en-US" sz="2499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van 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Beweging</a:t>
              </a:r>
              <a:endParaRPr lang="en-US" sz="24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Rotatie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03" name="Google Shape;303;p19"/>
          <p:cNvGrpSpPr/>
          <p:nvPr/>
        </p:nvGrpSpPr>
        <p:grpSpPr>
          <a:xfrm>
            <a:off x="12430771" y="6870730"/>
            <a:ext cx="4584151" cy="1362452"/>
            <a:chOff x="0" y="-9525"/>
            <a:chExt cx="6112200" cy="1816603"/>
          </a:xfrm>
        </p:grpSpPr>
        <p:sp>
          <p:nvSpPr>
            <p:cNvPr id="304" name="Google Shape;304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Blocks</a:t>
              </a:r>
              <a:endParaRPr dirty="0"/>
            </a:p>
          </p:txBody>
        </p:sp>
        <p:sp>
          <p:nvSpPr>
            <p:cNvPr id="305" name="Google Shape;305;p19"/>
            <p:cNvSpPr txBox="1"/>
            <p:nvPr/>
          </p:nvSpPr>
          <p:spPr>
            <a:xfrm>
              <a:off x="0" y="781498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Declaratie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blokken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Vorm</a:t>
              </a:r>
            </a:p>
          </p:txBody>
        </p:sp>
      </p:grpSp>
      <p:pic>
        <p:nvPicPr>
          <p:cNvPr id="5" name="Picture 4" descr="A group of colorful blocks&#10;&#10;Description automatically generated">
            <a:extLst>
              <a:ext uri="{FF2B5EF4-FFF2-40B4-BE49-F238E27FC236}">
                <a16:creationId xmlns:a16="http://schemas.microsoft.com/office/drawing/2014/main" id="{90ADA66C-12C5-A779-146E-8651309C41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474" b="92632" l="4762" r="91837">
                        <a14:foregroundMark x1="8163" y1="12632" x2="21769" y2="10526"/>
                        <a14:foregroundMark x1="21769" y1="10526" x2="48299" y2="12632"/>
                        <a14:foregroundMark x1="48299" y1="12632" x2="36735" y2="23158"/>
                        <a14:foregroundMark x1="36735" y1="23158" x2="8163" y2="20000"/>
                        <a14:foregroundMark x1="8163" y1="20000" x2="7483" y2="15789"/>
                        <a14:foregroundMark x1="30612" y1="25263" x2="30612" y2="25263"/>
                        <a14:foregroundMark x1="25850" y1="25263" x2="25850" y2="25263"/>
                        <a14:foregroundMark x1="36735" y1="23158" x2="45578" y2="24211"/>
                        <a14:foregroundMark x1="45578" y1="23158" x2="48299" y2="24211"/>
                        <a14:foregroundMark x1="47619" y1="23158" x2="48299" y2="10526"/>
                        <a14:foregroundMark x1="47619" y1="16842" x2="48299" y2="20000"/>
                        <a14:foregroundMark x1="34694" y1="23158" x2="10884" y2="23158"/>
                        <a14:foregroundMark x1="10884" y1="23158" x2="6803" y2="12632"/>
                        <a14:foregroundMark x1="6122" y1="23158" x2="6122" y2="23158"/>
                        <a14:foregroundMark x1="6803" y1="12632" x2="6122" y2="17895"/>
                        <a14:foregroundMark x1="7483" y1="11579" x2="6803" y2="13684"/>
                        <a14:foregroundMark x1="13605" y1="23158" x2="17007" y2="25263"/>
                        <a14:foregroundMark x1="38095" y1="23158" x2="41497" y2="25263"/>
                        <a14:foregroundMark x1="73469" y1="15789" x2="78231" y2="26316"/>
                        <a14:foregroundMark x1="76871" y1="17895" x2="80952" y2="28421"/>
                        <a14:foregroundMark x1="76190" y1="9474" x2="79592" y2="9474"/>
                        <a14:foregroundMark x1="91156" y1="12632" x2="91837" y2="16842"/>
                        <a14:foregroundMark x1="90476" y1="25263" x2="91837" y2="29474"/>
                        <a14:foregroundMark x1="72789" y1="41053" x2="76190" y2="42105"/>
                        <a14:foregroundMark x1="80272" y1="41053" x2="86395" y2="41053"/>
                        <a14:foregroundMark x1="89116" y1="40000" x2="91156" y2="38947"/>
                        <a14:foregroundMark x1="91156" y1="34737" x2="91837" y2="32632"/>
                        <a14:foregroundMark x1="64626" y1="65263" x2="75510" y2="61053"/>
                        <a14:foregroundMark x1="75510" y1="61053" x2="86395" y2="62105"/>
                        <a14:foregroundMark x1="86395" y1="62105" x2="80272" y2="75789"/>
                        <a14:foregroundMark x1="80272" y1="75789" x2="78231" y2="92632"/>
                        <a14:foregroundMark x1="78231" y1="92632" x2="70748" y2="76842"/>
                        <a14:foregroundMark x1="70748" y1="76842" x2="60544" y2="72632"/>
                        <a14:foregroundMark x1="60544" y1="72632" x2="60544" y2="72632"/>
                        <a14:foregroundMark x1="61905" y1="75789" x2="61905" y2="75789"/>
                        <a14:foregroundMark x1="59184" y1="67368" x2="59184" y2="67368"/>
                        <a14:foregroundMark x1="59184" y1="69474" x2="59184" y2="69474"/>
                        <a14:foregroundMark x1="59864" y1="74737" x2="59864" y2="74737"/>
                        <a14:foregroundMark x1="81633" y1="75789" x2="81633" y2="75789"/>
                        <a14:foregroundMark x1="85714" y1="75789" x2="85714" y2="75789"/>
                        <a14:foregroundMark x1="88435" y1="75789" x2="88435" y2="75789"/>
                        <a14:foregroundMark x1="90476" y1="75789" x2="90476" y2="75789"/>
                        <a14:foregroundMark x1="91156" y1="72632" x2="91156" y2="72632"/>
                        <a14:foregroundMark x1="90476" y1="67368" x2="90476" y2="67368"/>
                        <a14:foregroundMark x1="90476" y1="65263" x2="90476" y2="65263"/>
                        <a14:foregroundMark x1="90476" y1="65263" x2="90476" y2="65263"/>
                        <a14:foregroundMark x1="91156" y1="65263" x2="91156" y2="65263"/>
                        <a14:foregroundMark x1="91156" y1="67368" x2="91156" y2="67368"/>
                        <a14:foregroundMark x1="91156" y1="68421" x2="91156" y2="68421"/>
                        <a14:foregroundMark x1="79592" y1="91579" x2="79592" y2="91579"/>
                        <a14:foregroundMark x1="70748" y1="76842" x2="70748" y2="76842"/>
                        <a14:foregroundMark x1="73469" y1="92632" x2="73469" y2="92632"/>
                        <a14:foregroundMark x1="76190" y1="92632" x2="76190" y2="92632"/>
                        <a14:foregroundMark x1="80952" y1="90526" x2="80952" y2="90526"/>
                        <a14:foregroundMark x1="80272" y1="84211" x2="80272" y2="84211"/>
                        <a14:foregroundMark x1="80952" y1="89474" x2="80952" y2="89474"/>
                        <a14:foregroundMark x1="80952" y1="90526" x2="80952" y2="90526"/>
                        <a14:foregroundMark x1="80952" y1="91579" x2="80952" y2="91579"/>
                        <a14:foregroundMark x1="80272" y1="91579" x2="80272" y2="91579"/>
                        <a14:foregroundMark x1="70748" y1="92632" x2="70748" y2="92632"/>
                        <a14:foregroundMark x1="59864" y1="68421" x2="59864" y2="68421"/>
                        <a14:foregroundMark x1="59864" y1="70526" x2="59864" y2="70526"/>
                        <a14:foregroundMark x1="59864" y1="71579" x2="59864" y2="71579"/>
                        <a14:foregroundMark x1="53061" y1="69474" x2="53061" y2="69474"/>
                        <a14:foregroundMark x1="53741" y1="69474" x2="53741" y2="69474"/>
                        <a14:foregroundMark x1="53741" y1="69474" x2="53741" y2="69474"/>
                        <a14:foregroundMark x1="53061" y1="67368" x2="53061" y2="67368"/>
                        <a14:foregroundMark x1="53061" y1="65263" x2="53061" y2="65263"/>
                        <a14:foregroundMark x1="53061" y1="65263" x2="53061" y2="65263"/>
                        <a14:foregroundMark x1="53061" y1="65263" x2="53061" y2="65263"/>
                        <a14:foregroundMark x1="53061" y1="65263" x2="53061" y2="65263"/>
                        <a14:foregroundMark x1="53061" y1="64211" x2="53061" y2="64211"/>
                        <a14:foregroundMark x1="60544" y1="69474" x2="60544" y2="69474"/>
                        <a14:foregroundMark x1="60544" y1="68421" x2="60544" y2="68421"/>
                        <a14:foregroundMark x1="59864" y1="68421" x2="59864" y2="68421"/>
                        <a14:foregroundMark x1="59184" y1="68421" x2="59184" y2="68421"/>
                        <a14:foregroundMark x1="59184" y1="68421" x2="59184" y2="68421"/>
                        <a14:foregroundMark x1="59184" y1="68421" x2="59184" y2="68421"/>
                        <a14:foregroundMark x1="59184" y1="69474" x2="59184" y2="69474"/>
                        <a14:foregroundMark x1="44218" y1="84211" x2="44218" y2="84211"/>
                        <a14:foregroundMark x1="44218" y1="86316" x2="43537" y2="87368"/>
                        <a14:foregroundMark x1="44218" y1="81053" x2="44898" y2="77895"/>
                        <a14:foregroundMark x1="44898" y1="77895" x2="49660" y2="92632"/>
                        <a14:foregroundMark x1="49660" y1="92632" x2="53061" y2="78947"/>
                        <a14:foregroundMark x1="53061" y1="76842" x2="53061" y2="87368"/>
                        <a14:foregroundMark x1="53061" y1="76842" x2="53741" y2="84211"/>
                        <a14:foregroundMark x1="52381" y1="84211" x2="53741" y2="89474"/>
                        <a14:foregroundMark x1="52381" y1="90526" x2="46939" y2="92632"/>
                        <a14:foregroundMark x1="44218" y1="91579" x2="44218" y2="91579"/>
                        <a14:foregroundMark x1="52381" y1="68421" x2="53741" y2="64211"/>
                        <a14:foregroundMark x1="53741" y1="64211" x2="53061" y2="80000"/>
                        <a14:foregroundMark x1="40136" y1="73684" x2="38776" y2="75789"/>
                        <a14:foregroundMark x1="37415" y1="75789" x2="35374" y2="75789"/>
                        <a14:foregroundMark x1="41497" y1="56842" x2="42857" y2="52632"/>
                        <a14:foregroundMark x1="12245" y1="50526" x2="12925" y2="78947"/>
                        <a14:foregroundMark x1="12925" y1="78947" x2="21769" y2="88421"/>
                        <a14:foregroundMark x1="6122" y1="57895" x2="6803" y2="64211"/>
                        <a14:foregroundMark x1="6803" y1="63158" x2="6803" y2="73684"/>
                        <a14:foregroundMark x1="6122" y1="69474" x2="6803" y2="76842"/>
                        <a14:foregroundMark x1="6803" y1="82105" x2="6803" y2="90526"/>
                        <a14:foregroundMark x1="6803" y1="83158" x2="6122" y2="87368"/>
                        <a14:foregroundMark x1="17687" y1="75789" x2="23810" y2="78947"/>
                        <a14:foregroundMark x1="23129" y1="77895" x2="26531" y2="78947"/>
                        <a14:foregroundMark x1="26531" y1="81053" x2="26531" y2="88421"/>
                        <a14:foregroundMark x1="26531" y1="89474" x2="9524" y2="91579"/>
                        <a14:foregroundMark x1="7483" y1="90526" x2="10204" y2="90526"/>
                        <a14:foregroundMark x1="14966" y1="54737" x2="16327" y2="65263"/>
                        <a14:foregroundMark x1="15646" y1="50526" x2="15646" y2="50526"/>
                        <a14:foregroundMark x1="16327" y1="52632" x2="16327" y2="5263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736918" y="8233182"/>
            <a:ext cx="1474913" cy="9532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9"/>
          <p:cNvSpPr/>
          <p:nvPr/>
        </p:nvSpPr>
        <p:spPr>
          <a:xfrm>
            <a:off x="0" y="0"/>
            <a:ext cx="18280075" cy="4427418"/>
          </a:xfrm>
          <a:custGeom>
            <a:avLst/>
            <a:gdLst/>
            <a:ahLst/>
            <a:cxnLst/>
            <a:rect l="l" t="t" r="r" b="b"/>
            <a:pathLst>
              <a:path w="8971816" h="2172966" extrusionOk="0">
                <a:moveTo>
                  <a:pt x="0" y="0"/>
                </a:moveTo>
                <a:lnTo>
                  <a:pt x="8971816" y="0"/>
                </a:lnTo>
                <a:lnTo>
                  <a:pt x="8971816" y="2172966"/>
                </a:lnTo>
                <a:lnTo>
                  <a:pt x="0" y="2172966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1" name="Google Shape;281;p19"/>
          <p:cNvSpPr txBox="1"/>
          <p:nvPr/>
        </p:nvSpPr>
        <p:spPr>
          <a:xfrm>
            <a:off x="1028700" y="1019175"/>
            <a:ext cx="1135929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Resultaat</a:t>
            </a:r>
            <a:endParaRPr dirty="0"/>
          </a:p>
        </p:txBody>
      </p:sp>
      <p:sp>
        <p:nvSpPr>
          <p:cNvPr id="282" name="Google Shape;282;p19"/>
          <p:cNvSpPr/>
          <p:nvPr/>
        </p:nvSpPr>
        <p:spPr>
          <a:xfrm>
            <a:off x="990600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3" name="Google Shape;283;p19"/>
          <p:cNvSpPr/>
          <p:nvPr/>
        </p:nvSpPr>
        <p:spPr>
          <a:xfrm>
            <a:off x="6570341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4" name="Google Shape;284;p19"/>
          <p:cNvSpPr/>
          <p:nvPr/>
        </p:nvSpPr>
        <p:spPr>
          <a:xfrm>
            <a:off x="12151466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5" name="Google Shape;285;p19"/>
          <p:cNvSpPr/>
          <p:nvPr/>
        </p:nvSpPr>
        <p:spPr>
          <a:xfrm>
            <a:off x="3565153" y="659419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 dirty="0"/>
          </a:p>
        </p:txBody>
      </p:sp>
      <p:sp>
        <p:nvSpPr>
          <p:cNvPr id="286" name="Google Shape;286;p19"/>
          <p:cNvSpPr/>
          <p:nvPr/>
        </p:nvSpPr>
        <p:spPr>
          <a:xfrm>
            <a:off x="9522828" y="659419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grpSp>
        <p:nvGrpSpPr>
          <p:cNvPr id="288" name="Google Shape;288;p19"/>
          <p:cNvGrpSpPr/>
          <p:nvPr/>
        </p:nvGrpSpPr>
        <p:grpSpPr>
          <a:xfrm>
            <a:off x="1273105" y="3938178"/>
            <a:ext cx="4584151" cy="1362452"/>
            <a:chOff x="0" y="-9525"/>
            <a:chExt cx="6112200" cy="1816603"/>
          </a:xfrm>
        </p:grpSpPr>
        <p:sp>
          <p:nvSpPr>
            <p:cNvPr id="289" name="Google Shape;289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Colors</a:t>
              </a:r>
              <a:endParaRPr dirty="0"/>
            </a:p>
          </p:txBody>
        </p:sp>
        <p:sp>
          <p:nvSpPr>
            <p:cNvPr id="290" name="Google Shape;290;p19"/>
            <p:cNvSpPr txBox="1"/>
            <p:nvPr/>
          </p:nvSpPr>
          <p:spPr>
            <a:xfrm>
              <a:off x="0" y="781498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Blokken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Interface</a:t>
              </a:r>
              <a:endParaRPr dirty="0"/>
            </a:p>
          </p:txBody>
        </p:sp>
      </p:grpSp>
      <p:grpSp>
        <p:nvGrpSpPr>
          <p:cNvPr id="291" name="Google Shape;291;p19"/>
          <p:cNvGrpSpPr/>
          <p:nvPr/>
        </p:nvGrpSpPr>
        <p:grpSpPr>
          <a:xfrm>
            <a:off x="6852846" y="3938178"/>
            <a:ext cx="4584151" cy="977859"/>
            <a:chOff x="0" y="-9525"/>
            <a:chExt cx="6112200" cy="1303812"/>
          </a:xfrm>
        </p:grpSpPr>
        <p:sp>
          <p:nvSpPr>
            <p:cNvPr id="292" name="Google Shape;292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Positions</a:t>
              </a:r>
              <a:endParaRPr dirty="0"/>
            </a:p>
          </p:txBody>
        </p:sp>
        <p:sp>
          <p:nvSpPr>
            <p:cNvPr id="293" name="Google Shape;293;p19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Rijen en kolommen</a:t>
              </a:r>
              <a:endParaRPr dirty="0"/>
            </a:p>
          </p:txBody>
        </p:sp>
      </p:grpSp>
      <p:grpSp>
        <p:nvGrpSpPr>
          <p:cNvPr id="294" name="Google Shape;294;p19"/>
          <p:cNvGrpSpPr/>
          <p:nvPr/>
        </p:nvGrpSpPr>
        <p:grpSpPr>
          <a:xfrm>
            <a:off x="12430771" y="3938178"/>
            <a:ext cx="4584151" cy="1747044"/>
            <a:chOff x="0" y="-9525"/>
            <a:chExt cx="6112200" cy="2329393"/>
          </a:xfrm>
        </p:grpSpPr>
        <p:sp>
          <p:nvSpPr>
            <p:cNvPr id="295" name="Google Shape;295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T</a:t>
              </a:r>
              <a:r>
                <a:rPr lang="en-US" sz="3500" u="none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etrisai</a:t>
              </a:r>
              <a:endParaRPr dirty="0"/>
            </a:p>
          </p:txBody>
        </p:sp>
        <p:sp>
          <p:nvSpPr>
            <p:cNvPr id="296" name="Google Shape;296;p19"/>
            <p:cNvSpPr txBox="1"/>
            <p:nvPr/>
          </p:nvSpPr>
          <p:spPr>
            <a:xfrm>
              <a:off x="0" y="781498"/>
              <a:ext cx="6112200" cy="15383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Functies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AI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algortime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Score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berekening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Uitvoering</a:t>
              </a:r>
              <a:r>
                <a:rPr lang="en-US" sz="2499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best move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297" name="Google Shape;297;p19"/>
          <p:cNvGrpSpPr/>
          <p:nvPr/>
        </p:nvGrpSpPr>
        <p:grpSpPr>
          <a:xfrm>
            <a:off x="3901714" y="6841497"/>
            <a:ext cx="4584151" cy="977859"/>
            <a:chOff x="0" y="-9525"/>
            <a:chExt cx="6112200" cy="1303813"/>
          </a:xfrm>
        </p:grpSpPr>
        <p:sp>
          <p:nvSpPr>
            <p:cNvPr id="298" name="Google Shape;298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G</a:t>
              </a: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enetic</a:t>
              </a:r>
              <a:endParaRPr dirty="0"/>
            </a:p>
          </p:txBody>
        </p:sp>
        <p:sp>
          <p:nvSpPr>
            <p:cNvPr id="299" name="Google Shape;299;p19"/>
            <p:cNvSpPr txBox="1"/>
            <p:nvPr/>
          </p:nvSpPr>
          <p:spPr>
            <a:xfrm>
              <a:off x="0" y="781498"/>
              <a:ext cx="6112200" cy="5127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Mutatie</a:t>
              </a:r>
              <a:r>
                <a:rPr lang="en-GB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van </a:t>
              </a:r>
              <a:r>
                <a:rPr lang="en-GB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vermenigvuldigers</a:t>
              </a:r>
              <a:endParaRPr lang="en-GB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00" name="Google Shape;300;p19"/>
          <p:cNvGrpSpPr/>
          <p:nvPr/>
        </p:nvGrpSpPr>
        <p:grpSpPr>
          <a:xfrm>
            <a:off x="9859389" y="6870730"/>
            <a:ext cx="4584151" cy="977859"/>
            <a:chOff x="0" y="-9525"/>
            <a:chExt cx="6112200" cy="1303812"/>
          </a:xfrm>
        </p:grpSpPr>
        <p:sp>
          <p:nvSpPr>
            <p:cNvPr id="301" name="Google Shape;301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u="none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AnalyseData</a:t>
              </a:r>
              <a:endParaRPr dirty="0"/>
            </a:p>
          </p:txBody>
        </p:sp>
        <p:sp>
          <p:nvSpPr>
            <p:cNvPr id="302" name="Google Shape;302;p19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Opslaan en sorteren van data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3765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B8BE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" name="Google Shape;235;p17"/>
          <p:cNvGrpSpPr/>
          <p:nvPr/>
        </p:nvGrpSpPr>
        <p:grpSpPr>
          <a:xfrm>
            <a:off x="15784644" y="5079352"/>
            <a:ext cx="1437444" cy="1769162"/>
            <a:chOff x="0" y="0"/>
            <a:chExt cx="660400" cy="812800"/>
          </a:xfrm>
        </p:grpSpPr>
        <p:sp>
          <p:nvSpPr>
            <p:cNvPr id="236" name="Google Shape;236;p17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7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8" name="Google Shape;238;p17"/>
          <p:cNvGrpSpPr/>
          <p:nvPr/>
        </p:nvGrpSpPr>
        <p:grpSpPr>
          <a:xfrm>
            <a:off x="15784644" y="7087302"/>
            <a:ext cx="1437444" cy="1716258"/>
            <a:chOff x="0" y="-66675"/>
            <a:chExt cx="736600" cy="879475"/>
          </a:xfrm>
        </p:grpSpPr>
        <p:sp>
          <p:nvSpPr>
            <p:cNvPr id="239" name="Google Shape;239;p17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40" name="Google Shape;240;p17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1" name="Google Shape;241;p17"/>
          <p:cNvSpPr txBox="1"/>
          <p:nvPr/>
        </p:nvSpPr>
        <p:spPr>
          <a:xfrm>
            <a:off x="1028700" y="3236563"/>
            <a:ext cx="59853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dirty="0" err="1">
                <a:solidFill>
                  <a:srgbClr val="FFFFFF"/>
                </a:solidFill>
                <a:latin typeface="Fira Sans"/>
                <a:sym typeface="Fira Sans"/>
              </a:rPr>
              <a:t>Resultaat</a:t>
            </a:r>
            <a:endParaRPr dirty="0"/>
          </a:p>
        </p:txBody>
      </p:sp>
      <p:sp>
        <p:nvSpPr>
          <p:cNvPr id="242" name="Google Shape;242;p17"/>
          <p:cNvSpPr txBox="1"/>
          <p:nvPr/>
        </p:nvSpPr>
        <p:spPr>
          <a:xfrm>
            <a:off x="599812" y="4390725"/>
            <a:ext cx="4641889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Toepassen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van </a:t>
            </a:r>
            <a:r>
              <a:rPr lang="en-US" sz="3500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h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euristiek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parameters</a:t>
            </a:r>
            <a:endParaRPr dirty="0"/>
          </a:p>
        </p:txBody>
      </p:sp>
      <p:grpSp>
        <p:nvGrpSpPr>
          <p:cNvPr id="243" name="Google Shape;243;p17"/>
          <p:cNvGrpSpPr/>
          <p:nvPr/>
        </p:nvGrpSpPr>
        <p:grpSpPr>
          <a:xfrm>
            <a:off x="15628173" y="2890934"/>
            <a:ext cx="1750403" cy="1758249"/>
            <a:chOff x="1813" y="0"/>
            <a:chExt cx="809173" cy="812800"/>
          </a:xfrm>
        </p:grpSpPr>
        <p:sp>
          <p:nvSpPr>
            <p:cNvPr id="244" name="Google Shape;244;p17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A16A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17"/>
            <p:cNvSpPr txBox="1"/>
            <p:nvPr/>
          </p:nvSpPr>
          <p:spPr>
            <a:xfrm>
              <a:off x="76200" y="9525"/>
              <a:ext cx="660300" cy="72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4653A18-E957-18B9-3842-A6920E453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177" y="1867438"/>
            <a:ext cx="8064601" cy="3600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EC538A-5701-BA3B-9E63-FF305DD50E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11" y="6662852"/>
            <a:ext cx="4152323" cy="2210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BE7243-C99B-5347-D5BD-93A377D70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6199" y="6662852"/>
            <a:ext cx="4163004" cy="2210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98636-D629-5B65-E7C2-C76960C1C7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3268" y="6662852"/>
            <a:ext cx="3737510" cy="2210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635094" h="357240" extrusionOk="0">
                <a:moveTo>
                  <a:pt x="0" y="0"/>
                </a:moveTo>
                <a:lnTo>
                  <a:pt x="635094" y="0"/>
                </a:lnTo>
                <a:lnTo>
                  <a:pt x="635094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07" name="Google Shape;507;p26"/>
          <p:cNvSpPr/>
          <p:nvPr/>
        </p:nvSpPr>
        <p:spPr>
          <a:xfrm>
            <a:off x="0" y="514350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635094" h="357240" extrusionOk="0">
                <a:moveTo>
                  <a:pt x="0" y="0"/>
                </a:moveTo>
                <a:lnTo>
                  <a:pt x="635094" y="0"/>
                </a:lnTo>
                <a:lnTo>
                  <a:pt x="635094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08" name="Google Shape;508;p26"/>
          <p:cNvSpPr/>
          <p:nvPr/>
        </p:nvSpPr>
        <p:spPr>
          <a:xfrm>
            <a:off x="9144000" y="0"/>
            <a:ext cx="9186382" cy="5143500"/>
          </a:xfrm>
          <a:custGeom>
            <a:avLst/>
            <a:gdLst/>
            <a:ahLst/>
            <a:cxnLst/>
            <a:rect l="l" t="t" r="r" b="b"/>
            <a:pathLst>
              <a:path w="638037" h="357240" extrusionOk="0">
                <a:moveTo>
                  <a:pt x="0" y="0"/>
                </a:moveTo>
                <a:lnTo>
                  <a:pt x="638037" y="0"/>
                </a:lnTo>
                <a:lnTo>
                  <a:pt x="638037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09" name="Google Shape;509;p26"/>
          <p:cNvSpPr/>
          <p:nvPr/>
        </p:nvSpPr>
        <p:spPr>
          <a:xfrm>
            <a:off x="9144000" y="514350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635094" h="357240" extrusionOk="0">
                <a:moveTo>
                  <a:pt x="0" y="0"/>
                </a:moveTo>
                <a:lnTo>
                  <a:pt x="635094" y="0"/>
                </a:lnTo>
                <a:lnTo>
                  <a:pt x="635094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10" name="Google Shape;510;p26"/>
          <p:cNvSpPr txBox="1"/>
          <p:nvPr/>
        </p:nvSpPr>
        <p:spPr>
          <a:xfrm>
            <a:off x="2950397" y="3306187"/>
            <a:ext cx="4120135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Aggregate Height</a:t>
            </a:r>
            <a:endParaRPr dirty="0"/>
          </a:p>
        </p:txBody>
      </p:sp>
      <p:sp>
        <p:nvSpPr>
          <p:cNvPr id="511" name="Google Shape;511;p26"/>
          <p:cNvSpPr txBox="1"/>
          <p:nvPr/>
        </p:nvSpPr>
        <p:spPr>
          <a:xfrm>
            <a:off x="2950400" y="3951425"/>
            <a:ext cx="52056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FFFFF"/>
                </a:solidFill>
                <a:latin typeface="Assistant"/>
                <a:cs typeface="Assistant"/>
              </a:rPr>
              <a:t>sum of the height of each column</a:t>
            </a:r>
            <a:endParaRPr sz="1800" dirty="0">
              <a:solidFill>
                <a:srgbClr val="FFFFFF"/>
              </a:solidFill>
              <a:latin typeface="Assistant"/>
              <a:cs typeface="Assistant"/>
            </a:endParaRPr>
          </a:p>
        </p:txBody>
      </p:sp>
      <p:sp>
        <p:nvSpPr>
          <p:cNvPr id="512" name="Google Shape;512;p26"/>
          <p:cNvSpPr/>
          <p:nvPr/>
        </p:nvSpPr>
        <p:spPr>
          <a:xfrm>
            <a:off x="2950398" y="3183034"/>
            <a:ext cx="5205619" cy="57816"/>
          </a:xfrm>
          <a:custGeom>
            <a:avLst/>
            <a:gdLst/>
            <a:ahLst/>
            <a:cxnLst/>
            <a:rect l="l" t="t" r="r" b="b"/>
            <a:pathLst>
              <a:path w="1129356" h="12543" extrusionOk="0">
                <a:moveTo>
                  <a:pt x="0" y="0"/>
                </a:moveTo>
                <a:lnTo>
                  <a:pt x="1129356" y="0"/>
                </a:lnTo>
                <a:lnTo>
                  <a:pt x="1129356" y="12543"/>
                </a:lnTo>
                <a:lnTo>
                  <a:pt x="0" y="125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13" name="Google Shape;513;p26"/>
          <p:cNvSpPr txBox="1"/>
          <p:nvPr/>
        </p:nvSpPr>
        <p:spPr>
          <a:xfrm>
            <a:off x="2950398" y="1291091"/>
            <a:ext cx="661997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A</a:t>
            </a:r>
            <a:endParaRPr dirty="0"/>
          </a:p>
        </p:txBody>
      </p:sp>
      <p:sp>
        <p:nvSpPr>
          <p:cNvPr id="514" name="Google Shape;514;p26"/>
          <p:cNvSpPr txBox="1"/>
          <p:nvPr/>
        </p:nvSpPr>
        <p:spPr>
          <a:xfrm>
            <a:off x="2950398" y="7569358"/>
            <a:ext cx="3807958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Complete Lines</a:t>
            </a:r>
            <a:endParaRPr dirty="0"/>
          </a:p>
        </p:txBody>
      </p:sp>
      <p:sp>
        <p:nvSpPr>
          <p:cNvPr id="515" name="Google Shape;515;p26"/>
          <p:cNvSpPr txBox="1"/>
          <p:nvPr/>
        </p:nvSpPr>
        <p:spPr>
          <a:xfrm>
            <a:off x="2950397" y="8259272"/>
            <a:ext cx="4797000" cy="2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Number of complete lines</a:t>
            </a:r>
            <a:endParaRPr dirty="0"/>
          </a:p>
        </p:txBody>
      </p:sp>
      <p:sp>
        <p:nvSpPr>
          <p:cNvPr id="516" name="Google Shape;516;p26"/>
          <p:cNvSpPr/>
          <p:nvPr/>
        </p:nvSpPr>
        <p:spPr>
          <a:xfrm>
            <a:off x="2950398" y="7446204"/>
            <a:ext cx="5205619" cy="57816"/>
          </a:xfrm>
          <a:custGeom>
            <a:avLst/>
            <a:gdLst/>
            <a:ahLst/>
            <a:cxnLst/>
            <a:rect l="l" t="t" r="r" b="b"/>
            <a:pathLst>
              <a:path w="1129356" h="12543" extrusionOk="0">
                <a:moveTo>
                  <a:pt x="0" y="0"/>
                </a:moveTo>
                <a:lnTo>
                  <a:pt x="1129356" y="0"/>
                </a:lnTo>
                <a:lnTo>
                  <a:pt x="1129356" y="12543"/>
                </a:lnTo>
                <a:lnTo>
                  <a:pt x="0" y="125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17" name="Google Shape;517;p26"/>
          <p:cNvSpPr txBox="1"/>
          <p:nvPr/>
        </p:nvSpPr>
        <p:spPr>
          <a:xfrm>
            <a:off x="2950398" y="5554262"/>
            <a:ext cx="661997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C</a:t>
            </a:r>
            <a:endParaRPr dirty="0"/>
          </a:p>
        </p:txBody>
      </p:sp>
      <p:sp>
        <p:nvSpPr>
          <p:cNvPr id="518" name="Google Shape;518;p26"/>
          <p:cNvSpPr txBox="1"/>
          <p:nvPr/>
        </p:nvSpPr>
        <p:spPr>
          <a:xfrm>
            <a:off x="9610837" y="3306187"/>
            <a:ext cx="3202301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Holes</a:t>
            </a:r>
            <a:endParaRPr dirty="0"/>
          </a:p>
        </p:txBody>
      </p:sp>
      <p:sp>
        <p:nvSpPr>
          <p:cNvPr id="519" name="Google Shape;519;p26"/>
          <p:cNvSpPr txBox="1"/>
          <p:nvPr/>
        </p:nvSpPr>
        <p:spPr>
          <a:xfrm>
            <a:off x="9617231" y="4019929"/>
            <a:ext cx="4008600" cy="553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Empty spaces</a:t>
            </a:r>
            <a:endParaRPr lang="en-GB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99" dirty="0">
              <a:solidFill>
                <a:srgbClr val="FFFFFF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520" name="Google Shape;520;p26"/>
          <p:cNvSpPr/>
          <p:nvPr/>
        </p:nvSpPr>
        <p:spPr>
          <a:xfrm>
            <a:off x="9610837" y="3183034"/>
            <a:ext cx="5205619" cy="57816"/>
          </a:xfrm>
          <a:custGeom>
            <a:avLst/>
            <a:gdLst/>
            <a:ahLst/>
            <a:cxnLst/>
            <a:rect l="l" t="t" r="r" b="b"/>
            <a:pathLst>
              <a:path w="1129356" h="12543" extrusionOk="0">
                <a:moveTo>
                  <a:pt x="0" y="0"/>
                </a:moveTo>
                <a:lnTo>
                  <a:pt x="1129356" y="0"/>
                </a:lnTo>
                <a:lnTo>
                  <a:pt x="1129356" y="12543"/>
                </a:lnTo>
                <a:lnTo>
                  <a:pt x="0" y="125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21" name="Google Shape;521;p26"/>
          <p:cNvSpPr txBox="1"/>
          <p:nvPr/>
        </p:nvSpPr>
        <p:spPr>
          <a:xfrm>
            <a:off x="9610837" y="1291091"/>
            <a:ext cx="661997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H</a:t>
            </a:r>
            <a:endParaRPr lang="en-US" dirty="0"/>
          </a:p>
        </p:txBody>
      </p:sp>
      <p:sp>
        <p:nvSpPr>
          <p:cNvPr id="522" name="Google Shape;522;p26"/>
          <p:cNvSpPr txBox="1"/>
          <p:nvPr/>
        </p:nvSpPr>
        <p:spPr>
          <a:xfrm>
            <a:off x="9610837" y="7578883"/>
            <a:ext cx="3019125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Bumpiness</a:t>
            </a:r>
            <a:endParaRPr dirty="0"/>
          </a:p>
        </p:txBody>
      </p:sp>
      <p:sp>
        <p:nvSpPr>
          <p:cNvPr id="523" name="Google Shape;523;p26"/>
          <p:cNvSpPr txBox="1"/>
          <p:nvPr/>
        </p:nvSpPr>
        <p:spPr>
          <a:xfrm>
            <a:off x="9610837" y="8256549"/>
            <a:ext cx="4062300" cy="2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Variation of the column heights</a:t>
            </a:r>
            <a:endParaRPr dirty="0"/>
          </a:p>
        </p:txBody>
      </p:sp>
      <p:sp>
        <p:nvSpPr>
          <p:cNvPr id="524" name="Google Shape;524;p26"/>
          <p:cNvSpPr/>
          <p:nvPr/>
        </p:nvSpPr>
        <p:spPr>
          <a:xfrm>
            <a:off x="9610837" y="7446204"/>
            <a:ext cx="5205619" cy="57816"/>
          </a:xfrm>
          <a:custGeom>
            <a:avLst/>
            <a:gdLst/>
            <a:ahLst/>
            <a:cxnLst/>
            <a:rect l="l" t="t" r="r" b="b"/>
            <a:pathLst>
              <a:path w="1129356" h="12543" extrusionOk="0">
                <a:moveTo>
                  <a:pt x="0" y="0"/>
                </a:moveTo>
                <a:lnTo>
                  <a:pt x="1129356" y="0"/>
                </a:lnTo>
                <a:lnTo>
                  <a:pt x="1129356" y="12543"/>
                </a:lnTo>
                <a:lnTo>
                  <a:pt x="0" y="125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25" name="Google Shape;525;p26"/>
          <p:cNvSpPr txBox="1"/>
          <p:nvPr/>
        </p:nvSpPr>
        <p:spPr>
          <a:xfrm>
            <a:off x="9610837" y="5554262"/>
            <a:ext cx="661997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B</a:t>
            </a:r>
            <a:endParaRPr dirty="0"/>
          </a:p>
        </p:txBody>
      </p:sp>
      <p:pic>
        <p:nvPicPr>
          <p:cNvPr id="5126" name="Picture 6" descr="An unideal grid">
            <a:extLst>
              <a:ext uri="{FF2B5EF4-FFF2-40B4-BE49-F238E27FC236}">
                <a16:creationId xmlns:a16="http://schemas.microsoft.com/office/drawing/2014/main" id="{2F012A30-F360-946E-377A-3362D03C9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28812" y="5358504"/>
            <a:ext cx="2381250" cy="1905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Number of holes = 2">
            <a:extLst>
              <a:ext uri="{FF2B5EF4-FFF2-40B4-BE49-F238E27FC236}">
                <a16:creationId xmlns:a16="http://schemas.microsoft.com/office/drawing/2014/main" id="{241B2C7E-649F-E4B0-7354-38CEB3AF8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5206" y="1365472"/>
            <a:ext cx="2381250" cy="1666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2" name="Picture 12" descr="Complete lines = 2">
            <a:extLst>
              <a:ext uri="{FF2B5EF4-FFF2-40B4-BE49-F238E27FC236}">
                <a16:creationId xmlns:a16="http://schemas.microsoft.com/office/drawing/2014/main" id="{6B00A0BD-898F-42FF-95CA-7D30060F4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750" y="5666796"/>
            <a:ext cx="2381250" cy="1666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6" name="Picture 16" descr="Aggregate Height = 43">
            <a:extLst>
              <a:ext uri="{FF2B5EF4-FFF2-40B4-BE49-F238E27FC236}">
                <a16:creationId xmlns:a16="http://schemas.microsoft.com/office/drawing/2014/main" id="{D18F5B11-418C-9FF4-BA20-21BCA916A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750" y="1386489"/>
            <a:ext cx="2381250" cy="1666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8"/>
          <p:cNvSpPr/>
          <p:nvPr/>
        </p:nvSpPr>
        <p:spPr>
          <a:xfrm>
            <a:off x="9488079" y="0"/>
            <a:ext cx="8799921" cy="10287000"/>
          </a:xfrm>
          <a:custGeom>
            <a:avLst/>
            <a:gdLst/>
            <a:ahLst/>
            <a:cxnLst/>
            <a:rect l="l" t="t" r="r" b="b"/>
            <a:pathLst>
              <a:path w="611196" h="714481" extrusionOk="0">
                <a:moveTo>
                  <a:pt x="0" y="0"/>
                </a:moveTo>
                <a:lnTo>
                  <a:pt x="611196" y="0"/>
                </a:lnTo>
                <a:lnTo>
                  <a:pt x="611196" y="714481"/>
                </a:lnTo>
                <a:lnTo>
                  <a:pt x="0" y="714481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51" name="Google Shape;251;p18"/>
          <p:cNvSpPr txBox="1"/>
          <p:nvPr/>
        </p:nvSpPr>
        <p:spPr>
          <a:xfrm>
            <a:off x="1102296" y="828675"/>
            <a:ext cx="71271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7500" b="1" i="0" u="none" strike="noStrike" cap="none" dirty="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Uitbreiding</a:t>
            </a:r>
            <a:endParaRPr dirty="0"/>
          </a:p>
        </p:txBody>
      </p:sp>
      <p:grpSp>
        <p:nvGrpSpPr>
          <p:cNvPr id="253" name="Google Shape;253;p18"/>
          <p:cNvGrpSpPr/>
          <p:nvPr/>
        </p:nvGrpSpPr>
        <p:grpSpPr>
          <a:xfrm>
            <a:off x="1102296" y="8522768"/>
            <a:ext cx="3989062" cy="959486"/>
            <a:chOff x="0" y="-40383"/>
            <a:chExt cx="5318750" cy="1279314"/>
          </a:xfrm>
        </p:grpSpPr>
        <p:grpSp>
          <p:nvGrpSpPr>
            <p:cNvPr id="254" name="Google Shape;254;p18"/>
            <p:cNvGrpSpPr/>
            <p:nvPr/>
          </p:nvGrpSpPr>
          <p:grpSpPr>
            <a:xfrm>
              <a:off x="0" y="16561"/>
              <a:ext cx="993176" cy="1222370"/>
              <a:chOff x="0" y="0"/>
              <a:chExt cx="660400" cy="812800"/>
            </a:xfrm>
          </p:grpSpPr>
          <p:sp>
            <p:nvSpPr>
              <p:cNvPr id="255" name="Google Shape;255;p18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8"/>
              <p:cNvSpPr txBox="1"/>
              <p:nvPr/>
            </p:nvSpPr>
            <p:spPr>
              <a:xfrm>
                <a:off x="0" y="88900"/>
                <a:ext cx="6603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7" name="Google Shape;257;p18"/>
            <p:cNvGrpSpPr/>
            <p:nvPr/>
          </p:nvGrpSpPr>
          <p:grpSpPr>
            <a:xfrm>
              <a:off x="2722201" y="-40383"/>
              <a:ext cx="1100922" cy="1271755"/>
              <a:chOff x="0" y="-38100"/>
              <a:chExt cx="736600" cy="850900"/>
            </a:xfrm>
          </p:grpSpPr>
          <p:sp>
            <p:nvSpPr>
              <p:cNvPr id="258" name="Google Shape;258;p18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59" name="Google Shape;259;p18"/>
              <p:cNvSpPr txBox="1"/>
              <p:nvPr/>
            </p:nvSpPr>
            <p:spPr>
              <a:xfrm>
                <a:off x="0" y="-38100"/>
                <a:ext cx="7365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0" name="Google Shape;260;p18"/>
            <p:cNvGrpSpPr/>
            <p:nvPr/>
          </p:nvGrpSpPr>
          <p:grpSpPr>
            <a:xfrm>
              <a:off x="1252993" y="16561"/>
              <a:ext cx="1209390" cy="1214811"/>
              <a:chOff x="1813" y="0"/>
              <a:chExt cx="809173" cy="812800"/>
            </a:xfrm>
          </p:grpSpPr>
          <p:sp>
            <p:nvSpPr>
              <p:cNvPr id="261" name="Google Shape;261;p18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A16AE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8"/>
              <p:cNvSpPr txBox="1"/>
              <p:nvPr/>
            </p:nvSpPr>
            <p:spPr>
              <a:xfrm>
                <a:off x="76200" y="38100"/>
                <a:ext cx="660300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63" name="Google Shape;263;p18"/>
            <p:cNvSpPr/>
            <p:nvPr/>
          </p:nvSpPr>
          <p:spPr>
            <a:xfrm rot="10800000">
              <a:off x="4094705" y="7409"/>
              <a:ext cx="1224045" cy="1223937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18"/>
          <p:cNvSpPr txBox="1"/>
          <p:nvPr/>
        </p:nvSpPr>
        <p:spPr>
          <a:xfrm>
            <a:off x="10054970" y="1109034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Volgende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blok</a:t>
            </a:r>
            <a:endParaRPr dirty="0"/>
          </a:p>
        </p:txBody>
      </p:sp>
      <p:sp>
        <p:nvSpPr>
          <p:cNvPr id="265" name="Google Shape;265;p18"/>
          <p:cNvSpPr txBox="1"/>
          <p:nvPr/>
        </p:nvSpPr>
        <p:spPr>
          <a:xfrm>
            <a:off x="10054970" y="1702301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Extra moeilijkheid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Hogere score</a:t>
            </a:r>
            <a:endParaRPr dirty="0"/>
          </a:p>
        </p:txBody>
      </p:sp>
      <p:sp>
        <p:nvSpPr>
          <p:cNvPr id="266" name="Google Shape;266;p18"/>
          <p:cNvSpPr txBox="1"/>
          <p:nvPr/>
        </p:nvSpPr>
        <p:spPr>
          <a:xfrm>
            <a:off x="10054970" y="3350077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Bumpiness</a:t>
            </a:r>
            <a:endParaRPr dirty="0"/>
          </a:p>
        </p:txBody>
      </p:sp>
      <p:sp>
        <p:nvSpPr>
          <p:cNvPr id="267" name="Google Shape;267;p18"/>
          <p:cNvSpPr txBox="1"/>
          <p:nvPr/>
        </p:nvSpPr>
        <p:spPr>
          <a:xfrm>
            <a:off x="10054970" y="3943344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Verbeteren van huidige methode</a:t>
            </a:r>
            <a:endParaRPr dirty="0"/>
          </a:p>
        </p:txBody>
      </p:sp>
      <p:sp>
        <p:nvSpPr>
          <p:cNvPr id="268" name="Google Shape;268;p18"/>
          <p:cNvSpPr txBox="1"/>
          <p:nvPr/>
        </p:nvSpPr>
        <p:spPr>
          <a:xfrm>
            <a:off x="10054970" y="5591119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1 vs. 1 mode</a:t>
            </a:r>
            <a:endParaRPr dirty="0"/>
          </a:p>
        </p:txBody>
      </p:sp>
      <p:sp>
        <p:nvSpPr>
          <p:cNvPr id="269" name="Google Shape;269;p18"/>
          <p:cNvSpPr txBox="1"/>
          <p:nvPr/>
        </p:nvSpPr>
        <p:spPr>
          <a:xfrm>
            <a:off x="10054970" y="6184386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Implementeren van grijze lijnen</a:t>
            </a:r>
            <a:endParaRPr dirty="0"/>
          </a:p>
        </p:txBody>
      </p:sp>
      <p:sp>
        <p:nvSpPr>
          <p:cNvPr id="270" name="Google Shape;270;p18"/>
          <p:cNvSpPr txBox="1"/>
          <p:nvPr/>
        </p:nvSpPr>
        <p:spPr>
          <a:xfrm>
            <a:off x="10054970" y="7832162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Hold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functie</a:t>
            </a:r>
            <a:endParaRPr lang="en-US" dirty="0"/>
          </a:p>
        </p:txBody>
      </p:sp>
      <p:sp>
        <p:nvSpPr>
          <p:cNvPr id="271" name="Google Shape;271;p18"/>
          <p:cNvSpPr txBox="1"/>
          <p:nvPr/>
        </p:nvSpPr>
        <p:spPr>
          <a:xfrm>
            <a:off x="10054970" y="8425429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Huidige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blok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vasthouden</a:t>
            </a:r>
            <a:endParaRPr lang="en-US" dirty="0"/>
          </a:p>
        </p:txBody>
      </p:sp>
      <p:sp>
        <p:nvSpPr>
          <p:cNvPr id="272" name="Google Shape;272;p18"/>
          <p:cNvSpPr/>
          <p:nvPr/>
        </p:nvSpPr>
        <p:spPr>
          <a:xfrm>
            <a:off x="9223965" y="1118982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9243297" y="3360025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5C5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9243297" y="5596093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F5F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8"/>
          <p:cNvSpPr/>
          <p:nvPr/>
        </p:nvSpPr>
        <p:spPr>
          <a:xfrm>
            <a:off x="9223965" y="7832161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CCC485-CB8F-B760-823C-8615AD325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380" y="2276729"/>
            <a:ext cx="4602709" cy="58207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5"/>
          <p:cNvSpPr txBox="1"/>
          <p:nvPr/>
        </p:nvSpPr>
        <p:spPr>
          <a:xfrm>
            <a:off x="0" y="-253157"/>
            <a:ext cx="3086100" cy="3339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5"/>
          <p:cNvSpPr txBox="1"/>
          <p:nvPr/>
        </p:nvSpPr>
        <p:spPr>
          <a:xfrm>
            <a:off x="1028700" y="1019175"/>
            <a:ext cx="8901455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dirty="0" err="1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Conclusie</a:t>
            </a:r>
            <a:endParaRPr dirty="0"/>
          </a:p>
        </p:txBody>
      </p:sp>
      <p:sp>
        <p:nvSpPr>
          <p:cNvPr id="473" name="Google Shape;473;p25"/>
          <p:cNvSpPr/>
          <p:nvPr/>
        </p:nvSpPr>
        <p:spPr>
          <a:xfrm>
            <a:off x="0" y="3791016"/>
            <a:ext cx="18288001" cy="6495984"/>
          </a:xfrm>
          <a:custGeom>
            <a:avLst/>
            <a:gdLst/>
            <a:ahLst/>
            <a:cxnLst/>
            <a:rect l="l" t="t" r="r" b="b"/>
            <a:pathLst>
              <a:path w="1280043" h="454677" extrusionOk="0">
                <a:moveTo>
                  <a:pt x="0" y="0"/>
                </a:moveTo>
                <a:lnTo>
                  <a:pt x="1280043" y="0"/>
                </a:lnTo>
                <a:lnTo>
                  <a:pt x="1280043" y="454677"/>
                </a:lnTo>
                <a:lnTo>
                  <a:pt x="0" y="454677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474" name="Google Shape;474;p25"/>
          <p:cNvSpPr txBox="1"/>
          <p:nvPr/>
        </p:nvSpPr>
        <p:spPr>
          <a:xfrm>
            <a:off x="0" y="2838428"/>
            <a:ext cx="11612491" cy="1256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5" name="Google Shape;475;p25"/>
          <p:cNvCxnSpPr/>
          <p:nvPr/>
        </p:nvCxnSpPr>
        <p:spPr>
          <a:xfrm rot="10800000" flipH="1">
            <a:off x="0" y="3739258"/>
            <a:ext cx="18288000" cy="32642"/>
          </a:xfrm>
          <a:prstGeom prst="straightConnector1">
            <a:avLst/>
          </a:prstGeom>
          <a:noFill/>
          <a:ln w="133350" cap="flat" cmpd="sng">
            <a:solidFill>
              <a:srgbClr val="4BB8BE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76" name="Google Shape;476;p25"/>
          <p:cNvGrpSpPr/>
          <p:nvPr/>
        </p:nvGrpSpPr>
        <p:grpSpPr>
          <a:xfrm>
            <a:off x="1475844" y="5466447"/>
            <a:ext cx="2794725" cy="2009196"/>
            <a:chOff x="0" y="-28575"/>
            <a:chExt cx="3726300" cy="2678928"/>
          </a:xfrm>
        </p:grpSpPr>
        <p:sp>
          <p:nvSpPr>
            <p:cNvPr id="477" name="Google Shape;477;p25"/>
            <p:cNvSpPr txBox="1"/>
            <p:nvPr/>
          </p:nvSpPr>
          <p:spPr>
            <a:xfrm>
              <a:off x="0" y="-28575"/>
              <a:ext cx="3726300" cy="1436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3500" b="1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Opbouwen algoritme</a:t>
              </a:r>
              <a:endParaRPr dirty="0"/>
            </a:p>
          </p:txBody>
        </p:sp>
        <p:sp>
          <p:nvSpPr>
            <p:cNvPr id="478" name="Google Shape;478;p25"/>
            <p:cNvSpPr txBox="1"/>
            <p:nvPr/>
          </p:nvSpPr>
          <p:spPr>
            <a:xfrm>
              <a:off x="0" y="1624653"/>
              <a:ext cx="3726300" cy="102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Elaborate on what 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you want to discuss. </a:t>
              </a:r>
              <a:endParaRPr/>
            </a:p>
          </p:txBody>
        </p:sp>
      </p:grpSp>
      <p:grpSp>
        <p:nvGrpSpPr>
          <p:cNvPr id="479" name="Google Shape;479;p25"/>
          <p:cNvGrpSpPr/>
          <p:nvPr/>
        </p:nvGrpSpPr>
        <p:grpSpPr>
          <a:xfrm>
            <a:off x="13977615" y="2911826"/>
            <a:ext cx="1437444" cy="1769162"/>
            <a:chOff x="0" y="0"/>
            <a:chExt cx="660400" cy="812800"/>
          </a:xfrm>
        </p:grpSpPr>
        <p:sp>
          <p:nvSpPr>
            <p:cNvPr id="480" name="Google Shape;480;p25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5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" name="Google Shape;482;p25"/>
          <p:cNvGrpSpPr/>
          <p:nvPr/>
        </p:nvGrpSpPr>
        <p:grpSpPr>
          <a:xfrm>
            <a:off x="5610397" y="2879715"/>
            <a:ext cx="1593396" cy="1902460"/>
            <a:chOff x="0" y="-66675"/>
            <a:chExt cx="736600" cy="879475"/>
          </a:xfrm>
        </p:grpSpPr>
        <p:sp>
          <p:nvSpPr>
            <p:cNvPr id="483" name="Google Shape;483;p25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484" name="Google Shape;484;p25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" name="Google Shape;485;p25"/>
          <p:cNvGrpSpPr/>
          <p:nvPr/>
        </p:nvGrpSpPr>
        <p:grpSpPr>
          <a:xfrm>
            <a:off x="1365466" y="3023945"/>
            <a:ext cx="1750384" cy="1758230"/>
            <a:chOff x="1813" y="0"/>
            <a:chExt cx="809173" cy="812800"/>
          </a:xfrm>
        </p:grpSpPr>
        <p:sp>
          <p:nvSpPr>
            <p:cNvPr id="486" name="Google Shape;486;p25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8" name="Google Shape;488;p25"/>
          <p:cNvSpPr/>
          <p:nvPr/>
        </p:nvSpPr>
        <p:spPr>
          <a:xfrm rot="10779982">
            <a:off x="9699589" y="3005306"/>
            <a:ext cx="1782230" cy="1782073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25"/>
          <p:cNvSpPr txBox="1"/>
          <p:nvPr/>
        </p:nvSpPr>
        <p:spPr>
          <a:xfrm>
            <a:off x="2028237" y="3442614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  <a:endParaRPr/>
          </a:p>
        </p:txBody>
      </p:sp>
      <p:sp>
        <p:nvSpPr>
          <p:cNvPr id="490" name="Google Shape;490;p25"/>
          <p:cNvSpPr txBox="1"/>
          <p:nvPr/>
        </p:nvSpPr>
        <p:spPr>
          <a:xfrm>
            <a:off x="6232621" y="3442614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2</a:t>
            </a:r>
            <a:endParaRPr/>
          </a:p>
        </p:txBody>
      </p:sp>
      <p:sp>
        <p:nvSpPr>
          <p:cNvPr id="491" name="Google Shape;491;p25"/>
          <p:cNvSpPr txBox="1"/>
          <p:nvPr/>
        </p:nvSpPr>
        <p:spPr>
          <a:xfrm>
            <a:off x="10331546" y="3442614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3</a:t>
            </a:r>
            <a:endParaRPr/>
          </a:p>
        </p:txBody>
      </p:sp>
      <p:sp>
        <p:nvSpPr>
          <p:cNvPr id="492" name="Google Shape;492;p25"/>
          <p:cNvSpPr txBox="1"/>
          <p:nvPr/>
        </p:nvSpPr>
        <p:spPr>
          <a:xfrm>
            <a:off x="14468317" y="3442614"/>
            <a:ext cx="7004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4</a:t>
            </a:r>
            <a:endParaRPr/>
          </a:p>
        </p:txBody>
      </p:sp>
      <p:grpSp>
        <p:nvGrpSpPr>
          <p:cNvPr id="493" name="Google Shape;493;p25"/>
          <p:cNvGrpSpPr/>
          <p:nvPr/>
        </p:nvGrpSpPr>
        <p:grpSpPr>
          <a:xfrm>
            <a:off x="13421229" y="5519995"/>
            <a:ext cx="2794725" cy="2009104"/>
            <a:chOff x="0" y="-28575"/>
            <a:chExt cx="3726300" cy="2678807"/>
          </a:xfrm>
        </p:grpSpPr>
        <p:sp>
          <p:nvSpPr>
            <p:cNvPr id="494" name="Google Shape;494;p25"/>
            <p:cNvSpPr txBox="1"/>
            <p:nvPr/>
          </p:nvSpPr>
          <p:spPr>
            <a:xfrm>
              <a:off x="0" y="-28575"/>
              <a:ext cx="3726300" cy="1436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3500" b="1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Succesvolle doelstelling</a:t>
              </a:r>
              <a:endParaRPr dirty="0"/>
            </a:p>
          </p:txBody>
        </p:sp>
        <p:sp>
          <p:nvSpPr>
            <p:cNvPr id="495" name="Google Shape;495;p25"/>
            <p:cNvSpPr txBox="1"/>
            <p:nvPr/>
          </p:nvSpPr>
          <p:spPr>
            <a:xfrm>
              <a:off x="0" y="1624652"/>
              <a:ext cx="37263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Vanuit een ander perspectief bekijken</a:t>
              </a:r>
              <a:endParaRPr dirty="0"/>
            </a:p>
          </p:txBody>
        </p:sp>
      </p:grpSp>
      <p:grpSp>
        <p:nvGrpSpPr>
          <p:cNvPr id="496" name="Google Shape;496;p25"/>
          <p:cNvGrpSpPr/>
          <p:nvPr/>
        </p:nvGrpSpPr>
        <p:grpSpPr>
          <a:xfrm>
            <a:off x="5134732" y="5466447"/>
            <a:ext cx="2914564" cy="2009106"/>
            <a:chOff x="0" y="-28575"/>
            <a:chExt cx="3886085" cy="2678808"/>
          </a:xfrm>
        </p:grpSpPr>
        <p:sp>
          <p:nvSpPr>
            <p:cNvPr id="497" name="Google Shape;497;p25"/>
            <p:cNvSpPr txBox="1"/>
            <p:nvPr/>
          </p:nvSpPr>
          <p:spPr>
            <a:xfrm>
              <a:off x="0" y="-28575"/>
              <a:ext cx="3886085" cy="1436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3500" b="1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Duel functionaliteit</a:t>
              </a:r>
              <a:endParaRPr dirty="0"/>
            </a:p>
          </p:txBody>
        </p:sp>
        <p:sp>
          <p:nvSpPr>
            <p:cNvPr id="498" name="Google Shape;498;p25"/>
            <p:cNvSpPr txBox="1"/>
            <p:nvPr/>
          </p:nvSpPr>
          <p:spPr>
            <a:xfrm>
              <a:off x="0" y="1624653"/>
              <a:ext cx="37263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Onverslaanbaar met goede parameters</a:t>
              </a:r>
            </a:p>
          </p:txBody>
        </p:sp>
      </p:grpSp>
      <p:grpSp>
        <p:nvGrpSpPr>
          <p:cNvPr id="499" name="Google Shape;499;p25"/>
          <p:cNvGrpSpPr/>
          <p:nvPr/>
        </p:nvGrpSpPr>
        <p:grpSpPr>
          <a:xfrm>
            <a:off x="9533075" y="5519995"/>
            <a:ext cx="2841769" cy="1023670"/>
            <a:chOff x="-62725" y="-28575"/>
            <a:chExt cx="3789025" cy="1364893"/>
          </a:xfrm>
        </p:grpSpPr>
        <p:sp>
          <p:nvSpPr>
            <p:cNvPr id="500" name="Google Shape;500;p25"/>
            <p:cNvSpPr txBox="1"/>
            <p:nvPr/>
          </p:nvSpPr>
          <p:spPr>
            <a:xfrm>
              <a:off x="0" y="-28575"/>
              <a:ext cx="3726300" cy="7181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3500" b="1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Score</a:t>
              </a:r>
              <a:endParaRPr dirty="0"/>
            </a:p>
          </p:txBody>
        </p:sp>
        <p:sp>
          <p:nvSpPr>
            <p:cNvPr id="501" name="Google Shape;501;p25"/>
            <p:cNvSpPr txBox="1"/>
            <p:nvPr/>
          </p:nvSpPr>
          <p:spPr>
            <a:xfrm>
              <a:off x="-62725" y="823529"/>
              <a:ext cx="37263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Hoog in korte tijd</a:t>
              </a:r>
              <a:endParaRPr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8"/>
          <p:cNvSpPr/>
          <p:nvPr/>
        </p:nvSpPr>
        <p:spPr>
          <a:xfrm>
            <a:off x="9488079" y="0"/>
            <a:ext cx="8799921" cy="10287000"/>
          </a:xfrm>
          <a:custGeom>
            <a:avLst/>
            <a:gdLst/>
            <a:ahLst/>
            <a:cxnLst/>
            <a:rect l="l" t="t" r="r" b="b"/>
            <a:pathLst>
              <a:path w="611196" h="714481" extrusionOk="0">
                <a:moveTo>
                  <a:pt x="0" y="0"/>
                </a:moveTo>
                <a:lnTo>
                  <a:pt x="611196" y="0"/>
                </a:lnTo>
                <a:lnTo>
                  <a:pt x="611196" y="714481"/>
                </a:lnTo>
                <a:lnTo>
                  <a:pt x="0" y="714481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51" name="Google Shape;251;p18"/>
          <p:cNvSpPr txBox="1"/>
          <p:nvPr/>
        </p:nvSpPr>
        <p:spPr>
          <a:xfrm>
            <a:off x="1102296" y="828675"/>
            <a:ext cx="71271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7500" b="1" i="0" u="none" strike="noStrike" cap="none" dirty="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Bibliografie</a:t>
            </a:r>
            <a:endParaRPr dirty="0"/>
          </a:p>
        </p:txBody>
      </p:sp>
      <p:grpSp>
        <p:nvGrpSpPr>
          <p:cNvPr id="253" name="Google Shape;253;p18"/>
          <p:cNvGrpSpPr/>
          <p:nvPr/>
        </p:nvGrpSpPr>
        <p:grpSpPr>
          <a:xfrm>
            <a:off x="1102296" y="8522768"/>
            <a:ext cx="3989062" cy="959486"/>
            <a:chOff x="0" y="-40383"/>
            <a:chExt cx="5318750" cy="1279314"/>
          </a:xfrm>
        </p:grpSpPr>
        <p:grpSp>
          <p:nvGrpSpPr>
            <p:cNvPr id="254" name="Google Shape;254;p18"/>
            <p:cNvGrpSpPr/>
            <p:nvPr/>
          </p:nvGrpSpPr>
          <p:grpSpPr>
            <a:xfrm>
              <a:off x="0" y="16561"/>
              <a:ext cx="993176" cy="1222370"/>
              <a:chOff x="0" y="0"/>
              <a:chExt cx="660400" cy="812800"/>
            </a:xfrm>
          </p:grpSpPr>
          <p:sp>
            <p:nvSpPr>
              <p:cNvPr id="255" name="Google Shape;255;p18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8"/>
              <p:cNvSpPr txBox="1"/>
              <p:nvPr/>
            </p:nvSpPr>
            <p:spPr>
              <a:xfrm>
                <a:off x="0" y="88900"/>
                <a:ext cx="6603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7" name="Google Shape;257;p18"/>
            <p:cNvGrpSpPr/>
            <p:nvPr/>
          </p:nvGrpSpPr>
          <p:grpSpPr>
            <a:xfrm>
              <a:off x="2722201" y="-40383"/>
              <a:ext cx="1100922" cy="1271755"/>
              <a:chOff x="0" y="-38100"/>
              <a:chExt cx="736600" cy="850900"/>
            </a:xfrm>
          </p:grpSpPr>
          <p:sp>
            <p:nvSpPr>
              <p:cNvPr id="258" name="Google Shape;258;p18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59" name="Google Shape;259;p18"/>
              <p:cNvSpPr txBox="1"/>
              <p:nvPr/>
            </p:nvSpPr>
            <p:spPr>
              <a:xfrm>
                <a:off x="0" y="-38100"/>
                <a:ext cx="7365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0" name="Google Shape;260;p18"/>
            <p:cNvGrpSpPr/>
            <p:nvPr/>
          </p:nvGrpSpPr>
          <p:grpSpPr>
            <a:xfrm>
              <a:off x="1252993" y="16561"/>
              <a:ext cx="1209390" cy="1214811"/>
              <a:chOff x="1813" y="0"/>
              <a:chExt cx="809173" cy="812800"/>
            </a:xfrm>
          </p:grpSpPr>
          <p:sp>
            <p:nvSpPr>
              <p:cNvPr id="261" name="Google Shape;261;p18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A16AE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8"/>
              <p:cNvSpPr txBox="1"/>
              <p:nvPr/>
            </p:nvSpPr>
            <p:spPr>
              <a:xfrm>
                <a:off x="76200" y="38100"/>
                <a:ext cx="660300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63" name="Google Shape;263;p18"/>
            <p:cNvSpPr/>
            <p:nvPr/>
          </p:nvSpPr>
          <p:spPr>
            <a:xfrm rot="10800000">
              <a:off x="4094705" y="7409"/>
              <a:ext cx="1224045" cy="1223937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18"/>
          <p:cNvSpPr txBox="1"/>
          <p:nvPr/>
        </p:nvSpPr>
        <p:spPr>
          <a:xfrm>
            <a:off x="10054970" y="1109034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Tetris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github</a:t>
            </a:r>
            <a:r>
              <a:rPr lang="en-US" sz="3500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:</a:t>
            </a:r>
            <a:endParaRPr dirty="0"/>
          </a:p>
        </p:txBody>
      </p:sp>
      <p:sp>
        <p:nvSpPr>
          <p:cNvPr id="265" name="Google Shape;265;p18"/>
          <p:cNvSpPr txBox="1"/>
          <p:nvPr/>
        </p:nvSpPr>
        <p:spPr>
          <a:xfrm>
            <a:off x="10054970" y="1702301"/>
            <a:ext cx="4584000" cy="984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/>
            <a:r>
              <a:rPr lang="en-GB" sz="2499" dirty="0">
                <a:solidFill>
                  <a:srgbClr val="FFFFFF"/>
                </a:solidFill>
                <a:latin typeface="Assistant"/>
                <a:cs typeface="Assistan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https://github.com/danielchang2002/tetris_ai.git</a:t>
            </a:r>
            <a:endParaRPr lang="en-GB" sz="2499" dirty="0">
              <a:solidFill>
                <a:srgbClr val="FFFFFF"/>
              </a:solidFill>
              <a:latin typeface="Assistant"/>
              <a:cs typeface="Assistan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6" name="Google Shape;266;p18"/>
          <p:cNvSpPr txBox="1"/>
          <p:nvPr/>
        </p:nvSpPr>
        <p:spPr>
          <a:xfrm>
            <a:off x="10054970" y="3350077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AI bot guide:</a:t>
            </a:r>
            <a:endParaRPr dirty="0"/>
          </a:p>
        </p:txBody>
      </p:sp>
      <p:sp>
        <p:nvSpPr>
          <p:cNvPr id="267" name="Google Shape;267;p18"/>
          <p:cNvSpPr txBox="1"/>
          <p:nvPr/>
        </p:nvSpPr>
        <p:spPr>
          <a:xfrm>
            <a:off x="10054970" y="3943344"/>
            <a:ext cx="4584000" cy="1153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it-IT" sz="2499" dirty="0">
                <a:solidFill>
                  <a:srgbClr val="FFFFFF"/>
                </a:solidFill>
                <a:latin typeface="Assistant"/>
                <a:cs typeface="Assistan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https://codemyroad.wordpress.com/2013/04/14/tetris-ai-the-near-perfect-player/</a:t>
            </a:r>
            <a:endParaRPr lang="it-IT" sz="2499" dirty="0">
              <a:solidFill>
                <a:srgbClr val="FFFFFF"/>
              </a:solidFill>
              <a:latin typeface="Assistant"/>
              <a:cs typeface="Assistant"/>
            </a:endParaRPr>
          </a:p>
        </p:txBody>
      </p:sp>
      <p:sp>
        <p:nvSpPr>
          <p:cNvPr id="268" name="Google Shape;268;p18"/>
          <p:cNvSpPr txBox="1"/>
          <p:nvPr/>
        </p:nvSpPr>
        <p:spPr>
          <a:xfrm>
            <a:off x="10054970" y="5591119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Tutorial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tetris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spel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:</a:t>
            </a:r>
            <a:endParaRPr dirty="0"/>
          </a:p>
        </p:txBody>
      </p:sp>
      <p:sp>
        <p:nvSpPr>
          <p:cNvPr id="269" name="Google Shape;269;p18"/>
          <p:cNvSpPr txBox="1"/>
          <p:nvPr/>
        </p:nvSpPr>
        <p:spPr>
          <a:xfrm>
            <a:off x="10054970" y="6184386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99" dirty="0">
                <a:solidFill>
                  <a:srgbClr val="FFFFFF"/>
                </a:solidFill>
                <a:latin typeface="Assistant"/>
                <a:cs typeface="Assistan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https://www.youtube.com/watch?v=nF_crEtmpBo</a:t>
            </a:r>
            <a:endParaRPr lang="en-GB" sz="2499" dirty="0">
              <a:solidFill>
                <a:srgbClr val="FFFFFF"/>
              </a:solidFill>
              <a:latin typeface="Assistant"/>
              <a:cs typeface="Assistant"/>
            </a:endParaRPr>
          </a:p>
        </p:txBody>
      </p:sp>
      <p:sp>
        <p:nvSpPr>
          <p:cNvPr id="270" name="Google Shape;270;p18"/>
          <p:cNvSpPr txBox="1"/>
          <p:nvPr/>
        </p:nvSpPr>
        <p:spPr>
          <a:xfrm>
            <a:off x="10054970" y="7832162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Tetris AI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Github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:</a:t>
            </a:r>
            <a:endParaRPr dirty="0"/>
          </a:p>
        </p:txBody>
      </p:sp>
      <p:sp>
        <p:nvSpPr>
          <p:cNvPr id="271" name="Google Shape;271;p18"/>
          <p:cNvSpPr txBox="1"/>
          <p:nvPr/>
        </p:nvSpPr>
        <p:spPr>
          <a:xfrm>
            <a:off x="10054970" y="8425429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99" dirty="0">
                <a:solidFill>
                  <a:srgbClr val="FFFFFF"/>
                </a:solidFill>
                <a:latin typeface="Assistant"/>
                <a:cs typeface="Assistant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https://github.com/estebandesmedt/Tetris-AI</a:t>
            </a:r>
            <a:endParaRPr dirty="0"/>
          </a:p>
        </p:txBody>
      </p:sp>
      <p:sp>
        <p:nvSpPr>
          <p:cNvPr id="272" name="Google Shape;272;p18"/>
          <p:cNvSpPr/>
          <p:nvPr/>
        </p:nvSpPr>
        <p:spPr>
          <a:xfrm>
            <a:off x="9223965" y="1118982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9243297" y="3360025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5C5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9243297" y="5596093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F5F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8"/>
          <p:cNvSpPr/>
          <p:nvPr/>
        </p:nvSpPr>
        <p:spPr>
          <a:xfrm>
            <a:off x="9223965" y="7832161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8DA268-96D3-A0C3-28F1-40A0A9559A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6973" y="2331900"/>
            <a:ext cx="3002423" cy="5984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074" name="Picture 2" descr="Possible pieces and rotations">
            <a:extLst>
              <a:ext uri="{FF2B5EF4-FFF2-40B4-BE49-F238E27FC236}">
                <a16:creationId xmlns:a16="http://schemas.microsoft.com/office/drawing/2014/main" id="{22E108E6-1B92-289B-C465-4B4B5BF04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414" y="3294052"/>
            <a:ext cx="2742251" cy="39175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7691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C500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2"/>
          <p:cNvSpPr/>
          <p:nvPr/>
        </p:nvSpPr>
        <p:spPr>
          <a:xfrm rot="10779982">
            <a:off x="5070675" y="1054591"/>
            <a:ext cx="8656135" cy="8655372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22"/>
          <p:cNvSpPr txBox="1"/>
          <p:nvPr/>
        </p:nvSpPr>
        <p:spPr>
          <a:xfrm>
            <a:off x="3729073" y="3492925"/>
            <a:ext cx="10829854" cy="1152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Thank you!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olet Yellow and Green Geometric Project Roadmap Presentation ">
  <a:themeElements>
    <a:clrScheme name="Office">
      <a:dk1>
        <a:srgbClr val="000000"/>
      </a:dk1>
      <a:lt1>
        <a:srgbClr val="FFFFFF"/>
      </a:lt1>
      <a:dk2>
        <a:srgbClr val="A16AE8"/>
      </a:dk2>
      <a:lt2>
        <a:srgbClr val="F5C500"/>
      </a:lt2>
      <a:accent1>
        <a:srgbClr val="EE604A"/>
      </a:accent1>
      <a:accent2>
        <a:srgbClr val="4BB8BE"/>
      </a:accent2>
      <a:accent3>
        <a:srgbClr val="F5C500"/>
      </a:accent3>
      <a:accent4>
        <a:srgbClr val="8064A2"/>
      </a:accent4>
      <a:accent5>
        <a:srgbClr val="B7B7B7"/>
      </a:accent5>
      <a:accent6>
        <a:srgbClr val="F3F3F3"/>
      </a:accent6>
      <a:hlink>
        <a:srgbClr val="191919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401</Words>
  <Application>Microsoft Office PowerPoint</Application>
  <PresentationFormat>Custom</PresentationFormat>
  <Paragraphs>161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Fira Sans Medium</vt:lpstr>
      <vt:lpstr>Arial</vt:lpstr>
      <vt:lpstr>Assistant</vt:lpstr>
      <vt:lpstr>Calibri</vt:lpstr>
      <vt:lpstr>Fira Sans</vt:lpstr>
      <vt:lpstr>Violet Yellow and Green Geometric Project Roadmap Presentation </vt:lpstr>
      <vt:lpstr>Tetris AI</vt:lpstr>
      <vt:lpstr>PowerPoint Presentation</vt:lpstr>
      <vt:lpstr>Doelstellingen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Tetris AI</dc:title>
  <dc:creator>colin bossuyt</dc:creator>
  <cp:lastModifiedBy>colin bossuyt</cp:lastModifiedBy>
  <cp:revision>4</cp:revision>
  <dcterms:modified xsi:type="dcterms:W3CDTF">2023-11-30T11:44:07Z</dcterms:modified>
</cp:coreProperties>
</file>