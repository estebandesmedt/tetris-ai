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7" r:id="rId1"/>
  </p:sldMasterIdLst>
  <p:notesMasterIdLst>
    <p:notesMasterId r:id="rId17"/>
  </p:notesMasterIdLst>
  <p:sldIdLst>
    <p:sldId id="256" r:id="rId2"/>
    <p:sldId id="258" r:id="rId3"/>
    <p:sldId id="259" r:id="rId4"/>
    <p:sldId id="260" r:id="rId5"/>
    <p:sldId id="257" r:id="rId6"/>
    <p:sldId id="278" r:id="rId7"/>
    <p:sldId id="261" r:id="rId8"/>
    <p:sldId id="264" r:id="rId9"/>
    <p:sldId id="277" r:id="rId10"/>
    <p:sldId id="271" r:id="rId11"/>
    <p:sldId id="262" r:id="rId12"/>
    <p:sldId id="263" r:id="rId13"/>
    <p:sldId id="270" r:id="rId14"/>
    <p:sldId id="275" r:id="rId15"/>
    <p:sldId id="267" r:id="rId16"/>
  </p:sldIdLst>
  <p:sldSz cx="18288000" cy="10287000"/>
  <p:notesSz cx="6858000" cy="9144000"/>
  <p:embeddedFontLst>
    <p:embeddedFont>
      <p:font typeface="Assistant" pitchFamily="2" charset="-79"/>
      <p:regular r:id="rId18"/>
      <p:bold r:id="rId19"/>
    </p:embeddedFont>
    <p:embeddedFont>
      <p:font typeface="Calibri" panose="020F0502020204030204" pitchFamily="34" charset="0"/>
      <p:regular r:id="rId20"/>
      <p:bold r:id="rId21"/>
      <p:italic r:id="rId22"/>
      <p:boldItalic r:id="rId23"/>
    </p:embeddedFont>
    <p:embeddedFont>
      <p:font typeface="Fira Sans" panose="020B0503050000020004" pitchFamily="34" charset="0"/>
      <p:regular r:id="rId24"/>
      <p:bold r:id="rId25"/>
      <p:italic r:id="rId26"/>
      <p:boldItalic r:id="rId27"/>
    </p:embeddedFont>
    <p:embeddedFont>
      <p:font typeface="Fira Sans Medium" panose="020B0603050000020004" pitchFamily="34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8AA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74" y="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font" Target="fonts/font1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14802977023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g14802977023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5" name="Google Shape;7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068654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95" name="Google Shape;19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825702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4" name="Google Shape;504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9" name="Google Shape;469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1837387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5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iolet Yellow and Green Geometric Project Roadmap Presentation " type="blank">
  <p:cSld name="BLANK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/>
          <p:nvPr/>
        </p:nvSpPr>
        <p:spPr>
          <a:xfrm>
            <a:off x="-3075206" y="-2259745"/>
            <a:ext cx="14864508" cy="14931136"/>
          </a:xfrm>
          <a:custGeom>
            <a:avLst/>
            <a:gdLst/>
            <a:ahLst/>
            <a:cxnLst/>
            <a:rect l="l" t="t" r="r" b="b"/>
            <a:pathLst>
              <a:path w="809173" h="812800" extrusionOk="0">
                <a:moveTo>
                  <a:pt x="404587" y="0"/>
                </a:moveTo>
                <a:cubicBezTo>
                  <a:pt x="628326" y="1001"/>
                  <a:pt x="809174" y="182659"/>
                  <a:pt x="809174" y="406400"/>
                </a:cubicBezTo>
                <a:cubicBezTo>
                  <a:pt x="809174" y="630141"/>
                  <a:pt x="628326" y="811799"/>
                  <a:pt x="404587" y="812800"/>
                </a:cubicBezTo>
                <a:cubicBezTo>
                  <a:pt x="180848" y="811799"/>
                  <a:pt x="0" y="630141"/>
                  <a:pt x="0" y="406400"/>
                </a:cubicBezTo>
                <a:cubicBezTo>
                  <a:pt x="0" y="182659"/>
                  <a:pt x="180848" y="1001"/>
                  <a:pt x="404587" y="0"/>
                </a:cubicBezTo>
                <a:close/>
              </a:path>
            </a:pathLst>
          </a:custGeom>
          <a:solidFill>
            <a:srgbClr val="F4C5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3"/>
          <p:cNvGrpSpPr/>
          <p:nvPr/>
        </p:nvGrpSpPr>
        <p:grpSpPr>
          <a:xfrm>
            <a:off x="1119321" y="6923675"/>
            <a:ext cx="497803" cy="500035"/>
            <a:chOff x="1813" y="0"/>
            <a:chExt cx="809173" cy="812800"/>
          </a:xfrm>
        </p:grpSpPr>
        <p:sp>
          <p:nvSpPr>
            <p:cNvPr id="12" name="Google Shape;12;p3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A16A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3"/>
            <p:cNvSpPr txBox="1"/>
            <p:nvPr/>
          </p:nvSpPr>
          <p:spPr>
            <a:xfrm>
              <a:off x="76200" y="9525"/>
              <a:ext cx="660300" cy="72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7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" name="Google Shape;14;p3"/>
          <p:cNvGrpSpPr/>
          <p:nvPr/>
        </p:nvGrpSpPr>
        <p:grpSpPr>
          <a:xfrm>
            <a:off x="1776546" y="6923675"/>
            <a:ext cx="497803" cy="500035"/>
            <a:chOff x="1813" y="0"/>
            <a:chExt cx="809173" cy="812800"/>
          </a:xfrm>
        </p:grpSpPr>
        <p:sp>
          <p:nvSpPr>
            <p:cNvPr id="15" name="Google Shape;15;p3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4BB8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3"/>
            <p:cNvSpPr txBox="1"/>
            <p:nvPr/>
          </p:nvSpPr>
          <p:spPr>
            <a:xfrm>
              <a:off x="76200" y="9525"/>
              <a:ext cx="660300" cy="72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7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" name="Google Shape;17;p3"/>
          <p:cNvGrpSpPr/>
          <p:nvPr/>
        </p:nvGrpSpPr>
        <p:grpSpPr>
          <a:xfrm>
            <a:off x="2438533" y="6923675"/>
            <a:ext cx="497803" cy="500035"/>
            <a:chOff x="1813" y="0"/>
            <a:chExt cx="809173" cy="812800"/>
          </a:xfrm>
        </p:grpSpPr>
        <p:sp>
          <p:nvSpPr>
            <p:cNvPr id="18" name="Google Shape;18;p3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EE60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3"/>
            <p:cNvSpPr txBox="1"/>
            <p:nvPr/>
          </p:nvSpPr>
          <p:spPr>
            <a:xfrm>
              <a:off x="76200" y="9525"/>
              <a:ext cx="660300" cy="72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7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" name="Google Shape;20;p3"/>
          <p:cNvSpPr txBox="1">
            <a:spLocks noGrp="1"/>
          </p:cNvSpPr>
          <p:nvPr>
            <p:ph type="ctrTitle"/>
          </p:nvPr>
        </p:nvSpPr>
        <p:spPr>
          <a:xfrm>
            <a:off x="1119325" y="434687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15925" y="804650"/>
            <a:ext cx="141045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0"/>
              <a:buNone/>
              <a:defRPr sz="7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919825" y="33736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3pPr>
            <a:lvl4pPr marL="1828800" lvl="3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4pPr>
            <a:lvl5pPr marL="2286000" lvl="4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/>
            </a:lvl5pPr>
            <a:lvl6pPr marL="2743200" lvl="5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marL="3200400" lvl="6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marL="3657600" lvl="7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marL="4114800" lvl="8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ubTitle" idx="2"/>
          </p:nvPr>
        </p:nvSpPr>
        <p:spPr>
          <a:xfrm>
            <a:off x="1010175" y="1950125"/>
            <a:ext cx="6984900" cy="907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lvl="0">
              <a:spcBef>
                <a:spcPts val="640"/>
              </a:spcBef>
              <a:spcAft>
                <a:spcPts val="0"/>
              </a:spcAft>
              <a:buSzPts val="3500"/>
              <a:buFont typeface="Fira Sans Medium"/>
              <a:buNone/>
              <a:defRPr sz="3500">
                <a:latin typeface="Fira Sans Medium"/>
                <a:ea typeface="Fira Sans Medium"/>
                <a:cs typeface="Fira Sans Medium"/>
                <a:sym typeface="Fira Sans Medium"/>
              </a:defRPr>
            </a:lvl1pPr>
            <a:lvl2pPr lvl="1">
              <a:spcBef>
                <a:spcPts val="560"/>
              </a:spcBef>
              <a:spcAft>
                <a:spcPts val="0"/>
              </a:spcAft>
              <a:buSzPts val="3500"/>
              <a:buFont typeface="Fira Sans Medium"/>
              <a:buNone/>
              <a:defRPr sz="3500">
                <a:latin typeface="Fira Sans Medium"/>
                <a:ea typeface="Fira Sans Medium"/>
                <a:cs typeface="Fira Sans Medium"/>
                <a:sym typeface="Fira Sans Medium"/>
              </a:defRPr>
            </a:lvl2pPr>
            <a:lvl3pPr lvl="2">
              <a:spcBef>
                <a:spcPts val="480"/>
              </a:spcBef>
              <a:spcAft>
                <a:spcPts val="0"/>
              </a:spcAft>
              <a:buSzPts val="3500"/>
              <a:buFont typeface="Fira Sans Medium"/>
              <a:buNone/>
              <a:defRPr sz="3500">
                <a:latin typeface="Fira Sans Medium"/>
                <a:ea typeface="Fira Sans Medium"/>
                <a:cs typeface="Fira Sans Medium"/>
                <a:sym typeface="Fira Sans Medium"/>
              </a:defRPr>
            </a:lvl3pPr>
            <a:lvl4pPr lvl="3">
              <a:spcBef>
                <a:spcPts val="400"/>
              </a:spcBef>
              <a:spcAft>
                <a:spcPts val="0"/>
              </a:spcAft>
              <a:buSzPts val="3500"/>
              <a:buFont typeface="Fira Sans Medium"/>
              <a:buNone/>
              <a:defRPr sz="3500">
                <a:latin typeface="Fira Sans Medium"/>
                <a:ea typeface="Fira Sans Medium"/>
                <a:cs typeface="Fira Sans Medium"/>
                <a:sym typeface="Fira Sans Medium"/>
              </a:defRPr>
            </a:lvl4pPr>
            <a:lvl5pPr lvl="4">
              <a:spcBef>
                <a:spcPts val="400"/>
              </a:spcBef>
              <a:spcAft>
                <a:spcPts val="0"/>
              </a:spcAft>
              <a:buSzPts val="3500"/>
              <a:buFont typeface="Fira Sans Medium"/>
              <a:buNone/>
              <a:defRPr sz="3500">
                <a:latin typeface="Fira Sans Medium"/>
                <a:ea typeface="Fira Sans Medium"/>
                <a:cs typeface="Fira Sans Medium"/>
                <a:sym typeface="Fira Sans Medium"/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SzPts val="3500"/>
              <a:buFont typeface="Fira Sans Medium"/>
              <a:buNone/>
              <a:defRPr sz="3500">
                <a:latin typeface="Fira Sans Medium"/>
                <a:ea typeface="Fira Sans Medium"/>
                <a:cs typeface="Fira Sans Medium"/>
                <a:sym typeface="Fira Sans Medium"/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SzPts val="3500"/>
              <a:buFont typeface="Fira Sans Medium"/>
              <a:buNone/>
              <a:defRPr sz="3500">
                <a:latin typeface="Fira Sans Medium"/>
                <a:ea typeface="Fira Sans Medium"/>
                <a:cs typeface="Fira Sans Medium"/>
                <a:sym typeface="Fira Sans Medium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3500"/>
              <a:buFont typeface="Fira Sans Medium"/>
              <a:buNone/>
              <a:defRPr sz="3500">
                <a:latin typeface="Fira Sans Medium"/>
                <a:ea typeface="Fira Sans Medium"/>
                <a:cs typeface="Fira Sans Medium"/>
                <a:sym typeface="Fira Sans Medium"/>
              </a:defRPr>
            </a:lvl8pPr>
            <a:lvl9pPr lvl="8">
              <a:spcBef>
                <a:spcPts val="400"/>
              </a:spcBef>
              <a:spcAft>
                <a:spcPts val="0"/>
              </a:spcAft>
              <a:buSzPts val="3500"/>
              <a:buFont typeface="Fira Sans Medium"/>
              <a:buNone/>
              <a:defRPr sz="3500">
                <a:latin typeface="Fira Sans Medium"/>
                <a:ea typeface="Fira Sans Medium"/>
                <a:cs typeface="Fira Sans Medium"/>
                <a:sym typeface="Fira Sans Medium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body" idx="1"/>
          </p:nvPr>
        </p:nvSpPr>
        <p:spPr>
          <a:xfrm>
            <a:off x="1098538" y="4975988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SzPts val="2400"/>
              <a:buNone/>
              <a:defRPr sz="2400"/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SzPts val="2400"/>
              <a:buNone/>
              <a:defRPr sz="2400"/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SzPts val="2400"/>
              <a:buNone/>
              <a:defRPr/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SzPts val="2400"/>
              <a:buNone/>
              <a:defRPr sz="2400"/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SzPts val="2400"/>
              <a:buNone/>
              <a:defRPr sz="2400"/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SzPts val="2400"/>
              <a:buNone/>
              <a:defRPr sz="2400"/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SzPts val="2400"/>
              <a:buNone/>
              <a:defRPr sz="2400"/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SzPts val="2400"/>
              <a:buNone/>
              <a:defRPr sz="2400"/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315925" y="804650"/>
            <a:ext cx="141045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0"/>
              <a:buNone/>
              <a:defRPr sz="7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/>
          <p:nvPr/>
        </p:nvSpPr>
        <p:spPr>
          <a:xfrm>
            <a:off x="3000" y="-8875"/>
            <a:ext cx="18291008" cy="10286869"/>
          </a:xfrm>
          <a:custGeom>
            <a:avLst/>
            <a:gdLst/>
            <a:ahLst/>
            <a:cxnLst/>
            <a:rect l="l" t="t" r="r" b="b"/>
            <a:pathLst>
              <a:path w="4816592" h="982509" extrusionOk="0">
                <a:moveTo>
                  <a:pt x="0" y="0"/>
                </a:moveTo>
                <a:lnTo>
                  <a:pt x="4816592" y="0"/>
                </a:lnTo>
                <a:lnTo>
                  <a:pt x="4816592" y="982509"/>
                </a:lnTo>
                <a:lnTo>
                  <a:pt x="0" y="982509"/>
                </a:lnTo>
                <a:close/>
              </a:path>
            </a:pathLst>
          </a:custGeom>
          <a:solidFill>
            <a:srgbClr val="A16AE8"/>
          </a:solidFill>
          <a:ln>
            <a:noFill/>
          </a:ln>
        </p:spPr>
      </p:sp>
      <p:sp>
        <p:nvSpPr>
          <p:cNvPr id="30" name="Google Shape;30;p6"/>
          <p:cNvSpPr txBox="1">
            <a:spLocks noGrp="1"/>
          </p:cNvSpPr>
          <p:nvPr>
            <p:ph type="body" idx="1"/>
          </p:nvPr>
        </p:nvSpPr>
        <p:spPr>
          <a:xfrm>
            <a:off x="3687875" y="3399575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>
                <a:solidFill>
                  <a:schemeClr val="lt1"/>
                </a:solidFill>
              </a:defRPr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Char char="–"/>
              <a:defRPr sz="2400">
                <a:solidFill>
                  <a:schemeClr val="lt1"/>
                </a:solidFill>
              </a:defRPr>
            </a:lvl2pPr>
            <a:lvl3pPr marL="1371600" lvl="2" indent="-3810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81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400"/>
              <a:buChar char="–"/>
              <a:defRPr sz="2400">
                <a:solidFill>
                  <a:schemeClr val="lt1"/>
                </a:solidFill>
              </a:defRPr>
            </a:lvl4pPr>
            <a:lvl5pPr marL="2286000" lvl="4" indent="-381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400"/>
              <a:buChar char="»"/>
              <a:defRPr sz="2400">
                <a:solidFill>
                  <a:schemeClr val="lt1"/>
                </a:solidFill>
              </a:defRPr>
            </a:lvl5pPr>
            <a:lvl6pPr marL="2743200" lvl="5" indent="-381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>
                <a:solidFill>
                  <a:schemeClr val="lt1"/>
                </a:solidFill>
              </a:defRPr>
            </a:lvl6pPr>
            <a:lvl7pPr marL="3200400" lvl="6" indent="-381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>
                <a:solidFill>
                  <a:schemeClr val="lt1"/>
                </a:solidFill>
              </a:defRPr>
            </a:lvl7pPr>
            <a:lvl8pPr marL="3657600" lvl="7" indent="-381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>
                <a:solidFill>
                  <a:schemeClr val="lt1"/>
                </a:solidFill>
              </a:defRPr>
            </a:lvl8pPr>
            <a:lvl9pPr marL="4114800" lvl="8" indent="-381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body" idx="2"/>
          </p:nvPr>
        </p:nvSpPr>
        <p:spPr>
          <a:xfrm>
            <a:off x="9620975" y="3334125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>
                <a:solidFill>
                  <a:schemeClr val="lt1"/>
                </a:solidFill>
              </a:defRPr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Char char="–"/>
              <a:defRPr sz="2400">
                <a:solidFill>
                  <a:schemeClr val="lt1"/>
                </a:solidFill>
              </a:defRPr>
            </a:lvl2pPr>
            <a:lvl3pPr marL="1371600" lvl="2" indent="-3810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81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400"/>
              <a:buChar char="–"/>
              <a:defRPr sz="2400">
                <a:solidFill>
                  <a:schemeClr val="lt1"/>
                </a:solidFill>
              </a:defRPr>
            </a:lvl4pPr>
            <a:lvl5pPr marL="2286000" lvl="4" indent="-381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400"/>
              <a:buChar char="»"/>
              <a:defRPr sz="2400">
                <a:solidFill>
                  <a:schemeClr val="lt1"/>
                </a:solidFill>
              </a:defRPr>
            </a:lvl5pPr>
            <a:lvl6pPr marL="2743200" lvl="5" indent="-381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>
                <a:solidFill>
                  <a:schemeClr val="lt1"/>
                </a:solidFill>
              </a:defRPr>
            </a:lvl6pPr>
            <a:lvl7pPr marL="3200400" lvl="6" indent="-381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>
                <a:solidFill>
                  <a:schemeClr val="lt1"/>
                </a:solidFill>
              </a:defRPr>
            </a:lvl7pPr>
            <a:lvl8pPr marL="3657600" lvl="7" indent="-381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>
                <a:solidFill>
                  <a:schemeClr val="lt1"/>
                </a:solidFill>
              </a:defRPr>
            </a:lvl8pPr>
            <a:lvl9pPr marL="4114800" lvl="8" indent="-381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title"/>
          </p:nvPr>
        </p:nvSpPr>
        <p:spPr>
          <a:xfrm>
            <a:off x="315925" y="804650"/>
            <a:ext cx="141045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None/>
              <a:defRPr sz="75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711750" y="1248913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2035750" y="4604000"/>
            <a:ext cx="40401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body" idx="2"/>
          </p:nvPr>
        </p:nvSpPr>
        <p:spPr>
          <a:xfrm>
            <a:off x="7589425" y="4546750"/>
            <a:ext cx="4041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9"/>
          <p:cNvSpPr/>
          <p:nvPr/>
        </p:nvSpPr>
        <p:spPr>
          <a:xfrm>
            <a:off x="0" y="0"/>
            <a:ext cx="18287898" cy="10286740"/>
          </a:xfrm>
          <a:custGeom>
            <a:avLst/>
            <a:gdLst/>
            <a:ahLst/>
            <a:cxnLst/>
            <a:rect l="l" t="t" r="r" b="b"/>
            <a:pathLst>
              <a:path w="660511" h="714481" extrusionOk="0">
                <a:moveTo>
                  <a:pt x="0" y="0"/>
                </a:moveTo>
                <a:lnTo>
                  <a:pt x="660511" y="0"/>
                </a:lnTo>
                <a:lnTo>
                  <a:pt x="660511" y="714481"/>
                </a:lnTo>
                <a:lnTo>
                  <a:pt x="0" y="714481"/>
                </a:lnTo>
                <a:close/>
              </a:path>
            </a:pathLst>
          </a:custGeom>
          <a:solidFill>
            <a:srgbClr val="4BB8BE"/>
          </a:solidFill>
          <a:ln>
            <a:noFill/>
          </a:ln>
        </p:spPr>
      </p:sp>
      <p:sp>
        <p:nvSpPr>
          <p:cNvPr id="55" name="Google Shape;55;p9"/>
          <p:cNvSpPr txBox="1">
            <a:spLocks noGrp="1"/>
          </p:cNvSpPr>
          <p:nvPr>
            <p:ph type="body" idx="1"/>
          </p:nvPr>
        </p:nvSpPr>
        <p:spPr>
          <a:xfrm>
            <a:off x="1389600" y="29661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>
                <a:solidFill>
                  <a:schemeClr val="lt1"/>
                </a:solidFill>
              </a:defRPr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Char char="–"/>
              <a:defRPr sz="2400">
                <a:solidFill>
                  <a:schemeClr val="lt1"/>
                </a:solidFill>
              </a:defRPr>
            </a:lvl2pPr>
            <a:lvl3pPr marL="1371600" lvl="2" indent="-3810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81000" algn="l" rtl="0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400"/>
              <a:buChar char="–"/>
              <a:defRPr sz="2400">
                <a:solidFill>
                  <a:schemeClr val="lt1"/>
                </a:solidFill>
              </a:defRPr>
            </a:lvl4pPr>
            <a:lvl5pPr marL="2286000" lvl="4" indent="-381000" algn="l" rtl="0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400"/>
              <a:buChar char="»"/>
              <a:defRPr sz="2400">
                <a:solidFill>
                  <a:schemeClr val="lt1"/>
                </a:solidFill>
              </a:defRPr>
            </a:lvl5pPr>
            <a:lvl6pPr marL="2743200" lvl="5" indent="-381000" algn="l" rtl="0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>
                <a:solidFill>
                  <a:schemeClr val="lt1"/>
                </a:solidFill>
              </a:defRPr>
            </a:lvl6pPr>
            <a:lvl7pPr marL="3200400" lvl="6" indent="-381000" algn="l" rtl="0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>
                <a:solidFill>
                  <a:schemeClr val="lt1"/>
                </a:solidFill>
              </a:defRPr>
            </a:lvl7pPr>
            <a:lvl8pPr marL="3657600" lvl="7" indent="-381000" algn="l" rtl="0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>
                <a:solidFill>
                  <a:schemeClr val="lt1"/>
                </a:solidFill>
              </a:defRPr>
            </a:lvl8pPr>
            <a:lvl9pPr marL="4114800" lvl="8" indent="-381000" algn="l" rtl="0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title"/>
          </p:nvPr>
        </p:nvSpPr>
        <p:spPr>
          <a:xfrm>
            <a:off x="315925" y="804650"/>
            <a:ext cx="141045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None/>
              <a:defRPr sz="75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9"/>
          <p:cNvSpPr>
            <a:spLocks noGrp="1"/>
          </p:cNvSpPr>
          <p:nvPr>
            <p:ph type="pic" idx="2"/>
          </p:nvPr>
        </p:nvSpPr>
        <p:spPr>
          <a:xfrm>
            <a:off x="9509600" y="2432500"/>
            <a:ext cx="8778300" cy="67548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/>
          <p:nvPr/>
        </p:nvSpPr>
        <p:spPr>
          <a:xfrm>
            <a:off x="3000" y="-8875"/>
            <a:ext cx="18363257" cy="10370382"/>
          </a:xfrm>
          <a:custGeom>
            <a:avLst/>
            <a:gdLst/>
            <a:ahLst/>
            <a:cxnLst/>
            <a:rect l="l" t="t" r="r" b="b"/>
            <a:pathLst>
              <a:path w="4816592" h="982509" extrusionOk="0">
                <a:moveTo>
                  <a:pt x="0" y="0"/>
                </a:moveTo>
                <a:lnTo>
                  <a:pt x="4816592" y="0"/>
                </a:lnTo>
                <a:lnTo>
                  <a:pt x="4816592" y="982509"/>
                </a:lnTo>
                <a:lnTo>
                  <a:pt x="0" y="982509"/>
                </a:lnTo>
                <a:close/>
              </a:path>
            </a:pathLst>
          </a:custGeom>
          <a:solidFill>
            <a:srgbClr val="A16AE8"/>
          </a:solidFill>
          <a:ln>
            <a:noFill/>
          </a:ln>
        </p:spPr>
      </p:sp>
      <p:sp>
        <p:nvSpPr>
          <p:cNvPr id="60" name="Google Shape;60;p10"/>
          <p:cNvSpPr>
            <a:spLocks noGrp="1"/>
          </p:cNvSpPr>
          <p:nvPr>
            <p:ph type="pic" idx="2"/>
          </p:nvPr>
        </p:nvSpPr>
        <p:spPr>
          <a:xfrm>
            <a:off x="-5863107" y="-8437"/>
            <a:ext cx="13825800" cy="1036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" name="Google Shape;61;p10"/>
          <p:cNvSpPr txBox="1">
            <a:spLocks noGrp="1"/>
          </p:cNvSpPr>
          <p:nvPr>
            <p:ph type="body" idx="1"/>
          </p:nvPr>
        </p:nvSpPr>
        <p:spPr>
          <a:xfrm>
            <a:off x="8521625" y="282705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>
                <a:solidFill>
                  <a:schemeClr val="lt1"/>
                </a:solidFill>
              </a:defRPr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Char char="–"/>
              <a:defRPr sz="2400">
                <a:solidFill>
                  <a:schemeClr val="lt1"/>
                </a:solidFill>
              </a:defRPr>
            </a:lvl2pPr>
            <a:lvl3pPr marL="1371600" lvl="2" indent="-3810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81000" algn="l" rtl="0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400"/>
              <a:buChar char="–"/>
              <a:defRPr sz="2400">
                <a:solidFill>
                  <a:schemeClr val="lt1"/>
                </a:solidFill>
              </a:defRPr>
            </a:lvl4pPr>
            <a:lvl5pPr marL="2286000" lvl="4" indent="-381000" algn="l" rtl="0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400"/>
              <a:buChar char="»"/>
              <a:defRPr sz="2400">
                <a:solidFill>
                  <a:schemeClr val="lt1"/>
                </a:solidFill>
              </a:defRPr>
            </a:lvl5pPr>
            <a:lvl6pPr marL="2743200" lvl="5" indent="-381000" algn="l" rtl="0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>
                <a:solidFill>
                  <a:schemeClr val="lt1"/>
                </a:solidFill>
              </a:defRPr>
            </a:lvl6pPr>
            <a:lvl7pPr marL="3200400" lvl="6" indent="-381000" algn="l" rtl="0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>
                <a:solidFill>
                  <a:schemeClr val="lt1"/>
                </a:solidFill>
              </a:defRPr>
            </a:lvl7pPr>
            <a:lvl8pPr marL="3657600" lvl="7" indent="-381000" algn="l" rtl="0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>
                <a:solidFill>
                  <a:schemeClr val="lt1"/>
                </a:solidFill>
              </a:defRPr>
            </a:lvl8pPr>
            <a:lvl9pPr marL="4114800" lvl="8" indent="-381000" algn="l" rtl="0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7701450" y="823600"/>
            <a:ext cx="141045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None/>
              <a:defRPr sz="75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1750" y="1248913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ira Sans"/>
              <a:buNone/>
              <a:defRPr sz="4400" b="1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2361875" y="370675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ssistant"/>
              <a:buChar char="•"/>
              <a:defRPr sz="320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ssistant"/>
              <a:buChar char="–"/>
              <a:defRPr sz="280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ssistant"/>
              <a:buChar char="•"/>
              <a:defRPr sz="240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ssistant"/>
              <a:buChar char="–"/>
              <a:defRPr sz="200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ssistant"/>
              <a:buChar char="»"/>
              <a:defRPr sz="200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ssistant"/>
              <a:buChar char="•"/>
              <a:defRPr sz="200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ssistant"/>
              <a:buChar char="•"/>
              <a:defRPr sz="200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ssistant"/>
              <a:buChar char="•"/>
              <a:defRPr sz="200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ssistant"/>
              <a:buChar char="•"/>
              <a:defRPr sz="200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5" r:id="rId7"/>
    <p:sldLayoutId id="2147483656" r:id="rId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hyperlink" Target="https://github.com/danielchang2002/tetris_ai.git" TargetMode="External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estebandesmedt/Tetris-AI" TargetMode="External"/><Relationship Id="rId5" Type="http://schemas.openxmlformats.org/officeDocument/2006/relationships/hyperlink" Target="https://www.youtube.com/watch?v=nF_crEtmpBo" TargetMode="External"/><Relationship Id="rId4" Type="http://schemas.openxmlformats.org/officeDocument/2006/relationships/hyperlink" Target="https://codemyroad.wordpress.com/2013/04/14/tetris-ai-the-near-perfect-player/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/>
          <p:nvPr/>
        </p:nvSpPr>
        <p:spPr>
          <a:xfrm>
            <a:off x="16467536" y="4562534"/>
            <a:ext cx="1189609" cy="1312672"/>
          </a:xfrm>
          <a:custGeom>
            <a:avLst/>
            <a:gdLst/>
            <a:ahLst/>
            <a:cxnLst/>
            <a:rect l="l" t="t" r="r" b="b"/>
            <a:pathLst>
              <a:path w="736600" h="812800" extrusionOk="0">
                <a:moveTo>
                  <a:pt x="736600" y="0"/>
                </a:moveTo>
                <a:lnTo>
                  <a:pt x="736600" y="812800"/>
                </a:lnTo>
                <a:lnTo>
                  <a:pt x="368300" y="685800"/>
                </a:lnTo>
                <a:lnTo>
                  <a:pt x="0" y="812800"/>
                </a:lnTo>
                <a:lnTo>
                  <a:pt x="0" y="0"/>
                </a:lnTo>
                <a:lnTo>
                  <a:pt x="736600" y="0"/>
                </a:lnTo>
                <a:close/>
              </a:path>
            </a:pathLst>
          </a:custGeom>
          <a:solidFill>
            <a:srgbClr val="F4C500"/>
          </a:solidFill>
          <a:ln>
            <a:noFill/>
          </a:ln>
        </p:spPr>
        <p:txBody>
          <a:bodyPr/>
          <a:lstStyle/>
          <a:p>
            <a:endParaRPr lang="LID4096"/>
          </a:p>
        </p:txBody>
      </p:sp>
      <p:sp>
        <p:nvSpPr>
          <p:cNvPr id="67" name="Google Shape;67;p11"/>
          <p:cNvSpPr/>
          <p:nvPr/>
        </p:nvSpPr>
        <p:spPr>
          <a:xfrm>
            <a:off x="12348277" y="6542926"/>
            <a:ext cx="2209038" cy="2718816"/>
          </a:xfrm>
          <a:custGeom>
            <a:avLst/>
            <a:gdLst/>
            <a:ahLst/>
            <a:cxnLst/>
            <a:rect l="l" t="t" r="r" b="b"/>
            <a:pathLst>
              <a:path w="660400" h="812800" extrusionOk="0">
                <a:moveTo>
                  <a:pt x="220252" y="19070"/>
                </a:moveTo>
                <a:cubicBezTo>
                  <a:pt x="254000" y="7556"/>
                  <a:pt x="292600" y="0"/>
                  <a:pt x="330378" y="0"/>
                </a:cubicBezTo>
                <a:cubicBezTo>
                  <a:pt x="368157" y="0"/>
                  <a:pt x="404509" y="6476"/>
                  <a:pt x="438009" y="17990"/>
                </a:cubicBezTo>
                <a:cubicBezTo>
                  <a:pt x="438723" y="18350"/>
                  <a:pt x="439435" y="18350"/>
                  <a:pt x="440148" y="18710"/>
                </a:cubicBezTo>
                <a:cubicBezTo>
                  <a:pt x="565955" y="64765"/>
                  <a:pt x="658618" y="186379"/>
                  <a:pt x="660400" y="328502"/>
                </a:cubicBezTo>
                <a:lnTo>
                  <a:pt x="660400" y="812800"/>
                </a:lnTo>
                <a:lnTo>
                  <a:pt x="0" y="812800"/>
                </a:lnTo>
                <a:lnTo>
                  <a:pt x="0" y="328861"/>
                </a:lnTo>
                <a:cubicBezTo>
                  <a:pt x="1782" y="185660"/>
                  <a:pt x="93019" y="64045"/>
                  <a:pt x="220252" y="19070"/>
                </a:cubicBezTo>
                <a:close/>
              </a:path>
            </a:pathLst>
          </a:custGeom>
          <a:solidFill>
            <a:srgbClr val="4BB8B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50" name="Picture 2" descr="Play Tetris® Online for Free on PC &amp; Mobile | now.gg">
            <a:extLst>
              <a:ext uri="{FF2B5EF4-FFF2-40B4-BE49-F238E27FC236}">
                <a16:creationId xmlns:a16="http://schemas.microsoft.com/office/drawing/2014/main" id="{E99F58A5-A278-F7BD-BE55-5C84C4EE4A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73807" y="2705100"/>
            <a:ext cx="4876800" cy="48768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1" name="Google Shape;71;p11"/>
          <p:cNvSpPr/>
          <p:nvPr/>
        </p:nvSpPr>
        <p:spPr>
          <a:xfrm rot="10800000">
            <a:off x="13943448" y="8080058"/>
            <a:ext cx="1548057" cy="1547921"/>
          </a:xfrm>
          <a:custGeom>
            <a:avLst/>
            <a:gdLst/>
            <a:ahLst/>
            <a:cxnLst/>
            <a:rect l="l" t="t" r="r" b="b"/>
            <a:pathLst>
              <a:path w="14400530" h="14399261" extrusionOk="0">
                <a:moveTo>
                  <a:pt x="7199630" y="0"/>
                </a:moveTo>
                <a:cubicBezTo>
                  <a:pt x="3223260" y="0"/>
                  <a:pt x="0" y="3223260"/>
                  <a:pt x="0" y="7199630"/>
                </a:cubicBezTo>
                <a:cubicBezTo>
                  <a:pt x="0" y="11176001"/>
                  <a:pt x="3223260" y="14399261"/>
                  <a:pt x="7199630" y="14399261"/>
                </a:cubicBezTo>
                <a:lnTo>
                  <a:pt x="14399261" y="14399261"/>
                </a:lnTo>
                <a:lnTo>
                  <a:pt x="14399261" y="7199630"/>
                </a:lnTo>
                <a:cubicBezTo>
                  <a:pt x="14400530" y="3223260"/>
                  <a:pt x="11176000" y="0"/>
                  <a:pt x="7199630" y="0"/>
                </a:cubicBezTo>
                <a:close/>
              </a:path>
            </a:pathLst>
          </a:custGeom>
          <a:solidFill>
            <a:srgbClr val="EE60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ctrTitle"/>
          </p:nvPr>
        </p:nvSpPr>
        <p:spPr>
          <a:xfrm>
            <a:off x="1017300" y="3935275"/>
            <a:ext cx="10286700" cy="2246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BE" sz="9900" dirty="0" err="1"/>
              <a:t>Tetris</a:t>
            </a:r>
            <a:r>
              <a:rPr lang="nl-BE" sz="9900" dirty="0"/>
              <a:t> AI</a:t>
            </a:r>
            <a:endParaRPr sz="9900" dirty="0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94DD24C7-FBD7-3F26-9D9C-ABF86400C039}"/>
              </a:ext>
            </a:extLst>
          </p:cNvPr>
          <p:cNvSpPr txBox="1">
            <a:spLocks/>
          </p:cNvSpPr>
          <p:nvPr/>
        </p:nvSpPr>
        <p:spPr>
          <a:xfrm>
            <a:off x="502236" y="8059957"/>
            <a:ext cx="8813259" cy="2246700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nl-BE" sz="2200" dirty="0">
                <a:latin typeface="Fira Sans" panose="020B0503050000020004" pitchFamily="34" charset="0"/>
              </a:rPr>
              <a:t>Elektronica-ICT</a:t>
            </a:r>
          </a:p>
          <a:p>
            <a:r>
              <a:rPr lang="nl-BE" sz="2200" dirty="0">
                <a:latin typeface="Fira Sans" panose="020B0503050000020004" pitchFamily="34" charset="0"/>
              </a:rPr>
              <a:t>AI Programming </a:t>
            </a:r>
          </a:p>
          <a:p>
            <a:endParaRPr lang="nl-BE" sz="2200" dirty="0"/>
          </a:p>
          <a:p>
            <a:r>
              <a:rPr lang="nl-BE" sz="2200" dirty="0"/>
              <a:t>							</a:t>
            </a:r>
            <a:r>
              <a:rPr lang="nl-BE" sz="2200" dirty="0" err="1">
                <a:latin typeface="Fira Sans" panose="020B0503050000020004" pitchFamily="34" charset="0"/>
              </a:rPr>
              <a:t>Esteban</a:t>
            </a:r>
            <a:r>
              <a:rPr lang="nl-BE" sz="2200" dirty="0">
                <a:latin typeface="Fira Sans" panose="020B0503050000020004" pitchFamily="34" charset="0"/>
              </a:rPr>
              <a:t> Desmedt</a:t>
            </a:r>
          </a:p>
          <a:p>
            <a:r>
              <a:rPr lang="nl-BE" sz="2200" dirty="0">
                <a:latin typeface="Fira Sans" panose="020B0503050000020004" pitchFamily="34" charset="0"/>
              </a:rPr>
              <a:t>							Colin Bossuyt</a:t>
            </a:r>
          </a:p>
        </p:txBody>
      </p:sp>
      <p:sp>
        <p:nvSpPr>
          <p:cNvPr id="70" name="Google Shape;70;p11"/>
          <p:cNvSpPr/>
          <p:nvPr/>
        </p:nvSpPr>
        <p:spPr>
          <a:xfrm>
            <a:off x="12192444" y="1120893"/>
            <a:ext cx="1919763" cy="1928368"/>
          </a:xfrm>
          <a:custGeom>
            <a:avLst/>
            <a:gdLst/>
            <a:ahLst/>
            <a:cxnLst/>
            <a:rect l="l" t="t" r="r" b="b"/>
            <a:pathLst>
              <a:path w="809173" h="812800" extrusionOk="0">
                <a:moveTo>
                  <a:pt x="404587" y="0"/>
                </a:moveTo>
                <a:cubicBezTo>
                  <a:pt x="628326" y="1001"/>
                  <a:pt x="809174" y="182659"/>
                  <a:pt x="809174" y="406400"/>
                </a:cubicBezTo>
                <a:cubicBezTo>
                  <a:pt x="809174" y="630141"/>
                  <a:pt x="628326" y="811799"/>
                  <a:pt x="404587" y="812800"/>
                </a:cubicBezTo>
                <a:cubicBezTo>
                  <a:pt x="180848" y="811799"/>
                  <a:pt x="0" y="630141"/>
                  <a:pt x="0" y="406400"/>
                </a:cubicBezTo>
                <a:cubicBezTo>
                  <a:pt x="0" y="182659"/>
                  <a:pt x="180848" y="1001"/>
                  <a:pt x="404587" y="0"/>
                </a:cubicBezTo>
                <a:close/>
              </a:path>
            </a:pathLst>
          </a:custGeom>
          <a:solidFill>
            <a:srgbClr val="A16A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Rechthoek 3">
            <a:extLst>
              <a:ext uri="{FF2B5EF4-FFF2-40B4-BE49-F238E27FC236}">
                <a16:creationId xmlns:a16="http://schemas.microsoft.com/office/drawing/2014/main" id="{50CF7A20-27CD-0E7B-E1F3-4539B3370197}"/>
              </a:ext>
            </a:extLst>
          </p:cNvPr>
          <p:cNvSpPr/>
          <p:nvPr/>
        </p:nvSpPr>
        <p:spPr>
          <a:xfrm>
            <a:off x="17629311" y="9627980"/>
            <a:ext cx="312906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nl-NL" sz="1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16AE8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3"/>
          <p:cNvSpPr txBox="1"/>
          <p:nvPr/>
        </p:nvSpPr>
        <p:spPr>
          <a:xfrm>
            <a:off x="7216160" y="1298575"/>
            <a:ext cx="8986185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 dirty="0" err="1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Inhoud</a:t>
            </a:r>
            <a:endParaRPr dirty="0"/>
          </a:p>
        </p:txBody>
      </p:sp>
      <p:grpSp>
        <p:nvGrpSpPr>
          <p:cNvPr id="106" name="Google Shape;106;p13"/>
          <p:cNvGrpSpPr/>
          <p:nvPr/>
        </p:nvGrpSpPr>
        <p:grpSpPr>
          <a:xfrm>
            <a:off x="5952698" y="7772336"/>
            <a:ext cx="7698139" cy="1954599"/>
            <a:chOff x="0" y="-215291"/>
            <a:chExt cx="10264185" cy="2606133"/>
          </a:xfrm>
        </p:grpSpPr>
        <p:grpSp>
          <p:nvGrpSpPr>
            <p:cNvPr id="107" name="Google Shape;107;p13"/>
            <p:cNvGrpSpPr/>
            <p:nvPr/>
          </p:nvGrpSpPr>
          <p:grpSpPr>
            <a:xfrm>
              <a:off x="0" y="31960"/>
              <a:ext cx="1916592" cy="2358882"/>
              <a:chOff x="0" y="0"/>
              <a:chExt cx="660400" cy="812800"/>
            </a:xfrm>
          </p:grpSpPr>
          <p:sp>
            <p:nvSpPr>
              <p:cNvPr id="108" name="Google Shape;108;p13"/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4BB8B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Google Shape;109;p13"/>
              <p:cNvSpPr txBox="1"/>
              <p:nvPr/>
            </p:nvSpPr>
            <p:spPr>
              <a:xfrm>
                <a:off x="0" y="41275"/>
                <a:ext cx="660400" cy="7715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235555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0" name="Google Shape;110;p13"/>
            <p:cNvGrpSpPr/>
            <p:nvPr/>
          </p:nvGrpSpPr>
          <p:grpSpPr>
            <a:xfrm>
              <a:off x="5253336" y="-215291"/>
              <a:ext cx="2124528" cy="2591558"/>
              <a:chOff x="0" y="-85725"/>
              <a:chExt cx="736600" cy="898525"/>
            </a:xfrm>
          </p:grpSpPr>
          <p:sp>
            <p:nvSpPr>
              <p:cNvPr id="111" name="Google Shape;111;p13"/>
              <p:cNvSpPr/>
              <p:nvPr/>
            </p:nvSpPr>
            <p:spPr>
              <a:xfrm>
                <a:off x="0" y="0"/>
                <a:ext cx="7366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36600" h="812800" extrusionOk="0">
                    <a:moveTo>
                      <a:pt x="736600" y="0"/>
                    </a:moveTo>
                    <a:lnTo>
                      <a:pt x="736600" y="812800"/>
                    </a:lnTo>
                    <a:lnTo>
                      <a:pt x="368300" y="685800"/>
                    </a:lnTo>
                    <a:lnTo>
                      <a:pt x="0" y="812800"/>
                    </a:lnTo>
                    <a:lnTo>
                      <a:pt x="0" y="0"/>
                    </a:lnTo>
                    <a:lnTo>
                      <a:pt x="736600" y="0"/>
                    </a:lnTo>
                    <a:close/>
                  </a:path>
                </a:pathLst>
              </a:custGeom>
              <a:solidFill>
                <a:srgbClr val="F4C500"/>
              </a:solidFill>
              <a:ln>
                <a:noFill/>
              </a:ln>
            </p:spPr>
            <p:txBody>
              <a:bodyPr/>
              <a:lstStyle/>
              <a:p>
                <a:endParaRPr lang="LID4096"/>
              </a:p>
            </p:txBody>
          </p:sp>
          <p:sp>
            <p:nvSpPr>
              <p:cNvPr id="112" name="Google Shape;112;p13"/>
              <p:cNvSpPr txBox="1"/>
              <p:nvPr/>
            </p:nvSpPr>
            <p:spPr>
              <a:xfrm>
                <a:off x="0" y="-85725"/>
                <a:ext cx="736600" cy="7715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235555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3" name="Google Shape;113;p13"/>
            <p:cNvGrpSpPr/>
            <p:nvPr/>
          </p:nvGrpSpPr>
          <p:grpSpPr>
            <a:xfrm>
              <a:off x="2418039" y="4488"/>
              <a:ext cx="2333846" cy="2371779"/>
              <a:chOff x="1813" y="-9525"/>
              <a:chExt cx="809173" cy="822325"/>
            </a:xfrm>
          </p:grpSpPr>
          <p:sp>
            <p:nvSpPr>
              <p:cNvPr id="114" name="Google Shape;114;p13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" name="Google Shape;115;p13"/>
              <p:cNvSpPr txBox="1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235555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6" name="Google Shape;116;p13"/>
            <p:cNvSpPr/>
            <p:nvPr/>
          </p:nvSpPr>
          <p:spPr>
            <a:xfrm rot="10779982">
              <a:off x="7880981" y="7107"/>
              <a:ext cx="2376307" cy="2376098"/>
            </a:xfrm>
            <a:custGeom>
              <a:avLst/>
              <a:gdLst/>
              <a:ahLst/>
              <a:cxnLst/>
              <a:rect l="l" t="t" r="r" b="b"/>
              <a:pathLst>
                <a:path w="14400530" h="14399261" extrusionOk="0">
                  <a:moveTo>
                    <a:pt x="7199630" y="0"/>
                  </a:moveTo>
                  <a:cubicBezTo>
                    <a:pt x="3223260" y="0"/>
                    <a:pt x="0" y="3223260"/>
                    <a:pt x="0" y="7199630"/>
                  </a:cubicBezTo>
                  <a:cubicBezTo>
                    <a:pt x="0" y="11176001"/>
                    <a:pt x="3223260" y="14399261"/>
                    <a:pt x="7199630" y="14399261"/>
                  </a:cubicBezTo>
                  <a:lnTo>
                    <a:pt x="14399261" y="14399261"/>
                  </a:lnTo>
                  <a:lnTo>
                    <a:pt x="14399261" y="7199630"/>
                  </a:lnTo>
                  <a:cubicBezTo>
                    <a:pt x="14400530" y="3223260"/>
                    <a:pt x="11176000" y="0"/>
                    <a:pt x="7199630" y="0"/>
                  </a:cubicBezTo>
                  <a:close/>
                </a:path>
              </a:pathLst>
            </a:custGeom>
            <a:solidFill>
              <a:srgbClr val="EE60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7" name="Google Shape;117;p13"/>
          <p:cNvGrpSpPr/>
          <p:nvPr/>
        </p:nvGrpSpPr>
        <p:grpSpPr>
          <a:xfrm>
            <a:off x="7206635" y="3132035"/>
            <a:ext cx="5514870" cy="2784130"/>
            <a:chOff x="0" y="0"/>
            <a:chExt cx="7353160" cy="3712173"/>
          </a:xfrm>
        </p:grpSpPr>
        <p:sp>
          <p:nvSpPr>
            <p:cNvPr id="118" name="Google Shape;118;p13"/>
            <p:cNvSpPr txBox="1"/>
            <p:nvPr/>
          </p:nvSpPr>
          <p:spPr>
            <a:xfrm>
              <a:off x="0" y="948949"/>
              <a:ext cx="7353160" cy="861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755651" marR="0" lvl="1" indent="-377825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500"/>
                <a:buFont typeface="Arial"/>
                <a:buChar char="•"/>
              </a:pPr>
              <a:r>
                <a:rPr lang="en-US" sz="3500" b="0" i="0" u="none" strike="noStrike" cap="none" dirty="0" err="1">
                  <a:solidFill>
                    <a:srgbClr val="FFFFFF"/>
                  </a:solidFill>
                  <a:latin typeface="Assistant"/>
                  <a:ea typeface="Assistant"/>
                  <a:cs typeface="Assistant"/>
                  <a:sym typeface="Assistant"/>
                </a:rPr>
                <a:t>Probleemstelling</a:t>
              </a:r>
              <a:endParaRPr dirty="0"/>
            </a:p>
          </p:txBody>
        </p:sp>
        <p:sp>
          <p:nvSpPr>
            <p:cNvPr id="119" name="Google Shape;119;p13"/>
            <p:cNvSpPr txBox="1"/>
            <p:nvPr/>
          </p:nvSpPr>
          <p:spPr>
            <a:xfrm>
              <a:off x="0" y="0"/>
              <a:ext cx="6644875" cy="861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755651" marR="0" lvl="1" indent="-377825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500"/>
                <a:buFont typeface="Arial"/>
                <a:buChar char="•"/>
              </a:pPr>
              <a:r>
                <a:rPr lang="en-US" sz="3500" b="0" i="0" u="none" strike="noStrike" cap="none" dirty="0" err="1">
                  <a:solidFill>
                    <a:srgbClr val="FFFFFF"/>
                  </a:solidFill>
                  <a:latin typeface="Assistant"/>
                  <a:ea typeface="Assistant"/>
                  <a:cs typeface="Assistant"/>
                  <a:sym typeface="Assistant"/>
                </a:rPr>
                <a:t>Doelstellingen</a:t>
              </a:r>
              <a:endParaRPr dirty="0"/>
            </a:p>
          </p:txBody>
        </p:sp>
        <p:sp>
          <p:nvSpPr>
            <p:cNvPr id="120" name="Google Shape;120;p13"/>
            <p:cNvSpPr txBox="1"/>
            <p:nvPr/>
          </p:nvSpPr>
          <p:spPr>
            <a:xfrm>
              <a:off x="0" y="2850398"/>
              <a:ext cx="7353160" cy="861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755651" marR="0" lvl="1" indent="-377825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500"/>
                <a:buFont typeface="Arial"/>
                <a:buChar char="•"/>
              </a:pPr>
              <a:r>
                <a:rPr lang="en-US" sz="3500" b="0" i="0" u="none" strike="noStrike" cap="none" dirty="0" err="1">
                  <a:solidFill>
                    <a:srgbClr val="FFFFFF"/>
                  </a:solidFill>
                  <a:latin typeface="Assistant"/>
                  <a:ea typeface="Assistant"/>
                  <a:cs typeface="Assistant"/>
                  <a:sym typeface="Assistant"/>
                </a:rPr>
                <a:t>Resultaat</a:t>
              </a:r>
              <a:endParaRPr dirty="0"/>
            </a:p>
          </p:txBody>
        </p:sp>
        <p:sp>
          <p:nvSpPr>
            <p:cNvPr id="121" name="Google Shape;121;p13"/>
            <p:cNvSpPr txBox="1"/>
            <p:nvPr/>
          </p:nvSpPr>
          <p:spPr>
            <a:xfrm>
              <a:off x="0" y="1901449"/>
              <a:ext cx="6644875" cy="861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755651" marR="0" lvl="1" indent="-377825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500"/>
                <a:buFont typeface="Arial"/>
                <a:buChar char="•"/>
              </a:pPr>
              <a:r>
                <a:rPr lang="en-US" sz="3500" b="0" i="0" u="none" strike="noStrike" cap="none" dirty="0" err="1">
                  <a:solidFill>
                    <a:srgbClr val="FFFFFF"/>
                  </a:solidFill>
                  <a:latin typeface="Assistant"/>
                  <a:ea typeface="Assistant"/>
                  <a:cs typeface="Assistant"/>
                  <a:sym typeface="Assistant"/>
                </a:rPr>
                <a:t>Analyse</a:t>
              </a:r>
              <a:endParaRPr dirty="0"/>
            </a:p>
          </p:txBody>
        </p:sp>
      </p:grpSp>
      <p:sp>
        <p:nvSpPr>
          <p:cNvPr id="122" name="Google Shape;122;p13"/>
          <p:cNvSpPr/>
          <p:nvPr/>
        </p:nvSpPr>
        <p:spPr>
          <a:xfrm>
            <a:off x="7503712" y="3197237"/>
            <a:ext cx="307086" cy="377952"/>
          </a:xfrm>
          <a:custGeom>
            <a:avLst/>
            <a:gdLst/>
            <a:ahLst/>
            <a:cxnLst/>
            <a:rect l="l" t="t" r="r" b="b"/>
            <a:pathLst>
              <a:path w="660400" h="812800" extrusionOk="0">
                <a:moveTo>
                  <a:pt x="220252" y="19070"/>
                </a:moveTo>
                <a:cubicBezTo>
                  <a:pt x="254000" y="7556"/>
                  <a:pt x="292600" y="0"/>
                  <a:pt x="330378" y="0"/>
                </a:cubicBezTo>
                <a:cubicBezTo>
                  <a:pt x="368157" y="0"/>
                  <a:pt x="404509" y="6476"/>
                  <a:pt x="438009" y="17990"/>
                </a:cubicBezTo>
                <a:cubicBezTo>
                  <a:pt x="438723" y="18350"/>
                  <a:pt x="439435" y="18350"/>
                  <a:pt x="440148" y="18710"/>
                </a:cubicBezTo>
                <a:cubicBezTo>
                  <a:pt x="565955" y="64765"/>
                  <a:pt x="658618" y="186379"/>
                  <a:pt x="660400" y="328502"/>
                </a:cubicBezTo>
                <a:lnTo>
                  <a:pt x="660400" y="812800"/>
                </a:lnTo>
                <a:lnTo>
                  <a:pt x="0" y="812800"/>
                </a:lnTo>
                <a:lnTo>
                  <a:pt x="0" y="328861"/>
                </a:lnTo>
                <a:cubicBezTo>
                  <a:pt x="1782" y="185660"/>
                  <a:pt x="93019" y="64045"/>
                  <a:pt x="220252" y="19070"/>
                </a:cubicBezTo>
                <a:close/>
              </a:path>
            </a:pathLst>
          </a:custGeom>
          <a:solidFill>
            <a:srgbClr val="4BB8B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13"/>
          <p:cNvSpPr/>
          <p:nvPr/>
        </p:nvSpPr>
        <p:spPr>
          <a:xfrm>
            <a:off x="7504344" y="4638311"/>
            <a:ext cx="340677" cy="375920"/>
          </a:xfrm>
          <a:custGeom>
            <a:avLst/>
            <a:gdLst/>
            <a:ahLst/>
            <a:cxnLst/>
            <a:rect l="l" t="t" r="r" b="b"/>
            <a:pathLst>
              <a:path w="736600" h="812800" extrusionOk="0">
                <a:moveTo>
                  <a:pt x="736600" y="0"/>
                </a:moveTo>
                <a:lnTo>
                  <a:pt x="736600" y="812800"/>
                </a:lnTo>
                <a:lnTo>
                  <a:pt x="368300" y="685800"/>
                </a:lnTo>
                <a:lnTo>
                  <a:pt x="0" y="812800"/>
                </a:lnTo>
                <a:lnTo>
                  <a:pt x="0" y="0"/>
                </a:lnTo>
                <a:lnTo>
                  <a:pt x="736600" y="0"/>
                </a:lnTo>
                <a:close/>
              </a:path>
            </a:pathLst>
          </a:custGeom>
          <a:solidFill>
            <a:srgbClr val="F4C500"/>
          </a:solidFill>
          <a:ln>
            <a:noFill/>
          </a:ln>
        </p:spPr>
        <p:txBody>
          <a:bodyPr/>
          <a:lstStyle/>
          <a:p>
            <a:endParaRPr lang="LID4096"/>
          </a:p>
        </p:txBody>
      </p:sp>
      <p:sp>
        <p:nvSpPr>
          <p:cNvPr id="124" name="Google Shape;124;p13"/>
          <p:cNvSpPr/>
          <p:nvPr/>
        </p:nvSpPr>
        <p:spPr>
          <a:xfrm>
            <a:off x="7470635" y="3918940"/>
            <a:ext cx="374243" cy="375920"/>
          </a:xfrm>
          <a:custGeom>
            <a:avLst/>
            <a:gdLst/>
            <a:ahLst/>
            <a:cxnLst/>
            <a:rect l="l" t="t" r="r" b="b"/>
            <a:pathLst>
              <a:path w="809173" h="812800" extrusionOk="0">
                <a:moveTo>
                  <a:pt x="404587" y="0"/>
                </a:moveTo>
                <a:cubicBezTo>
                  <a:pt x="628326" y="1001"/>
                  <a:pt x="809174" y="182659"/>
                  <a:pt x="809174" y="406400"/>
                </a:cubicBezTo>
                <a:cubicBezTo>
                  <a:pt x="809174" y="630141"/>
                  <a:pt x="628326" y="811799"/>
                  <a:pt x="404587" y="812800"/>
                </a:cubicBezTo>
                <a:cubicBezTo>
                  <a:pt x="180848" y="811799"/>
                  <a:pt x="0" y="630141"/>
                  <a:pt x="0" y="406400"/>
                </a:cubicBezTo>
                <a:cubicBezTo>
                  <a:pt x="0" y="182659"/>
                  <a:pt x="180848" y="1001"/>
                  <a:pt x="404587" y="0"/>
                </a:cubicBezTo>
                <a:close/>
              </a:path>
            </a:pathLst>
          </a:custGeom>
          <a:solidFill>
            <a:srgbClr val="EE60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13"/>
          <p:cNvSpPr/>
          <p:nvPr/>
        </p:nvSpPr>
        <p:spPr>
          <a:xfrm rot="10800000">
            <a:off x="7456339" y="5342043"/>
            <a:ext cx="396015" cy="395980"/>
          </a:xfrm>
          <a:custGeom>
            <a:avLst/>
            <a:gdLst/>
            <a:ahLst/>
            <a:cxnLst/>
            <a:rect l="l" t="t" r="r" b="b"/>
            <a:pathLst>
              <a:path w="14400530" h="14399261" extrusionOk="0">
                <a:moveTo>
                  <a:pt x="7199630" y="0"/>
                </a:moveTo>
                <a:cubicBezTo>
                  <a:pt x="3223260" y="0"/>
                  <a:pt x="0" y="3223260"/>
                  <a:pt x="0" y="7199630"/>
                </a:cubicBezTo>
                <a:cubicBezTo>
                  <a:pt x="0" y="11176001"/>
                  <a:pt x="3223260" y="14399261"/>
                  <a:pt x="7199630" y="14399261"/>
                </a:cubicBezTo>
                <a:lnTo>
                  <a:pt x="14399261" y="14399261"/>
                </a:lnTo>
                <a:lnTo>
                  <a:pt x="14399261" y="7199630"/>
                </a:lnTo>
                <a:cubicBezTo>
                  <a:pt x="14400530" y="3223260"/>
                  <a:pt x="11176000" y="0"/>
                  <a:pt x="7199630" y="0"/>
                </a:cubicBezTo>
                <a:close/>
              </a:path>
            </a:pathLst>
          </a:custGeom>
          <a:solidFill>
            <a:srgbClr val="EE60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122;p13">
            <a:extLst>
              <a:ext uri="{FF2B5EF4-FFF2-40B4-BE49-F238E27FC236}">
                <a16:creationId xmlns:a16="http://schemas.microsoft.com/office/drawing/2014/main" id="{11463966-BD07-0C3B-6537-8ACD00A96491}"/>
              </a:ext>
            </a:extLst>
          </p:cNvPr>
          <p:cNvSpPr/>
          <p:nvPr/>
        </p:nvSpPr>
        <p:spPr>
          <a:xfrm>
            <a:off x="11540011" y="3171673"/>
            <a:ext cx="307086" cy="377952"/>
          </a:xfrm>
          <a:custGeom>
            <a:avLst/>
            <a:gdLst/>
            <a:ahLst/>
            <a:cxnLst/>
            <a:rect l="l" t="t" r="r" b="b"/>
            <a:pathLst>
              <a:path w="660400" h="812800" extrusionOk="0">
                <a:moveTo>
                  <a:pt x="220252" y="19070"/>
                </a:moveTo>
                <a:cubicBezTo>
                  <a:pt x="254000" y="7556"/>
                  <a:pt x="292600" y="0"/>
                  <a:pt x="330378" y="0"/>
                </a:cubicBezTo>
                <a:cubicBezTo>
                  <a:pt x="368157" y="0"/>
                  <a:pt x="404509" y="6476"/>
                  <a:pt x="438009" y="17990"/>
                </a:cubicBezTo>
                <a:cubicBezTo>
                  <a:pt x="438723" y="18350"/>
                  <a:pt x="439435" y="18350"/>
                  <a:pt x="440148" y="18710"/>
                </a:cubicBezTo>
                <a:cubicBezTo>
                  <a:pt x="565955" y="64765"/>
                  <a:pt x="658618" y="186379"/>
                  <a:pt x="660400" y="328502"/>
                </a:cubicBezTo>
                <a:lnTo>
                  <a:pt x="660400" y="812800"/>
                </a:lnTo>
                <a:lnTo>
                  <a:pt x="0" y="812800"/>
                </a:lnTo>
                <a:lnTo>
                  <a:pt x="0" y="328861"/>
                </a:lnTo>
                <a:cubicBezTo>
                  <a:pt x="1782" y="185660"/>
                  <a:pt x="93019" y="64045"/>
                  <a:pt x="220252" y="19070"/>
                </a:cubicBezTo>
                <a:close/>
              </a:path>
            </a:pathLst>
          </a:custGeom>
          <a:solidFill>
            <a:srgbClr val="4BB8B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119;p13">
            <a:extLst>
              <a:ext uri="{FF2B5EF4-FFF2-40B4-BE49-F238E27FC236}">
                <a16:creationId xmlns:a16="http://schemas.microsoft.com/office/drawing/2014/main" id="{352FD049-E9B2-60FD-1CAD-B3A4F5601859}"/>
              </a:ext>
            </a:extLst>
          </p:cNvPr>
          <p:cNvSpPr txBox="1"/>
          <p:nvPr/>
        </p:nvSpPr>
        <p:spPr>
          <a:xfrm>
            <a:off x="11159010" y="3132035"/>
            <a:ext cx="4983656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77826" marR="0" lvl="1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</a:pPr>
            <a:r>
              <a:rPr lang="en-US" sz="3500" b="0" i="0" u="none" strike="noStrike" cap="none" dirty="0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	</a:t>
            </a:r>
            <a:r>
              <a:rPr lang="en-US" sz="3500" b="0" i="0" u="none" strike="noStrike" cap="none" dirty="0" err="1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Uitbreiding</a:t>
            </a:r>
            <a:endParaRPr dirty="0"/>
          </a:p>
        </p:txBody>
      </p:sp>
      <p:sp>
        <p:nvSpPr>
          <p:cNvPr id="5" name="Google Shape;124;p13">
            <a:extLst>
              <a:ext uri="{FF2B5EF4-FFF2-40B4-BE49-F238E27FC236}">
                <a16:creationId xmlns:a16="http://schemas.microsoft.com/office/drawing/2014/main" id="{174931C7-EF07-49FB-7A8F-D1DC66A4C443}"/>
              </a:ext>
            </a:extLst>
          </p:cNvPr>
          <p:cNvSpPr/>
          <p:nvPr/>
        </p:nvSpPr>
        <p:spPr>
          <a:xfrm>
            <a:off x="11486096" y="3864464"/>
            <a:ext cx="374243" cy="375920"/>
          </a:xfrm>
          <a:custGeom>
            <a:avLst/>
            <a:gdLst/>
            <a:ahLst/>
            <a:cxnLst/>
            <a:rect l="l" t="t" r="r" b="b"/>
            <a:pathLst>
              <a:path w="809173" h="812800" extrusionOk="0">
                <a:moveTo>
                  <a:pt x="404587" y="0"/>
                </a:moveTo>
                <a:cubicBezTo>
                  <a:pt x="628326" y="1001"/>
                  <a:pt x="809174" y="182659"/>
                  <a:pt x="809174" y="406400"/>
                </a:cubicBezTo>
                <a:cubicBezTo>
                  <a:pt x="809174" y="630141"/>
                  <a:pt x="628326" y="811799"/>
                  <a:pt x="404587" y="812800"/>
                </a:cubicBezTo>
                <a:cubicBezTo>
                  <a:pt x="180848" y="811799"/>
                  <a:pt x="0" y="630141"/>
                  <a:pt x="0" y="406400"/>
                </a:cubicBezTo>
                <a:cubicBezTo>
                  <a:pt x="0" y="182659"/>
                  <a:pt x="180848" y="1001"/>
                  <a:pt x="404587" y="0"/>
                </a:cubicBezTo>
                <a:close/>
              </a:path>
            </a:pathLst>
          </a:custGeom>
          <a:solidFill>
            <a:srgbClr val="EE60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" name="Google Shape;119;p13">
            <a:extLst>
              <a:ext uri="{FF2B5EF4-FFF2-40B4-BE49-F238E27FC236}">
                <a16:creationId xmlns:a16="http://schemas.microsoft.com/office/drawing/2014/main" id="{235750F1-EBA6-1CA7-4766-50896D359142}"/>
              </a:ext>
            </a:extLst>
          </p:cNvPr>
          <p:cNvSpPr txBox="1"/>
          <p:nvPr/>
        </p:nvSpPr>
        <p:spPr>
          <a:xfrm>
            <a:off x="11159010" y="3786729"/>
            <a:ext cx="4983656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77826" marR="0" lvl="1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</a:pPr>
            <a:r>
              <a:rPr lang="en-US" sz="3500" b="0" i="0" u="none" strike="noStrike" cap="none" dirty="0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	</a:t>
            </a:r>
            <a:r>
              <a:rPr lang="en-US" sz="3500" b="0" i="0" u="none" strike="noStrike" cap="none" dirty="0" err="1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Conclusie</a:t>
            </a:r>
            <a:endParaRPr dirty="0"/>
          </a:p>
        </p:txBody>
      </p:sp>
      <p:sp>
        <p:nvSpPr>
          <p:cNvPr id="7" name="Google Shape;123;p13">
            <a:extLst>
              <a:ext uri="{FF2B5EF4-FFF2-40B4-BE49-F238E27FC236}">
                <a16:creationId xmlns:a16="http://schemas.microsoft.com/office/drawing/2014/main" id="{410986D2-936A-EF18-F53A-BBD07FADD4AC}"/>
              </a:ext>
            </a:extLst>
          </p:cNvPr>
          <p:cNvSpPr/>
          <p:nvPr/>
        </p:nvSpPr>
        <p:spPr>
          <a:xfrm>
            <a:off x="11488452" y="4646826"/>
            <a:ext cx="340677" cy="375920"/>
          </a:xfrm>
          <a:custGeom>
            <a:avLst/>
            <a:gdLst/>
            <a:ahLst/>
            <a:cxnLst/>
            <a:rect l="l" t="t" r="r" b="b"/>
            <a:pathLst>
              <a:path w="736600" h="812800" extrusionOk="0">
                <a:moveTo>
                  <a:pt x="736600" y="0"/>
                </a:moveTo>
                <a:lnTo>
                  <a:pt x="736600" y="812800"/>
                </a:lnTo>
                <a:lnTo>
                  <a:pt x="368300" y="685800"/>
                </a:lnTo>
                <a:lnTo>
                  <a:pt x="0" y="812800"/>
                </a:lnTo>
                <a:lnTo>
                  <a:pt x="0" y="0"/>
                </a:lnTo>
                <a:lnTo>
                  <a:pt x="736600" y="0"/>
                </a:lnTo>
                <a:close/>
              </a:path>
            </a:pathLst>
          </a:custGeom>
          <a:solidFill>
            <a:srgbClr val="F4C500"/>
          </a:solidFill>
          <a:ln>
            <a:noFill/>
          </a:ln>
        </p:spPr>
        <p:txBody>
          <a:bodyPr/>
          <a:lstStyle/>
          <a:p>
            <a:endParaRPr lang="LID4096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A84276D-7417-3813-D73B-099F00EAE4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878" y="255402"/>
            <a:ext cx="6410542" cy="444891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Google Shape;119;p13">
            <a:extLst>
              <a:ext uri="{FF2B5EF4-FFF2-40B4-BE49-F238E27FC236}">
                <a16:creationId xmlns:a16="http://schemas.microsoft.com/office/drawing/2014/main" id="{63F12F47-9406-1743-85A8-7E3E3C2A01BD}"/>
              </a:ext>
            </a:extLst>
          </p:cNvPr>
          <p:cNvSpPr txBox="1"/>
          <p:nvPr/>
        </p:nvSpPr>
        <p:spPr>
          <a:xfrm>
            <a:off x="11159010" y="4618498"/>
            <a:ext cx="4983656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77826" marR="0" lvl="1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</a:pPr>
            <a:r>
              <a:rPr lang="en-US" sz="3500" b="0" i="0" u="none" strike="noStrike" cap="none" dirty="0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	</a:t>
            </a:r>
            <a:r>
              <a:rPr lang="en-US" sz="3500" b="0" i="0" u="none" strike="noStrike" cap="none" dirty="0" err="1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Bibliografie</a:t>
            </a:r>
            <a:endParaRPr dirty="0"/>
          </a:p>
        </p:txBody>
      </p:sp>
      <p:sp>
        <p:nvSpPr>
          <p:cNvPr id="3" name="Rechthoek 2">
            <a:extLst>
              <a:ext uri="{FF2B5EF4-FFF2-40B4-BE49-F238E27FC236}">
                <a16:creationId xmlns:a16="http://schemas.microsoft.com/office/drawing/2014/main" id="{AB5A3A64-00F0-8B1E-38A5-2F2FBBBC014B}"/>
              </a:ext>
            </a:extLst>
          </p:cNvPr>
          <p:cNvSpPr/>
          <p:nvPr/>
        </p:nvSpPr>
        <p:spPr>
          <a:xfrm>
            <a:off x="17629310" y="9627980"/>
            <a:ext cx="312907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nl-NL" sz="1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  <a:endParaRPr lang="nl-NL" sz="1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4"/>
          <p:cNvSpPr txBox="1">
            <a:spLocks noGrp="1"/>
          </p:cNvSpPr>
          <p:nvPr>
            <p:ph type="title"/>
          </p:nvPr>
        </p:nvSpPr>
        <p:spPr>
          <a:xfrm>
            <a:off x="1010175" y="764650"/>
            <a:ext cx="9462000" cy="1143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>
                <a:latin typeface="Fira Sans"/>
                <a:ea typeface="Fira Sans"/>
                <a:cs typeface="Fira Sans"/>
                <a:sym typeface="Fira Sans"/>
              </a:rPr>
              <a:t>Doelstellingen</a:t>
            </a:r>
            <a:endParaRPr dirty="0"/>
          </a:p>
        </p:txBody>
      </p:sp>
      <p:pic>
        <p:nvPicPr>
          <p:cNvPr id="131" name="Google Shape;131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2296" y="6027074"/>
            <a:ext cx="3737441" cy="1868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10783164">
            <a:off x="4280392" y="4168848"/>
            <a:ext cx="3737441" cy="1868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450765" y="6017549"/>
            <a:ext cx="3737441" cy="1868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10783164">
            <a:off x="10628861" y="4168848"/>
            <a:ext cx="3737441" cy="1868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808780" y="6008024"/>
            <a:ext cx="3737441" cy="186872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6" name="Google Shape;136;p14"/>
          <p:cNvGrpSpPr/>
          <p:nvPr/>
        </p:nvGrpSpPr>
        <p:grpSpPr>
          <a:xfrm>
            <a:off x="8815676" y="6879913"/>
            <a:ext cx="1067769" cy="1314178"/>
            <a:chOff x="0" y="0"/>
            <a:chExt cx="660400" cy="812800"/>
          </a:xfrm>
        </p:grpSpPr>
        <p:sp>
          <p:nvSpPr>
            <p:cNvPr id="137" name="Google Shape;137;p14"/>
            <p:cNvSpPr/>
            <p:nvPr/>
          </p:nvSpPr>
          <p:spPr>
            <a:xfrm>
              <a:off x="0" y="0"/>
              <a:ext cx="660400" cy="812800"/>
            </a:xfrm>
            <a:custGeom>
              <a:avLst/>
              <a:gdLst/>
              <a:ahLst/>
              <a:cxnLst/>
              <a:rect l="l" t="t" r="r" b="b"/>
              <a:pathLst>
                <a:path w="660400" h="812800" extrusionOk="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28502"/>
                  </a:cubicBezTo>
                  <a:lnTo>
                    <a:pt x="660400" y="812800"/>
                  </a:lnTo>
                  <a:lnTo>
                    <a:pt x="0" y="812800"/>
                  </a:lnTo>
                  <a:lnTo>
                    <a:pt x="0" y="328861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4BB8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14"/>
            <p:cNvSpPr txBox="1"/>
            <p:nvPr/>
          </p:nvSpPr>
          <p:spPr>
            <a:xfrm>
              <a:off x="0" y="60325"/>
              <a:ext cx="660400" cy="7524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7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9" name="Google Shape;139;p14"/>
          <p:cNvGrpSpPr/>
          <p:nvPr/>
        </p:nvGrpSpPr>
        <p:grpSpPr>
          <a:xfrm>
            <a:off x="2380366" y="6780895"/>
            <a:ext cx="1183615" cy="1413196"/>
            <a:chOff x="0" y="-66675"/>
            <a:chExt cx="736600" cy="879475"/>
          </a:xfrm>
        </p:grpSpPr>
        <p:sp>
          <p:nvSpPr>
            <p:cNvPr id="140" name="Google Shape;140;p14"/>
            <p:cNvSpPr/>
            <p:nvPr/>
          </p:nvSpPr>
          <p:spPr>
            <a:xfrm>
              <a:off x="0" y="0"/>
              <a:ext cx="736600" cy="812800"/>
            </a:xfrm>
            <a:custGeom>
              <a:avLst/>
              <a:gdLst/>
              <a:ahLst/>
              <a:cxnLst/>
              <a:rect l="l" t="t" r="r" b="b"/>
              <a:pathLst>
                <a:path w="736600" h="812800" extrusionOk="0">
                  <a:moveTo>
                    <a:pt x="736600" y="0"/>
                  </a:moveTo>
                  <a:lnTo>
                    <a:pt x="736600" y="812800"/>
                  </a:lnTo>
                  <a:lnTo>
                    <a:pt x="368300" y="685800"/>
                  </a:lnTo>
                  <a:lnTo>
                    <a:pt x="0" y="812800"/>
                  </a:lnTo>
                  <a:lnTo>
                    <a:pt x="0" y="0"/>
                  </a:lnTo>
                  <a:lnTo>
                    <a:pt x="736600" y="0"/>
                  </a:lnTo>
                  <a:close/>
                </a:path>
              </a:pathLst>
            </a:custGeom>
            <a:solidFill>
              <a:srgbClr val="F4C500"/>
            </a:solidFill>
            <a:ln>
              <a:noFill/>
            </a:ln>
          </p:spPr>
          <p:txBody>
            <a:bodyPr/>
            <a:lstStyle/>
            <a:p>
              <a:endParaRPr lang="LID4096"/>
            </a:p>
          </p:txBody>
        </p:sp>
        <p:sp>
          <p:nvSpPr>
            <p:cNvPr id="141" name="Google Shape;141;p14"/>
            <p:cNvSpPr txBox="1"/>
            <p:nvPr/>
          </p:nvSpPr>
          <p:spPr>
            <a:xfrm>
              <a:off x="0" y="-66675"/>
              <a:ext cx="736600" cy="7524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7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2" name="Google Shape;142;p14"/>
          <p:cNvGrpSpPr/>
          <p:nvPr/>
        </p:nvGrpSpPr>
        <p:grpSpPr>
          <a:xfrm>
            <a:off x="5474996" y="3821164"/>
            <a:ext cx="1300230" cy="1306058"/>
            <a:chOff x="1813" y="0"/>
            <a:chExt cx="809173" cy="812800"/>
          </a:xfrm>
        </p:grpSpPr>
        <p:sp>
          <p:nvSpPr>
            <p:cNvPr id="143" name="Google Shape;143;p14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EE60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14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7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5" name="Google Shape;145;p14"/>
          <p:cNvSpPr/>
          <p:nvPr/>
        </p:nvSpPr>
        <p:spPr>
          <a:xfrm rot="10779982">
            <a:off x="11969823" y="3900420"/>
            <a:ext cx="1323885" cy="1323768"/>
          </a:xfrm>
          <a:custGeom>
            <a:avLst/>
            <a:gdLst/>
            <a:ahLst/>
            <a:cxnLst/>
            <a:rect l="l" t="t" r="r" b="b"/>
            <a:pathLst>
              <a:path w="14400530" h="14399261" extrusionOk="0">
                <a:moveTo>
                  <a:pt x="7199630" y="0"/>
                </a:moveTo>
                <a:cubicBezTo>
                  <a:pt x="3223260" y="0"/>
                  <a:pt x="0" y="3223260"/>
                  <a:pt x="0" y="7199630"/>
                </a:cubicBezTo>
                <a:cubicBezTo>
                  <a:pt x="0" y="11176001"/>
                  <a:pt x="3223260" y="14399261"/>
                  <a:pt x="7199630" y="14399261"/>
                </a:cubicBezTo>
                <a:lnTo>
                  <a:pt x="14399261" y="14399261"/>
                </a:lnTo>
                <a:lnTo>
                  <a:pt x="14399261" y="7199630"/>
                </a:lnTo>
                <a:cubicBezTo>
                  <a:pt x="14400530" y="3223260"/>
                  <a:pt x="11176000" y="0"/>
                  <a:pt x="7199630" y="0"/>
                </a:cubicBezTo>
                <a:close/>
              </a:path>
            </a:pathLst>
          </a:custGeom>
          <a:solidFill>
            <a:srgbClr val="A16A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6" name="Google Shape;146;p14"/>
          <p:cNvGrpSpPr/>
          <p:nvPr/>
        </p:nvGrpSpPr>
        <p:grpSpPr>
          <a:xfrm>
            <a:off x="15161430" y="6702301"/>
            <a:ext cx="1183615" cy="1413196"/>
            <a:chOff x="0" y="-66675"/>
            <a:chExt cx="736600" cy="879475"/>
          </a:xfrm>
        </p:grpSpPr>
        <p:sp>
          <p:nvSpPr>
            <p:cNvPr id="147" name="Google Shape;147;p14"/>
            <p:cNvSpPr/>
            <p:nvPr/>
          </p:nvSpPr>
          <p:spPr>
            <a:xfrm>
              <a:off x="0" y="0"/>
              <a:ext cx="736600" cy="812800"/>
            </a:xfrm>
            <a:custGeom>
              <a:avLst/>
              <a:gdLst/>
              <a:ahLst/>
              <a:cxnLst/>
              <a:rect l="l" t="t" r="r" b="b"/>
              <a:pathLst>
                <a:path w="736600" h="812800" extrusionOk="0">
                  <a:moveTo>
                    <a:pt x="736600" y="0"/>
                  </a:moveTo>
                  <a:lnTo>
                    <a:pt x="736600" y="812800"/>
                  </a:lnTo>
                  <a:lnTo>
                    <a:pt x="368300" y="685800"/>
                  </a:lnTo>
                  <a:lnTo>
                    <a:pt x="0" y="812800"/>
                  </a:lnTo>
                  <a:lnTo>
                    <a:pt x="0" y="0"/>
                  </a:lnTo>
                  <a:lnTo>
                    <a:pt x="736600" y="0"/>
                  </a:lnTo>
                  <a:close/>
                </a:path>
              </a:pathLst>
            </a:custGeom>
            <a:solidFill>
              <a:srgbClr val="EE604A"/>
            </a:solidFill>
            <a:ln>
              <a:noFill/>
            </a:ln>
          </p:spPr>
          <p:txBody>
            <a:bodyPr/>
            <a:lstStyle/>
            <a:p>
              <a:endParaRPr lang="LID4096"/>
            </a:p>
          </p:txBody>
        </p:sp>
        <p:sp>
          <p:nvSpPr>
            <p:cNvPr id="148" name="Google Shape;148;p14"/>
            <p:cNvSpPr txBox="1"/>
            <p:nvPr/>
          </p:nvSpPr>
          <p:spPr>
            <a:xfrm>
              <a:off x="0" y="-66675"/>
              <a:ext cx="736600" cy="7524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7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9" name="Google Shape;149;p14"/>
          <p:cNvGrpSpPr/>
          <p:nvPr/>
        </p:nvGrpSpPr>
        <p:grpSpPr>
          <a:xfrm>
            <a:off x="1298579" y="4051134"/>
            <a:ext cx="3042745" cy="939457"/>
            <a:chOff x="0" y="-28575"/>
            <a:chExt cx="4056993" cy="1252610"/>
          </a:xfrm>
        </p:grpSpPr>
        <p:sp>
          <p:nvSpPr>
            <p:cNvPr id="150" name="Google Shape;150;p14"/>
            <p:cNvSpPr txBox="1"/>
            <p:nvPr/>
          </p:nvSpPr>
          <p:spPr>
            <a:xfrm>
              <a:off x="0" y="-28575"/>
              <a:ext cx="4056993" cy="6665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300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99" b="1" dirty="0">
                  <a:latin typeface="Fira Sans"/>
                  <a:sym typeface="Fira Sans"/>
                </a:rPr>
                <a:t>Tetris game</a:t>
              </a:r>
              <a:endParaRPr dirty="0"/>
            </a:p>
          </p:txBody>
        </p:sp>
        <p:sp>
          <p:nvSpPr>
            <p:cNvPr id="151" name="Google Shape;151;p14"/>
            <p:cNvSpPr txBox="1"/>
            <p:nvPr/>
          </p:nvSpPr>
          <p:spPr>
            <a:xfrm>
              <a:off x="0" y="670037"/>
              <a:ext cx="4056993" cy="5539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nl-BE" sz="1800" b="0" i="0" u="none" strike="noStrike" cap="none" dirty="0">
                  <a:solidFill>
                    <a:srgbClr val="000000"/>
                  </a:solidFill>
                  <a:latin typeface="Assistant"/>
                  <a:ea typeface="Assistant"/>
                  <a:cs typeface="Assistant"/>
                  <a:sym typeface="Assistant"/>
                </a:rPr>
                <a:t>Codering van het basis spel</a:t>
              </a:r>
              <a:endParaRPr dirty="0"/>
            </a:p>
          </p:txBody>
        </p:sp>
      </p:grpSp>
      <p:sp>
        <p:nvSpPr>
          <p:cNvPr id="152" name="Google Shape;152;p14"/>
          <p:cNvSpPr txBox="1"/>
          <p:nvPr/>
        </p:nvSpPr>
        <p:spPr>
          <a:xfrm>
            <a:off x="2775570" y="6990690"/>
            <a:ext cx="598892" cy="819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99" b="1" i="0" u="none" strike="noStrike" cap="non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1</a:t>
            </a:r>
            <a:endParaRPr/>
          </a:p>
        </p:txBody>
      </p:sp>
      <p:sp>
        <p:nvSpPr>
          <p:cNvPr id="153" name="Google Shape;153;p14"/>
          <p:cNvSpPr txBox="1"/>
          <p:nvPr/>
        </p:nvSpPr>
        <p:spPr>
          <a:xfrm>
            <a:off x="5930376" y="4017879"/>
            <a:ext cx="598892" cy="819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99" b="1" i="0" u="none" strike="noStrike" cap="non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2</a:t>
            </a:r>
            <a:endParaRPr/>
          </a:p>
        </p:txBody>
      </p:sp>
      <p:sp>
        <p:nvSpPr>
          <p:cNvPr id="154" name="Google Shape;154;p14"/>
          <p:cNvSpPr txBox="1"/>
          <p:nvPr/>
        </p:nvSpPr>
        <p:spPr>
          <a:xfrm>
            <a:off x="9144000" y="7076644"/>
            <a:ext cx="598892" cy="819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99" b="1" i="0" u="none" strike="noStrike" cap="non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3</a:t>
            </a:r>
            <a:endParaRPr/>
          </a:p>
        </p:txBody>
      </p:sp>
      <p:sp>
        <p:nvSpPr>
          <p:cNvPr id="155" name="Google Shape;155;p14"/>
          <p:cNvSpPr txBox="1"/>
          <p:nvPr/>
        </p:nvSpPr>
        <p:spPr>
          <a:xfrm>
            <a:off x="12406738" y="4064618"/>
            <a:ext cx="627136" cy="819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99" b="1" i="0" u="none" strike="noStrike" cap="non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4</a:t>
            </a:r>
            <a:endParaRPr/>
          </a:p>
        </p:txBody>
      </p:sp>
      <p:sp>
        <p:nvSpPr>
          <p:cNvPr id="156" name="Google Shape;156;p14"/>
          <p:cNvSpPr txBox="1"/>
          <p:nvPr/>
        </p:nvSpPr>
        <p:spPr>
          <a:xfrm>
            <a:off x="15548167" y="6942205"/>
            <a:ext cx="598892" cy="819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99" b="1" i="0" u="none" strike="noStrike" cap="none" dirty="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5</a:t>
            </a:r>
            <a:endParaRPr dirty="0"/>
          </a:p>
        </p:txBody>
      </p:sp>
      <p:grpSp>
        <p:nvGrpSpPr>
          <p:cNvPr id="157" name="Google Shape;157;p14"/>
          <p:cNvGrpSpPr/>
          <p:nvPr/>
        </p:nvGrpSpPr>
        <p:grpSpPr>
          <a:xfrm>
            <a:off x="8022386" y="4051134"/>
            <a:ext cx="3042745" cy="2093619"/>
            <a:chOff x="0" y="-28575"/>
            <a:chExt cx="4056993" cy="2791496"/>
          </a:xfrm>
        </p:grpSpPr>
        <p:sp>
          <p:nvSpPr>
            <p:cNvPr id="158" name="Google Shape;158;p14"/>
            <p:cNvSpPr txBox="1"/>
            <p:nvPr/>
          </p:nvSpPr>
          <p:spPr>
            <a:xfrm>
              <a:off x="0" y="-28575"/>
              <a:ext cx="4056993" cy="6665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300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99" b="1" i="0" u="none" strike="noStrike" cap="none" dirty="0">
                  <a:solidFill>
                    <a:srgbClr val="000000"/>
                  </a:solidFill>
                  <a:latin typeface="Fira Sans"/>
                  <a:ea typeface="Fira Sans"/>
                  <a:cs typeface="Fira Sans"/>
                  <a:sym typeface="Fira Sans"/>
                </a:rPr>
                <a:t>Extra </a:t>
              </a:r>
              <a:r>
                <a:rPr lang="en-US" sz="2499" b="1" i="0" u="none" strike="noStrike" cap="none" dirty="0" err="1">
                  <a:solidFill>
                    <a:srgbClr val="000000"/>
                  </a:solidFill>
                  <a:latin typeface="Fira Sans"/>
                  <a:ea typeface="Fira Sans"/>
                  <a:cs typeface="Fira Sans"/>
                  <a:sym typeface="Fira Sans"/>
                </a:rPr>
                <a:t>functionaliteit</a:t>
              </a:r>
              <a:endParaRPr dirty="0"/>
            </a:p>
          </p:txBody>
        </p:sp>
        <p:sp>
          <p:nvSpPr>
            <p:cNvPr id="159" name="Google Shape;159;p14"/>
            <p:cNvSpPr txBox="1"/>
            <p:nvPr/>
          </p:nvSpPr>
          <p:spPr>
            <a:xfrm>
              <a:off x="0" y="670038"/>
              <a:ext cx="4056993" cy="20928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nl-BE" sz="1800" b="0" i="0" u="none" strike="noStrike" cap="none" dirty="0">
                  <a:solidFill>
                    <a:srgbClr val="000000"/>
                  </a:solidFill>
                  <a:latin typeface="Assistant"/>
                  <a:ea typeface="Assistant"/>
                  <a:cs typeface="Assistant"/>
                  <a:sym typeface="Assistant"/>
                </a:rPr>
                <a:t>Blok direct laten vallen</a:t>
              </a:r>
            </a:p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nl-BE" sz="1800" dirty="0">
                  <a:latin typeface="Assistant"/>
                  <a:ea typeface="Assistant"/>
                  <a:cs typeface="Assistant"/>
                  <a:sym typeface="Assistant"/>
                </a:rPr>
                <a:t>Combo’s</a:t>
              </a:r>
            </a:p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nl-BE" sz="1800" b="0" i="0" u="none" strike="noStrike" cap="none" dirty="0">
                  <a:solidFill>
                    <a:srgbClr val="000000"/>
                  </a:solidFill>
                  <a:latin typeface="Assistant"/>
                  <a:ea typeface="Assistant"/>
                  <a:cs typeface="Assistant"/>
                  <a:sym typeface="Assistant"/>
                </a:rPr>
                <a:t>Geluidseffecten</a:t>
              </a:r>
            </a:p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60" name="Google Shape;160;p14"/>
          <p:cNvGrpSpPr/>
          <p:nvPr/>
        </p:nvGrpSpPr>
        <p:grpSpPr>
          <a:xfrm>
            <a:off x="14755483" y="4051134"/>
            <a:ext cx="3042745" cy="939457"/>
            <a:chOff x="0" y="-28575"/>
            <a:chExt cx="4056993" cy="1252610"/>
          </a:xfrm>
        </p:grpSpPr>
        <p:sp>
          <p:nvSpPr>
            <p:cNvPr id="161" name="Google Shape;161;p14"/>
            <p:cNvSpPr txBox="1"/>
            <p:nvPr/>
          </p:nvSpPr>
          <p:spPr>
            <a:xfrm>
              <a:off x="0" y="-28575"/>
              <a:ext cx="4056993" cy="6665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300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99" b="1" dirty="0" err="1">
                  <a:latin typeface="Fira Sans"/>
                  <a:sym typeface="Fira Sans"/>
                </a:rPr>
                <a:t>Genetisch</a:t>
              </a:r>
              <a:r>
                <a:rPr lang="en-US" sz="2499" b="1" dirty="0">
                  <a:latin typeface="Fira Sans"/>
                  <a:sym typeface="Fira Sans"/>
                </a:rPr>
                <a:t> </a:t>
              </a:r>
              <a:r>
                <a:rPr lang="en-US" sz="2499" b="1" dirty="0" err="1">
                  <a:latin typeface="Fira Sans"/>
                  <a:sym typeface="Fira Sans"/>
                </a:rPr>
                <a:t>algoritme</a:t>
              </a:r>
              <a:endParaRPr dirty="0"/>
            </a:p>
          </p:txBody>
        </p:sp>
        <p:sp>
          <p:nvSpPr>
            <p:cNvPr id="162" name="Google Shape;162;p14"/>
            <p:cNvSpPr txBox="1"/>
            <p:nvPr/>
          </p:nvSpPr>
          <p:spPr>
            <a:xfrm>
              <a:off x="0" y="670037"/>
              <a:ext cx="4056993" cy="5539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nl-BE" sz="1800" b="0" i="0" u="none" strike="noStrike" cap="none" dirty="0">
                  <a:solidFill>
                    <a:srgbClr val="000000"/>
                  </a:solidFill>
                  <a:latin typeface="Assistant"/>
                  <a:ea typeface="Assistant"/>
                  <a:cs typeface="Assistant"/>
                  <a:sym typeface="Assistant"/>
                </a:rPr>
                <a:t>Bepaling voor beste waarden</a:t>
              </a:r>
              <a:endParaRPr dirty="0"/>
            </a:p>
          </p:txBody>
        </p:sp>
      </p:grpSp>
      <p:grpSp>
        <p:nvGrpSpPr>
          <p:cNvPr id="163" name="Google Shape;163;p14"/>
          <p:cNvGrpSpPr/>
          <p:nvPr/>
        </p:nvGrpSpPr>
        <p:grpSpPr>
          <a:xfrm>
            <a:off x="4839737" y="7441037"/>
            <a:ext cx="3042745" cy="1354956"/>
            <a:chOff x="0" y="-28575"/>
            <a:chExt cx="4056993" cy="1806609"/>
          </a:xfrm>
        </p:grpSpPr>
        <p:sp>
          <p:nvSpPr>
            <p:cNvPr id="164" name="Google Shape;164;p14"/>
            <p:cNvSpPr txBox="1"/>
            <p:nvPr/>
          </p:nvSpPr>
          <p:spPr>
            <a:xfrm>
              <a:off x="0" y="-28575"/>
              <a:ext cx="4056993" cy="6665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300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99" b="1" i="0" u="none" strike="noStrike" cap="none" dirty="0" err="1">
                  <a:solidFill>
                    <a:srgbClr val="000000"/>
                  </a:solidFill>
                  <a:latin typeface="Fira Sans"/>
                  <a:ea typeface="Fira Sans"/>
                  <a:cs typeface="Fira Sans"/>
                  <a:sym typeface="Fira Sans"/>
                </a:rPr>
                <a:t>Algoritme</a:t>
              </a:r>
              <a:r>
                <a:rPr lang="en-US" sz="2499" b="1" i="0" u="none" strike="noStrike" cap="none" dirty="0">
                  <a:solidFill>
                    <a:srgbClr val="000000"/>
                  </a:solidFill>
                  <a:latin typeface="Fira Sans"/>
                  <a:ea typeface="Fira Sans"/>
                  <a:cs typeface="Fira Sans"/>
                  <a:sym typeface="Fira Sans"/>
                </a:rPr>
                <a:t> </a:t>
              </a:r>
              <a:r>
                <a:rPr lang="en-US" sz="2499" b="1" i="0" u="none" strike="noStrike" cap="none" dirty="0" err="1">
                  <a:solidFill>
                    <a:srgbClr val="000000"/>
                  </a:solidFill>
                  <a:latin typeface="Fira Sans"/>
                  <a:ea typeface="Fira Sans"/>
                  <a:cs typeface="Fira Sans"/>
                  <a:sym typeface="Fira Sans"/>
                </a:rPr>
                <a:t>toevoegen</a:t>
              </a:r>
              <a:endParaRPr dirty="0"/>
            </a:p>
          </p:txBody>
        </p:sp>
        <p:sp>
          <p:nvSpPr>
            <p:cNvPr id="165" name="Google Shape;165;p14"/>
            <p:cNvSpPr txBox="1"/>
            <p:nvPr/>
          </p:nvSpPr>
          <p:spPr>
            <a:xfrm>
              <a:off x="0" y="670037"/>
              <a:ext cx="4056993" cy="110799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nl-BE" sz="1800" dirty="0">
                  <a:latin typeface="Assistant"/>
                  <a:ea typeface="Assistant"/>
                  <a:cs typeface="Assistant"/>
                  <a:sym typeface="Assistant"/>
                </a:rPr>
                <a:t>Algoritme in kaart brengen</a:t>
              </a:r>
              <a:r>
                <a:rPr lang="nl-BE" sz="1800" b="0" i="0" u="none" strike="noStrike" cap="none" dirty="0">
                  <a:solidFill>
                    <a:srgbClr val="000000"/>
                  </a:solidFill>
                  <a:latin typeface="Assistant"/>
                  <a:ea typeface="Assistant"/>
                  <a:cs typeface="Assistant"/>
                  <a:sym typeface="Assistant"/>
                </a:rPr>
                <a:t> </a:t>
              </a:r>
            </a:p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nl-BE" sz="1800" b="0" i="0" u="none" strike="noStrike" cap="none" dirty="0">
                  <a:solidFill>
                    <a:srgbClr val="000000"/>
                  </a:solidFill>
                  <a:latin typeface="Assistant"/>
                  <a:ea typeface="Assistant"/>
                  <a:cs typeface="Assistant"/>
                  <a:sym typeface="Wingdings" panose="05000000000000000000" pitchFamily="2" charset="2"/>
                </a:rPr>
                <a:t> Optimale oplossing</a:t>
              </a:r>
              <a:endParaRPr dirty="0"/>
            </a:p>
          </p:txBody>
        </p:sp>
      </p:grpSp>
      <p:grpSp>
        <p:nvGrpSpPr>
          <p:cNvPr id="166" name="Google Shape;166;p14"/>
          <p:cNvGrpSpPr/>
          <p:nvPr/>
        </p:nvGrpSpPr>
        <p:grpSpPr>
          <a:xfrm>
            <a:off x="11262157" y="7441037"/>
            <a:ext cx="3042745" cy="1770454"/>
            <a:chOff x="0" y="-28575"/>
            <a:chExt cx="4056993" cy="2360605"/>
          </a:xfrm>
        </p:grpSpPr>
        <p:sp>
          <p:nvSpPr>
            <p:cNvPr id="167" name="Google Shape;167;p14"/>
            <p:cNvSpPr txBox="1"/>
            <p:nvPr/>
          </p:nvSpPr>
          <p:spPr>
            <a:xfrm>
              <a:off x="0" y="-28575"/>
              <a:ext cx="4056993" cy="6665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300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99" b="1" i="0" u="none" strike="noStrike" cap="none" dirty="0" err="1">
                  <a:solidFill>
                    <a:srgbClr val="000000"/>
                  </a:solidFill>
                  <a:latin typeface="Fira Sans"/>
                  <a:ea typeface="Fira Sans"/>
                  <a:cs typeface="Fira Sans"/>
                  <a:sym typeface="Fira Sans"/>
                </a:rPr>
                <a:t>Heuristiek</a:t>
              </a:r>
              <a:r>
                <a:rPr lang="en-US" sz="2499" b="1" i="0" u="none" strike="noStrike" cap="none" dirty="0">
                  <a:solidFill>
                    <a:srgbClr val="000000"/>
                  </a:solidFill>
                  <a:latin typeface="Fira Sans"/>
                  <a:ea typeface="Fira Sans"/>
                  <a:cs typeface="Fira Sans"/>
                  <a:sym typeface="Fira Sans"/>
                </a:rPr>
                <a:t> </a:t>
              </a:r>
              <a:r>
                <a:rPr lang="en-US" sz="2499" b="1" i="0" u="none" strike="noStrike" cap="none" dirty="0" err="1">
                  <a:solidFill>
                    <a:srgbClr val="000000"/>
                  </a:solidFill>
                  <a:latin typeface="Fira Sans"/>
                  <a:ea typeface="Fira Sans"/>
                  <a:cs typeface="Fira Sans"/>
                  <a:sym typeface="Fira Sans"/>
                </a:rPr>
                <a:t>algoritme</a:t>
              </a:r>
              <a:endParaRPr dirty="0"/>
            </a:p>
          </p:txBody>
        </p:sp>
        <p:sp>
          <p:nvSpPr>
            <p:cNvPr id="168" name="Google Shape;168;p14"/>
            <p:cNvSpPr txBox="1"/>
            <p:nvPr/>
          </p:nvSpPr>
          <p:spPr>
            <a:xfrm>
              <a:off x="0" y="670037"/>
              <a:ext cx="4056993" cy="166199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nl-BE" sz="1800" b="0" i="0" u="none" strike="noStrike" cap="none" dirty="0" err="1">
                  <a:solidFill>
                    <a:srgbClr val="000000"/>
                  </a:solidFill>
                  <a:latin typeface="Assistant"/>
                  <a:ea typeface="Assistant"/>
                  <a:cs typeface="Assistant"/>
                  <a:sym typeface="Assistant"/>
                </a:rPr>
                <a:t>Heuristieke</a:t>
              </a:r>
              <a:r>
                <a:rPr lang="nl-BE" sz="1800" b="0" i="0" u="none" strike="noStrike" cap="none" dirty="0">
                  <a:solidFill>
                    <a:srgbClr val="000000"/>
                  </a:solidFill>
                  <a:latin typeface="Assistant"/>
                  <a:ea typeface="Assistant"/>
                  <a:cs typeface="Assistant"/>
                  <a:sym typeface="Assistant"/>
                </a:rPr>
                <a:t> waarden</a:t>
              </a:r>
            </a:p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nl-BE" sz="1800" b="0" i="0" u="none" strike="noStrike" cap="none" dirty="0">
                  <a:solidFill>
                    <a:srgbClr val="000000"/>
                  </a:solidFill>
                  <a:latin typeface="Assistant"/>
                  <a:ea typeface="Assistant"/>
                  <a:cs typeface="Assistant"/>
                  <a:sym typeface="Assistant"/>
                </a:rPr>
                <a:t>Berekenen + uitvoeren</a:t>
              </a:r>
            </a:p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nl-BE" sz="1800" b="0" i="0" u="none" strike="noStrike" cap="none" dirty="0">
                  <a:solidFill>
                    <a:srgbClr val="000000"/>
                  </a:solidFill>
                  <a:latin typeface="Assistant"/>
                  <a:ea typeface="Assistant"/>
                  <a:cs typeface="Assistant"/>
                  <a:sym typeface="Assistant"/>
                </a:rPr>
                <a:t>Data</a:t>
              </a:r>
            </a:p>
          </p:txBody>
        </p:sp>
      </p:grpSp>
      <p:sp>
        <p:nvSpPr>
          <p:cNvPr id="169" name="Google Shape;169;p14"/>
          <p:cNvSpPr txBox="1">
            <a:spLocks noGrp="1"/>
          </p:cNvSpPr>
          <p:nvPr>
            <p:ph type="subTitle" idx="2"/>
          </p:nvPr>
        </p:nvSpPr>
        <p:spPr>
          <a:xfrm>
            <a:off x="1010175" y="1950125"/>
            <a:ext cx="8978400" cy="907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nl-BE" dirty="0"/>
              <a:t>Leren werken met AI algoritmen</a:t>
            </a:r>
            <a:endParaRPr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64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" name="Rechthoek 1">
            <a:extLst>
              <a:ext uri="{FF2B5EF4-FFF2-40B4-BE49-F238E27FC236}">
                <a16:creationId xmlns:a16="http://schemas.microsoft.com/office/drawing/2014/main" id="{9B05B7DD-4D95-9E71-7C1E-EBD5EF1B05FB}"/>
              </a:ext>
            </a:extLst>
          </p:cNvPr>
          <p:cNvSpPr/>
          <p:nvPr/>
        </p:nvSpPr>
        <p:spPr>
          <a:xfrm>
            <a:off x="17629310" y="9627980"/>
            <a:ext cx="312907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nl-NL" sz="1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  <a:endParaRPr lang="nl-NL" sz="1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" name="Google Shape;174;p15"/>
          <p:cNvGrpSpPr/>
          <p:nvPr/>
        </p:nvGrpSpPr>
        <p:grpSpPr>
          <a:xfrm>
            <a:off x="381416" y="5335124"/>
            <a:ext cx="1038238" cy="1239620"/>
            <a:chOff x="0" y="-66675"/>
            <a:chExt cx="736600" cy="879475"/>
          </a:xfrm>
        </p:grpSpPr>
        <p:sp>
          <p:nvSpPr>
            <p:cNvPr id="175" name="Google Shape;175;p15"/>
            <p:cNvSpPr/>
            <p:nvPr/>
          </p:nvSpPr>
          <p:spPr>
            <a:xfrm>
              <a:off x="0" y="0"/>
              <a:ext cx="736600" cy="812800"/>
            </a:xfrm>
            <a:custGeom>
              <a:avLst/>
              <a:gdLst/>
              <a:ahLst/>
              <a:cxnLst/>
              <a:rect l="l" t="t" r="r" b="b"/>
              <a:pathLst>
                <a:path w="736600" h="812800" extrusionOk="0">
                  <a:moveTo>
                    <a:pt x="736600" y="0"/>
                  </a:moveTo>
                  <a:lnTo>
                    <a:pt x="736600" y="812800"/>
                  </a:lnTo>
                  <a:lnTo>
                    <a:pt x="368300" y="685800"/>
                  </a:lnTo>
                  <a:lnTo>
                    <a:pt x="0" y="812800"/>
                  </a:lnTo>
                  <a:lnTo>
                    <a:pt x="0" y="0"/>
                  </a:lnTo>
                  <a:lnTo>
                    <a:pt x="736600" y="0"/>
                  </a:lnTo>
                  <a:close/>
                </a:path>
              </a:pathLst>
            </a:custGeom>
            <a:solidFill>
              <a:srgbClr val="F4C500"/>
            </a:solidFill>
            <a:ln>
              <a:noFill/>
            </a:ln>
          </p:spPr>
          <p:txBody>
            <a:bodyPr/>
            <a:lstStyle/>
            <a:p>
              <a:endParaRPr lang="LID4096"/>
            </a:p>
          </p:txBody>
        </p:sp>
        <p:sp>
          <p:nvSpPr>
            <p:cNvPr id="176" name="Google Shape;176;p15"/>
            <p:cNvSpPr txBox="1"/>
            <p:nvPr/>
          </p:nvSpPr>
          <p:spPr>
            <a:xfrm>
              <a:off x="0" y="-66675"/>
              <a:ext cx="736600" cy="7524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7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7" name="Google Shape;177;p15"/>
          <p:cNvGrpSpPr/>
          <p:nvPr/>
        </p:nvGrpSpPr>
        <p:grpSpPr>
          <a:xfrm>
            <a:off x="316374" y="3384262"/>
            <a:ext cx="1168323" cy="1173560"/>
            <a:chOff x="1813" y="0"/>
            <a:chExt cx="809173" cy="812800"/>
          </a:xfrm>
        </p:grpSpPr>
        <p:sp>
          <p:nvSpPr>
            <p:cNvPr id="178" name="Google Shape;178;p15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4BB8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15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7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0" name="Google Shape;180;p15"/>
          <p:cNvSpPr/>
          <p:nvPr/>
        </p:nvSpPr>
        <p:spPr>
          <a:xfrm rot="10779982">
            <a:off x="384388" y="7706299"/>
            <a:ext cx="1097125" cy="1097028"/>
          </a:xfrm>
          <a:custGeom>
            <a:avLst/>
            <a:gdLst/>
            <a:ahLst/>
            <a:cxnLst/>
            <a:rect l="l" t="t" r="r" b="b"/>
            <a:pathLst>
              <a:path w="14400530" h="14399261" extrusionOk="0">
                <a:moveTo>
                  <a:pt x="7199630" y="0"/>
                </a:moveTo>
                <a:cubicBezTo>
                  <a:pt x="3223260" y="0"/>
                  <a:pt x="0" y="3223260"/>
                  <a:pt x="0" y="7199630"/>
                </a:cubicBezTo>
                <a:cubicBezTo>
                  <a:pt x="0" y="11176001"/>
                  <a:pt x="3223260" y="14399261"/>
                  <a:pt x="7199630" y="14399261"/>
                </a:cubicBezTo>
                <a:lnTo>
                  <a:pt x="14399261" y="14399261"/>
                </a:lnTo>
                <a:lnTo>
                  <a:pt x="14399261" y="7199630"/>
                </a:lnTo>
                <a:cubicBezTo>
                  <a:pt x="14400530" y="3223260"/>
                  <a:pt x="11176000" y="0"/>
                  <a:pt x="7199630" y="0"/>
                </a:cubicBezTo>
                <a:close/>
              </a:path>
            </a:pathLst>
          </a:custGeom>
          <a:solidFill>
            <a:srgbClr val="EE60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15"/>
          <p:cNvSpPr txBox="1"/>
          <p:nvPr/>
        </p:nvSpPr>
        <p:spPr>
          <a:xfrm>
            <a:off x="1028700" y="1019175"/>
            <a:ext cx="10483503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 dirty="0" err="1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Probleemstelling</a:t>
            </a:r>
            <a:endParaRPr dirty="0"/>
          </a:p>
        </p:txBody>
      </p:sp>
      <p:grpSp>
        <p:nvGrpSpPr>
          <p:cNvPr id="183" name="Google Shape;183;p15"/>
          <p:cNvGrpSpPr/>
          <p:nvPr/>
        </p:nvGrpSpPr>
        <p:grpSpPr>
          <a:xfrm>
            <a:off x="1824188" y="5461199"/>
            <a:ext cx="4584151" cy="1362453"/>
            <a:chOff x="0" y="-9525"/>
            <a:chExt cx="6112200" cy="1816604"/>
          </a:xfrm>
        </p:grpSpPr>
        <p:sp>
          <p:nvSpPr>
            <p:cNvPr id="184" name="Google Shape;184;p15"/>
            <p:cNvSpPr txBox="1"/>
            <p:nvPr/>
          </p:nvSpPr>
          <p:spPr>
            <a:xfrm>
              <a:off x="0" y="-9525"/>
              <a:ext cx="6112165" cy="861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500" b="0" i="0" u="none" strike="noStrike" cap="none" dirty="0">
                  <a:solidFill>
                    <a:srgbClr val="191919"/>
                  </a:solidFill>
                  <a:latin typeface="Fira Sans Medium"/>
                  <a:ea typeface="Fira Sans Medium"/>
                  <a:cs typeface="Fira Sans Medium"/>
                  <a:sym typeface="Fira Sans Medium"/>
                </a:rPr>
                <a:t>1 </a:t>
              </a:r>
              <a:r>
                <a:rPr lang="en-US" sz="3500" b="0" i="0" u="none" strike="noStrike" cap="none" dirty="0" err="1">
                  <a:solidFill>
                    <a:srgbClr val="191919"/>
                  </a:solidFill>
                  <a:latin typeface="Fira Sans Medium"/>
                  <a:ea typeface="Fira Sans Medium"/>
                  <a:cs typeface="Fira Sans Medium"/>
                  <a:sym typeface="Fira Sans Medium"/>
                </a:rPr>
                <a:t>tege</a:t>
              </a:r>
              <a:r>
                <a:rPr lang="en-US" sz="3500" dirty="0" err="1">
                  <a:solidFill>
                    <a:srgbClr val="191919"/>
                  </a:solidFill>
                  <a:latin typeface="Fira Sans Medium"/>
                  <a:ea typeface="Fira Sans Medium"/>
                  <a:cs typeface="Fira Sans Medium"/>
                  <a:sym typeface="Fira Sans Medium"/>
                </a:rPr>
                <a:t>n</a:t>
              </a:r>
              <a:r>
                <a:rPr lang="en-US" sz="3500" dirty="0">
                  <a:solidFill>
                    <a:srgbClr val="191919"/>
                  </a:solidFill>
                  <a:latin typeface="Fira Sans Medium"/>
                  <a:ea typeface="Fira Sans Medium"/>
                  <a:cs typeface="Fira Sans Medium"/>
                  <a:sym typeface="Fira Sans Medium"/>
                </a:rPr>
                <a:t> 1 duel</a:t>
              </a:r>
              <a:endParaRPr dirty="0"/>
            </a:p>
          </p:txBody>
        </p:sp>
        <p:sp>
          <p:nvSpPr>
            <p:cNvPr id="185" name="Google Shape;185;p15"/>
            <p:cNvSpPr txBox="1"/>
            <p:nvPr/>
          </p:nvSpPr>
          <p:spPr>
            <a:xfrm>
              <a:off x="0" y="781499"/>
              <a:ext cx="6112200" cy="10255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99" dirty="0" err="1">
                  <a:latin typeface="Assistant"/>
                  <a:cs typeface="Assistant"/>
                  <a:sym typeface="Assistant"/>
                </a:rPr>
                <a:t>Tegenstander</a:t>
              </a:r>
              <a:r>
                <a:rPr lang="en-US" sz="2499" dirty="0">
                  <a:latin typeface="Assistant"/>
                  <a:cs typeface="Assistant"/>
                  <a:sym typeface="Assistant"/>
                </a:rPr>
                <a:t> </a:t>
              </a:r>
              <a:r>
                <a:rPr lang="en-US" sz="2499" dirty="0" err="1">
                  <a:latin typeface="Assistant"/>
                  <a:cs typeface="Assistant"/>
                  <a:sym typeface="Assistant"/>
                </a:rPr>
                <a:t>verslaan</a:t>
              </a:r>
              <a:r>
                <a:rPr lang="en-US" sz="2499" dirty="0">
                  <a:latin typeface="Assistant"/>
                  <a:cs typeface="Assistant"/>
                  <a:sym typeface="Assistant"/>
                </a:rPr>
                <a:t> </a:t>
              </a:r>
              <a:r>
                <a:rPr lang="en-US" sz="2499" dirty="0" err="1">
                  <a:latin typeface="Assistant"/>
                  <a:cs typeface="Assistant"/>
                  <a:sym typeface="Assistant"/>
                </a:rPr>
                <a:t>a.d.h.v</a:t>
              </a:r>
              <a:r>
                <a:rPr lang="en-US" sz="2499" dirty="0">
                  <a:latin typeface="Assistant"/>
                  <a:cs typeface="Assistant"/>
                  <a:sym typeface="Assistant"/>
                </a:rPr>
                <a:t>. combo’s.</a:t>
              </a:r>
              <a:endParaRPr dirty="0"/>
            </a:p>
          </p:txBody>
        </p:sp>
      </p:grpSp>
      <p:sp>
        <p:nvSpPr>
          <p:cNvPr id="186" name="Google Shape;186;p15"/>
          <p:cNvSpPr/>
          <p:nvPr/>
        </p:nvSpPr>
        <p:spPr>
          <a:xfrm rot="10779982">
            <a:off x="9154021" y="5796951"/>
            <a:ext cx="3451633" cy="3451329"/>
          </a:xfrm>
          <a:custGeom>
            <a:avLst/>
            <a:gdLst/>
            <a:ahLst/>
            <a:cxnLst/>
            <a:rect l="l" t="t" r="r" b="b"/>
            <a:pathLst>
              <a:path w="14400530" h="14399261" extrusionOk="0">
                <a:moveTo>
                  <a:pt x="7199630" y="0"/>
                </a:moveTo>
                <a:cubicBezTo>
                  <a:pt x="3223260" y="0"/>
                  <a:pt x="0" y="3223260"/>
                  <a:pt x="0" y="7199630"/>
                </a:cubicBezTo>
                <a:cubicBezTo>
                  <a:pt x="0" y="11176001"/>
                  <a:pt x="3223260" y="14399261"/>
                  <a:pt x="7199630" y="14399261"/>
                </a:cubicBezTo>
                <a:lnTo>
                  <a:pt x="14399261" y="14399261"/>
                </a:lnTo>
                <a:lnTo>
                  <a:pt x="14399261" y="7199630"/>
                </a:lnTo>
                <a:cubicBezTo>
                  <a:pt x="14400530" y="3223260"/>
                  <a:pt x="11176000" y="0"/>
                  <a:pt x="7199630" y="0"/>
                </a:cubicBezTo>
                <a:close/>
              </a:path>
            </a:pathLst>
          </a:custGeom>
          <a:solidFill>
            <a:srgbClr val="A16A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7" name="Google Shape;187;p15"/>
          <p:cNvGrpSpPr/>
          <p:nvPr/>
        </p:nvGrpSpPr>
        <p:grpSpPr>
          <a:xfrm>
            <a:off x="1889256" y="3369673"/>
            <a:ext cx="4584151" cy="977859"/>
            <a:chOff x="0" y="-9525"/>
            <a:chExt cx="6112200" cy="1303812"/>
          </a:xfrm>
        </p:grpSpPr>
        <p:sp>
          <p:nvSpPr>
            <p:cNvPr id="188" name="Google Shape;188;p15"/>
            <p:cNvSpPr txBox="1"/>
            <p:nvPr/>
          </p:nvSpPr>
          <p:spPr>
            <a:xfrm>
              <a:off x="0" y="-9525"/>
              <a:ext cx="6112165" cy="861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500" b="0" i="0" u="none" strike="noStrike" cap="none" dirty="0">
                  <a:solidFill>
                    <a:srgbClr val="000000"/>
                  </a:solidFill>
                  <a:latin typeface="Fira Sans Medium"/>
                  <a:ea typeface="Fira Sans Medium"/>
                  <a:cs typeface="Fira Sans Medium"/>
                  <a:sym typeface="Fira Sans Medium"/>
                </a:rPr>
                <a:t>Breed </a:t>
              </a:r>
              <a:r>
                <a:rPr lang="en-US" sz="3500" b="0" i="0" u="none" strike="noStrike" cap="none" dirty="0" err="1">
                  <a:solidFill>
                    <a:srgbClr val="000000"/>
                  </a:solidFill>
                  <a:latin typeface="Fira Sans Medium"/>
                  <a:ea typeface="Fira Sans Medium"/>
                  <a:cs typeface="Fira Sans Medium"/>
                  <a:sym typeface="Fira Sans Medium"/>
                </a:rPr>
                <a:t>doelpubliek</a:t>
              </a:r>
              <a:endParaRPr dirty="0"/>
            </a:p>
          </p:txBody>
        </p:sp>
        <p:sp>
          <p:nvSpPr>
            <p:cNvPr id="189" name="Google Shape;189;p15"/>
            <p:cNvSpPr txBox="1"/>
            <p:nvPr/>
          </p:nvSpPr>
          <p:spPr>
            <a:xfrm>
              <a:off x="0" y="781498"/>
              <a:ext cx="6112200" cy="5127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99" b="0" i="0" u="none" strike="noStrike" cap="none" dirty="0" err="1">
                  <a:solidFill>
                    <a:srgbClr val="000000"/>
                  </a:solidFill>
                  <a:latin typeface="Assistant"/>
                  <a:ea typeface="Assistant"/>
                  <a:cs typeface="Assistant"/>
                  <a:sym typeface="Assistant"/>
                </a:rPr>
                <a:t>Sterke</a:t>
              </a:r>
              <a:r>
                <a:rPr lang="en-US" sz="2499" b="0" i="0" u="none" strike="noStrike" cap="none" dirty="0">
                  <a:solidFill>
                    <a:srgbClr val="000000"/>
                  </a:solidFill>
                  <a:latin typeface="Assistant"/>
                  <a:ea typeface="Assistant"/>
                  <a:cs typeface="Assistant"/>
                  <a:sym typeface="Assistant"/>
                </a:rPr>
                <a:t> </a:t>
              </a:r>
              <a:r>
                <a:rPr lang="en-US" sz="2499" b="0" i="0" u="none" strike="noStrike" cap="none" dirty="0" err="1">
                  <a:solidFill>
                    <a:srgbClr val="000000"/>
                  </a:solidFill>
                  <a:latin typeface="Assistant"/>
                  <a:ea typeface="Assistant"/>
                  <a:cs typeface="Assistant"/>
                  <a:sym typeface="Assistant"/>
                </a:rPr>
                <a:t>spelers</a:t>
              </a:r>
              <a:endParaRPr dirty="0"/>
            </a:p>
          </p:txBody>
        </p:sp>
      </p:grpSp>
      <p:grpSp>
        <p:nvGrpSpPr>
          <p:cNvPr id="190" name="Google Shape;190;p15"/>
          <p:cNvGrpSpPr/>
          <p:nvPr/>
        </p:nvGrpSpPr>
        <p:grpSpPr>
          <a:xfrm>
            <a:off x="1824214" y="7443970"/>
            <a:ext cx="4584151" cy="977859"/>
            <a:chOff x="0" y="-9525"/>
            <a:chExt cx="6112200" cy="1303812"/>
          </a:xfrm>
        </p:grpSpPr>
        <p:sp>
          <p:nvSpPr>
            <p:cNvPr id="191" name="Google Shape;191;p15"/>
            <p:cNvSpPr txBox="1"/>
            <p:nvPr/>
          </p:nvSpPr>
          <p:spPr>
            <a:xfrm>
              <a:off x="0" y="-9525"/>
              <a:ext cx="6112165" cy="861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500" dirty="0" err="1">
                  <a:latin typeface="Fira Sans Medium"/>
                  <a:sym typeface="Fira Sans Medium"/>
                </a:rPr>
                <a:t>Berekenen</a:t>
              </a:r>
              <a:r>
                <a:rPr lang="en-US" sz="3500" dirty="0">
                  <a:latin typeface="Fira Sans Medium"/>
                  <a:sym typeface="Fira Sans Medium"/>
                </a:rPr>
                <a:t> </a:t>
              </a:r>
              <a:r>
                <a:rPr lang="en-US" sz="3500" dirty="0" err="1">
                  <a:latin typeface="Fira Sans Medium"/>
                  <a:sym typeface="Fira Sans Medium"/>
                </a:rPr>
                <a:t>zetten</a:t>
              </a:r>
              <a:endParaRPr dirty="0"/>
            </a:p>
          </p:txBody>
        </p:sp>
        <p:sp>
          <p:nvSpPr>
            <p:cNvPr id="192" name="Google Shape;192;p15"/>
            <p:cNvSpPr txBox="1"/>
            <p:nvPr/>
          </p:nvSpPr>
          <p:spPr>
            <a:xfrm>
              <a:off x="0" y="781498"/>
              <a:ext cx="6112200" cy="5127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99" b="0" i="0" u="none" strike="noStrike" cap="none" dirty="0" err="1">
                  <a:solidFill>
                    <a:srgbClr val="000000"/>
                  </a:solidFill>
                  <a:latin typeface="Assistant"/>
                  <a:ea typeface="Assistant"/>
                  <a:cs typeface="Assistant"/>
                  <a:sym typeface="Assistant"/>
                </a:rPr>
                <a:t>Veel</a:t>
              </a:r>
              <a:r>
                <a:rPr lang="en-US" sz="2499" b="0" i="0" u="none" strike="noStrike" cap="none" dirty="0">
                  <a:solidFill>
                    <a:srgbClr val="000000"/>
                  </a:solidFill>
                  <a:latin typeface="Assistant"/>
                  <a:ea typeface="Assistant"/>
                  <a:cs typeface="Assistant"/>
                  <a:sym typeface="Assistant"/>
                </a:rPr>
                <a:t> </a:t>
              </a:r>
              <a:r>
                <a:rPr lang="en-US" sz="2499" b="0" i="0" u="none" strike="noStrike" cap="none" dirty="0" err="1">
                  <a:solidFill>
                    <a:srgbClr val="000000"/>
                  </a:solidFill>
                  <a:latin typeface="Assistant"/>
                  <a:ea typeface="Assistant"/>
                  <a:cs typeface="Assistant"/>
                  <a:sym typeface="Assistant"/>
                </a:rPr>
                <a:t>mogelijke</a:t>
              </a:r>
              <a:r>
                <a:rPr lang="en-US" sz="2499" b="0" i="0" u="none" strike="noStrike" cap="none" dirty="0">
                  <a:solidFill>
                    <a:srgbClr val="000000"/>
                  </a:solidFill>
                  <a:latin typeface="Assistant"/>
                  <a:ea typeface="Assistant"/>
                  <a:cs typeface="Assistant"/>
                  <a:sym typeface="Assistant"/>
                </a:rPr>
                <a:t> </a:t>
              </a:r>
              <a:r>
                <a:rPr lang="en-US" sz="2499" b="0" i="0" u="none" strike="noStrike" cap="none" dirty="0" err="1">
                  <a:solidFill>
                    <a:srgbClr val="000000"/>
                  </a:solidFill>
                  <a:latin typeface="Assistant"/>
                  <a:ea typeface="Assistant"/>
                  <a:cs typeface="Assistant"/>
                  <a:sym typeface="Assistant"/>
                </a:rPr>
                <a:t>zetten</a:t>
              </a:r>
              <a:r>
                <a:rPr lang="en-US" sz="2499" b="0" i="0" u="none" strike="noStrike" cap="none" dirty="0">
                  <a:solidFill>
                    <a:srgbClr val="000000"/>
                  </a:solidFill>
                  <a:latin typeface="Assistant"/>
                  <a:ea typeface="Assistant"/>
                  <a:cs typeface="Assistant"/>
                  <a:sym typeface="Assistant"/>
                </a:rPr>
                <a:t> per </a:t>
              </a:r>
              <a:r>
                <a:rPr lang="en-US" sz="2499" b="0" i="0" u="none" strike="noStrike" cap="none" dirty="0" err="1">
                  <a:solidFill>
                    <a:srgbClr val="000000"/>
                  </a:solidFill>
                  <a:latin typeface="Assistant"/>
                  <a:ea typeface="Assistant"/>
                  <a:cs typeface="Assistant"/>
                  <a:sym typeface="Assistant"/>
                </a:rPr>
                <a:t>blok</a:t>
              </a:r>
              <a:endParaRPr dirty="0"/>
            </a:p>
          </p:txBody>
        </p:sp>
      </p:grpSp>
      <p:pic>
        <p:nvPicPr>
          <p:cNvPr id="2" name="Picture 4" descr="Do tetris coaching for beginners to intermediate by Kaasyu | Fiverr">
            <a:extLst>
              <a:ext uri="{FF2B5EF4-FFF2-40B4-BE49-F238E27FC236}">
                <a16:creationId xmlns:a16="http://schemas.microsoft.com/office/drawing/2014/main" id="{D97FCE5C-578D-53F7-533E-DB9A5F3E07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2847" y="2633928"/>
            <a:ext cx="11267466" cy="694720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hthoek 2">
            <a:extLst>
              <a:ext uri="{FF2B5EF4-FFF2-40B4-BE49-F238E27FC236}">
                <a16:creationId xmlns:a16="http://schemas.microsoft.com/office/drawing/2014/main" id="{86D419DA-6014-0110-48D3-C143A48853F2}"/>
              </a:ext>
            </a:extLst>
          </p:cNvPr>
          <p:cNvSpPr/>
          <p:nvPr/>
        </p:nvSpPr>
        <p:spPr>
          <a:xfrm>
            <a:off x="17629310" y="9627980"/>
            <a:ext cx="312907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nl-NL" sz="1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  <a:endParaRPr lang="nl-NL" sz="1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BB8BE"/>
        </a:solid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2"/>
          <p:cNvSpPr/>
          <p:nvPr/>
        </p:nvSpPr>
        <p:spPr>
          <a:xfrm>
            <a:off x="0" y="4311732"/>
            <a:ext cx="18288000" cy="6010275"/>
          </a:xfrm>
          <a:custGeom>
            <a:avLst/>
            <a:gdLst/>
            <a:ahLst/>
            <a:cxnLst/>
            <a:rect l="l" t="t" r="r" b="b"/>
            <a:pathLst>
              <a:path w="8971816" h="2948550" extrusionOk="0">
                <a:moveTo>
                  <a:pt x="0" y="0"/>
                </a:moveTo>
                <a:lnTo>
                  <a:pt x="8971816" y="0"/>
                </a:lnTo>
                <a:lnTo>
                  <a:pt x="8971816" y="2948550"/>
                </a:lnTo>
                <a:lnTo>
                  <a:pt x="0" y="294855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r>
              <a:rPr lang="nl-BE" dirty="0"/>
              <a:t> 	</a:t>
            </a:r>
            <a:endParaRPr lang="LID4096" dirty="0"/>
          </a:p>
        </p:txBody>
      </p:sp>
      <p:cxnSp>
        <p:nvCxnSpPr>
          <p:cNvPr id="78" name="Google Shape;78;p12"/>
          <p:cNvCxnSpPr/>
          <p:nvPr/>
        </p:nvCxnSpPr>
        <p:spPr>
          <a:xfrm rot="5399999">
            <a:off x="3859933" y="7290114"/>
            <a:ext cx="5210687" cy="0"/>
          </a:xfrm>
          <a:prstGeom prst="straightConnector1">
            <a:avLst/>
          </a:prstGeom>
          <a:noFill/>
          <a:ln w="19050" cap="flat" cmpd="sng">
            <a:solidFill>
              <a:srgbClr val="000000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9" name="Google Shape;79;p12"/>
          <p:cNvCxnSpPr/>
          <p:nvPr/>
        </p:nvCxnSpPr>
        <p:spPr>
          <a:xfrm rot="5399999">
            <a:off x="9627529" y="7290114"/>
            <a:ext cx="5210687" cy="0"/>
          </a:xfrm>
          <a:prstGeom prst="straightConnector1">
            <a:avLst/>
          </a:prstGeom>
          <a:noFill/>
          <a:ln w="19050" cap="flat" cmpd="sng">
            <a:solidFill>
              <a:srgbClr val="000000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0" name="Google Shape;80;p12"/>
          <p:cNvSpPr txBox="1"/>
          <p:nvPr/>
        </p:nvSpPr>
        <p:spPr>
          <a:xfrm>
            <a:off x="1028700" y="1019175"/>
            <a:ext cx="7015500" cy="1154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 dirty="0" err="1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Analyse</a:t>
            </a:r>
            <a:endParaRPr dirty="0"/>
          </a:p>
        </p:txBody>
      </p:sp>
      <p:sp>
        <p:nvSpPr>
          <p:cNvPr id="81" name="Google Shape;81;p12"/>
          <p:cNvSpPr txBox="1"/>
          <p:nvPr/>
        </p:nvSpPr>
        <p:spPr>
          <a:xfrm>
            <a:off x="1247775" y="5778500"/>
            <a:ext cx="4531800" cy="1538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39749" marR="0" lvl="1" indent="-26987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Char char="•"/>
            </a:pPr>
            <a:r>
              <a:rPr lang="nl-BE" sz="2499" dirty="0">
                <a:latin typeface="Assistant"/>
                <a:cs typeface="Assistant"/>
                <a:sym typeface="Assistant"/>
              </a:rPr>
              <a:t>Eerder complex met meerdere algoritmes</a:t>
            </a:r>
          </a:p>
          <a:p>
            <a:pPr marL="539749" marR="0" lvl="1" indent="-26987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Char char="•"/>
            </a:pPr>
            <a:r>
              <a:rPr lang="nl-BE" sz="2499" dirty="0">
                <a:latin typeface="Assistant"/>
                <a:cs typeface="Assistant"/>
                <a:sym typeface="Assistant"/>
              </a:rPr>
              <a:t>Video’s</a:t>
            </a:r>
          </a:p>
          <a:p>
            <a:pPr marL="539749" marR="0" lvl="1" indent="-26987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Char char="•"/>
            </a:pPr>
            <a:endParaRPr lang="nl-BE" sz="2499" dirty="0">
              <a:latin typeface="Assistant"/>
              <a:cs typeface="Assistant"/>
              <a:sym typeface="Assistant"/>
            </a:endParaRPr>
          </a:p>
        </p:txBody>
      </p:sp>
      <p:sp>
        <p:nvSpPr>
          <p:cNvPr id="82" name="Google Shape;82;p12"/>
          <p:cNvSpPr txBox="1"/>
          <p:nvPr/>
        </p:nvSpPr>
        <p:spPr>
          <a:xfrm>
            <a:off x="1524640" y="4656196"/>
            <a:ext cx="4713485" cy="700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="0" i="0" u="none" strike="noStrike" cap="none" dirty="0" err="1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Soortgelijke</a:t>
            </a:r>
            <a:r>
              <a:rPr lang="en-US" sz="3500" b="0" i="0" u="none" strike="noStrike" cap="none" dirty="0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 </a:t>
            </a:r>
            <a:r>
              <a:rPr lang="en-US" sz="3500" b="0" i="0" u="none" strike="noStrike" cap="none" dirty="0" err="1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projecten</a:t>
            </a:r>
            <a:endParaRPr dirty="0"/>
          </a:p>
        </p:txBody>
      </p:sp>
      <p:sp>
        <p:nvSpPr>
          <p:cNvPr id="83" name="Google Shape;83;p12"/>
          <p:cNvSpPr txBox="1"/>
          <p:nvPr/>
        </p:nvSpPr>
        <p:spPr>
          <a:xfrm>
            <a:off x="7152368" y="5778500"/>
            <a:ext cx="4671900" cy="1922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39749" marR="0" lvl="1" indent="-26987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Char char="•"/>
            </a:pPr>
            <a:r>
              <a:rPr lang="nl-BE" sz="2499" dirty="0" err="1">
                <a:latin typeface="Assistant"/>
                <a:ea typeface="Assistant"/>
                <a:cs typeface="Assistant"/>
                <a:sym typeface="Assistant"/>
              </a:rPr>
              <a:t>Pygame</a:t>
            </a:r>
            <a:endParaRPr lang="nl-BE" sz="2499" dirty="0">
              <a:latin typeface="Assistant"/>
              <a:ea typeface="Assistant"/>
              <a:cs typeface="Assistant"/>
              <a:sym typeface="Assistant"/>
            </a:endParaRPr>
          </a:p>
          <a:p>
            <a:pPr marL="539749" marR="0" lvl="1" indent="-26987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Char char="•"/>
            </a:pPr>
            <a:r>
              <a:rPr lang="nl-BE" sz="2499" b="0" i="0" u="none" strike="noStrike" cap="none" dirty="0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Time</a:t>
            </a:r>
          </a:p>
          <a:p>
            <a:pPr marL="539749" marR="0" lvl="1" indent="-26987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Char char="•"/>
            </a:pPr>
            <a:r>
              <a:rPr lang="nl-BE" sz="2499" dirty="0" err="1">
                <a:latin typeface="Assistant"/>
                <a:ea typeface="Assistant"/>
                <a:cs typeface="Assistant"/>
                <a:sym typeface="Assistant"/>
              </a:rPr>
              <a:t>Sys</a:t>
            </a:r>
            <a:endParaRPr lang="nl-BE" sz="2499" dirty="0">
              <a:latin typeface="Assistant"/>
              <a:ea typeface="Assistant"/>
              <a:cs typeface="Assistant"/>
              <a:sym typeface="Assistant"/>
            </a:endParaRPr>
          </a:p>
          <a:p>
            <a:pPr marL="539749" marR="0" lvl="1" indent="-26987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Char char="•"/>
            </a:pPr>
            <a:r>
              <a:rPr lang="nl-BE" sz="2499" b="0" i="0" u="none" strike="noStrike" cap="none" dirty="0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OS</a:t>
            </a:r>
          </a:p>
          <a:p>
            <a:pPr marL="539749" marR="0" lvl="1" indent="-26987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Char char="•"/>
            </a:pPr>
            <a:r>
              <a:rPr lang="nl-BE" sz="2499" dirty="0">
                <a:latin typeface="Assistant"/>
                <a:ea typeface="Assistant"/>
                <a:cs typeface="Assistant"/>
                <a:sym typeface="Assistant"/>
              </a:rPr>
              <a:t>Random</a:t>
            </a:r>
            <a:endParaRPr lang="nl-BE" sz="2499" b="0" i="0" u="none" strike="noStrike" cap="none" dirty="0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84" name="Google Shape;84;p12"/>
          <p:cNvSpPr txBox="1"/>
          <p:nvPr/>
        </p:nvSpPr>
        <p:spPr>
          <a:xfrm>
            <a:off x="7460237" y="4656196"/>
            <a:ext cx="2385531" cy="700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="0" i="0" u="none" strike="noStrike" cap="none" dirty="0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Libraries</a:t>
            </a:r>
            <a:endParaRPr dirty="0"/>
          </a:p>
        </p:txBody>
      </p:sp>
      <p:sp>
        <p:nvSpPr>
          <p:cNvPr id="85" name="Google Shape;85;p12"/>
          <p:cNvSpPr txBox="1"/>
          <p:nvPr/>
        </p:nvSpPr>
        <p:spPr>
          <a:xfrm>
            <a:off x="13067788" y="5778500"/>
            <a:ext cx="3998100" cy="759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33002" marR="0" lvl="1" indent="-266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68"/>
              <a:buFont typeface="Arial"/>
              <a:buChar char="•"/>
            </a:pPr>
            <a:r>
              <a:rPr lang="en-US" sz="2468" b="0" i="0" u="none" strike="noStrike" cap="none" dirty="0" err="1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Heuristiek</a:t>
            </a:r>
            <a:endParaRPr lang="en-US" sz="2468" b="0" i="0" u="none" strike="noStrike" cap="none" dirty="0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marL="533002" marR="0" lvl="1" indent="-266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68"/>
              <a:buFont typeface="Arial"/>
              <a:buChar char="•"/>
            </a:pPr>
            <a:r>
              <a:rPr lang="en-US" sz="2468" dirty="0" err="1">
                <a:latin typeface="Assistant"/>
                <a:cs typeface="Assistant"/>
                <a:sym typeface="Assistant"/>
              </a:rPr>
              <a:t>Genetisch</a:t>
            </a:r>
            <a:endParaRPr dirty="0"/>
          </a:p>
        </p:txBody>
      </p:sp>
      <p:sp>
        <p:nvSpPr>
          <p:cNvPr id="86" name="Google Shape;86;p12"/>
          <p:cNvSpPr txBox="1"/>
          <p:nvPr/>
        </p:nvSpPr>
        <p:spPr>
          <a:xfrm>
            <a:off x="13317315" y="4656196"/>
            <a:ext cx="3149417" cy="700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="0" i="0" u="none" strike="noStrike" cap="none" dirty="0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AI </a:t>
            </a:r>
            <a:r>
              <a:rPr lang="en-US" sz="3500" b="0" i="0" u="none" strike="noStrike" cap="none" dirty="0" err="1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structuren</a:t>
            </a:r>
            <a:endParaRPr dirty="0"/>
          </a:p>
        </p:txBody>
      </p:sp>
      <p:grpSp>
        <p:nvGrpSpPr>
          <p:cNvPr id="87" name="Google Shape;87;p12"/>
          <p:cNvGrpSpPr/>
          <p:nvPr/>
        </p:nvGrpSpPr>
        <p:grpSpPr>
          <a:xfrm>
            <a:off x="13879516" y="858646"/>
            <a:ext cx="1066856" cy="1313054"/>
            <a:chOff x="0" y="0"/>
            <a:chExt cx="660400" cy="812800"/>
          </a:xfrm>
        </p:grpSpPr>
        <p:sp>
          <p:nvSpPr>
            <p:cNvPr id="88" name="Google Shape;88;p12"/>
            <p:cNvSpPr/>
            <p:nvPr/>
          </p:nvSpPr>
          <p:spPr>
            <a:xfrm>
              <a:off x="0" y="0"/>
              <a:ext cx="660400" cy="812800"/>
            </a:xfrm>
            <a:custGeom>
              <a:avLst/>
              <a:gdLst/>
              <a:ahLst/>
              <a:cxnLst/>
              <a:rect l="l" t="t" r="r" b="b"/>
              <a:pathLst>
                <a:path w="660400" h="812800" extrusionOk="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28502"/>
                  </a:cubicBezTo>
                  <a:lnTo>
                    <a:pt x="660400" y="812800"/>
                  </a:lnTo>
                  <a:lnTo>
                    <a:pt x="0" y="812800"/>
                  </a:lnTo>
                  <a:lnTo>
                    <a:pt x="0" y="328861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12"/>
            <p:cNvSpPr txBox="1"/>
            <p:nvPr/>
          </p:nvSpPr>
          <p:spPr>
            <a:xfrm>
              <a:off x="0" y="60325"/>
              <a:ext cx="660400" cy="7524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7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0" name="Google Shape;90;p12"/>
          <p:cNvGrpSpPr/>
          <p:nvPr/>
        </p:nvGrpSpPr>
        <p:grpSpPr>
          <a:xfrm>
            <a:off x="13858670" y="2275929"/>
            <a:ext cx="1108547" cy="1323568"/>
            <a:chOff x="0" y="-66675"/>
            <a:chExt cx="736600" cy="879475"/>
          </a:xfrm>
        </p:grpSpPr>
        <p:sp>
          <p:nvSpPr>
            <p:cNvPr id="91" name="Google Shape;91;p12"/>
            <p:cNvSpPr/>
            <p:nvPr/>
          </p:nvSpPr>
          <p:spPr>
            <a:xfrm>
              <a:off x="0" y="0"/>
              <a:ext cx="736600" cy="812800"/>
            </a:xfrm>
            <a:custGeom>
              <a:avLst/>
              <a:gdLst/>
              <a:ahLst/>
              <a:cxnLst/>
              <a:rect l="l" t="t" r="r" b="b"/>
              <a:pathLst>
                <a:path w="736600" h="812800" extrusionOk="0">
                  <a:moveTo>
                    <a:pt x="736600" y="0"/>
                  </a:moveTo>
                  <a:lnTo>
                    <a:pt x="736600" y="812800"/>
                  </a:lnTo>
                  <a:lnTo>
                    <a:pt x="368300" y="685800"/>
                  </a:lnTo>
                  <a:lnTo>
                    <a:pt x="0" y="812800"/>
                  </a:lnTo>
                  <a:lnTo>
                    <a:pt x="0" y="0"/>
                  </a:lnTo>
                  <a:lnTo>
                    <a:pt x="736600" y="0"/>
                  </a:lnTo>
                  <a:close/>
                </a:path>
              </a:pathLst>
            </a:custGeom>
            <a:solidFill>
              <a:srgbClr val="F4C500"/>
            </a:solidFill>
            <a:ln>
              <a:noFill/>
            </a:ln>
          </p:spPr>
          <p:txBody>
            <a:bodyPr/>
            <a:lstStyle/>
            <a:p>
              <a:endParaRPr lang="LID4096"/>
            </a:p>
          </p:txBody>
        </p:sp>
        <p:sp>
          <p:nvSpPr>
            <p:cNvPr id="92" name="Google Shape;92;p12"/>
            <p:cNvSpPr txBox="1"/>
            <p:nvPr/>
          </p:nvSpPr>
          <p:spPr>
            <a:xfrm>
              <a:off x="0" y="-66675"/>
              <a:ext cx="736600" cy="7524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7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3" name="Google Shape;93;p12"/>
          <p:cNvGrpSpPr/>
          <p:nvPr/>
        </p:nvGrpSpPr>
        <p:grpSpPr>
          <a:xfrm>
            <a:off x="15167618" y="900647"/>
            <a:ext cx="1299117" cy="1304940"/>
            <a:chOff x="1813" y="0"/>
            <a:chExt cx="809173" cy="812800"/>
          </a:xfrm>
        </p:grpSpPr>
        <p:sp>
          <p:nvSpPr>
            <p:cNvPr id="94" name="Google Shape;94;p12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A16A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12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7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6" name="Google Shape;96;p12"/>
          <p:cNvSpPr/>
          <p:nvPr/>
        </p:nvSpPr>
        <p:spPr>
          <a:xfrm rot="10779982">
            <a:off x="15243751" y="2377499"/>
            <a:ext cx="1305003" cy="1304888"/>
          </a:xfrm>
          <a:custGeom>
            <a:avLst/>
            <a:gdLst/>
            <a:ahLst/>
            <a:cxnLst/>
            <a:rect l="l" t="t" r="r" b="b"/>
            <a:pathLst>
              <a:path w="14400530" h="14399261" extrusionOk="0">
                <a:moveTo>
                  <a:pt x="7199630" y="0"/>
                </a:moveTo>
                <a:cubicBezTo>
                  <a:pt x="3223260" y="0"/>
                  <a:pt x="0" y="3223260"/>
                  <a:pt x="0" y="7199630"/>
                </a:cubicBezTo>
                <a:cubicBezTo>
                  <a:pt x="0" y="11176001"/>
                  <a:pt x="3223260" y="14399261"/>
                  <a:pt x="7199630" y="14399261"/>
                </a:cubicBezTo>
                <a:lnTo>
                  <a:pt x="14399261" y="14399261"/>
                </a:lnTo>
                <a:lnTo>
                  <a:pt x="14399261" y="7199630"/>
                </a:lnTo>
                <a:cubicBezTo>
                  <a:pt x="14400530" y="3223260"/>
                  <a:pt x="11176000" y="0"/>
                  <a:pt x="7199630" y="0"/>
                </a:cubicBezTo>
                <a:close/>
              </a:path>
            </a:pathLst>
          </a:custGeom>
          <a:solidFill>
            <a:srgbClr val="EE60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12"/>
          <p:cNvSpPr/>
          <p:nvPr/>
        </p:nvSpPr>
        <p:spPr>
          <a:xfrm>
            <a:off x="928552" y="4607601"/>
            <a:ext cx="443688" cy="546078"/>
          </a:xfrm>
          <a:custGeom>
            <a:avLst/>
            <a:gdLst/>
            <a:ahLst/>
            <a:cxnLst/>
            <a:rect l="l" t="t" r="r" b="b"/>
            <a:pathLst>
              <a:path w="660400" h="812800" extrusionOk="0">
                <a:moveTo>
                  <a:pt x="220252" y="19070"/>
                </a:moveTo>
                <a:cubicBezTo>
                  <a:pt x="254000" y="7556"/>
                  <a:pt x="292600" y="0"/>
                  <a:pt x="330378" y="0"/>
                </a:cubicBezTo>
                <a:cubicBezTo>
                  <a:pt x="368157" y="0"/>
                  <a:pt x="404509" y="6476"/>
                  <a:pt x="438009" y="17990"/>
                </a:cubicBezTo>
                <a:cubicBezTo>
                  <a:pt x="438723" y="18350"/>
                  <a:pt x="439435" y="18350"/>
                  <a:pt x="440148" y="18710"/>
                </a:cubicBezTo>
                <a:cubicBezTo>
                  <a:pt x="565955" y="64765"/>
                  <a:pt x="658618" y="186379"/>
                  <a:pt x="660400" y="328502"/>
                </a:cubicBezTo>
                <a:lnTo>
                  <a:pt x="660400" y="812800"/>
                </a:lnTo>
                <a:lnTo>
                  <a:pt x="0" y="812800"/>
                </a:lnTo>
                <a:lnTo>
                  <a:pt x="0" y="328861"/>
                </a:lnTo>
                <a:cubicBezTo>
                  <a:pt x="1782" y="185660"/>
                  <a:pt x="93019" y="64045"/>
                  <a:pt x="220252" y="19070"/>
                </a:cubicBezTo>
                <a:close/>
              </a:path>
            </a:pathLst>
          </a:custGeom>
          <a:solidFill>
            <a:srgbClr val="A16A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12"/>
          <p:cNvSpPr/>
          <p:nvPr/>
        </p:nvSpPr>
        <p:spPr>
          <a:xfrm>
            <a:off x="6818341" y="4703461"/>
            <a:ext cx="461027" cy="508719"/>
          </a:xfrm>
          <a:custGeom>
            <a:avLst/>
            <a:gdLst/>
            <a:ahLst/>
            <a:cxnLst/>
            <a:rect l="l" t="t" r="r" b="b"/>
            <a:pathLst>
              <a:path w="736600" h="812800" extrusionOk="0">
                <a:moveTo>
                  <a:pt x="736600" y="0"/>
                </a:moveTo>
                <a:lnTo>
                  <a:pt x="736600" y="812800"/>
                </a:lnTo>
                <a:lnTo>
                  <a:pt x="368300" y="685800"/>
                </a:lnTo>
                <a:lnTo>
                  <a:pt x="0" y="812800"/>
                </a:lnTo>
                <a:lnTo>
                  <a:pt x="0" y="0"/>
                </a:lnTo>
                <a:lnTo>
                  <a:pt x="736600" y="0"/>
                </a:lnTo>
                <a:close/>
              </a:path>
            </a:pathLst>
          </a:custGeom>
          <a:solidFill>
            <a:srgbClr val="F4C500"/>
          </a:solidFill>
          <a:ln>
            <a:noFill/>
          </a:ln>
        </p:spPr>
        <p:txBody>
          <a:bodyPr/>
          <a:lstStyle/>
          <a:p>
            <a:endParaRPr lang="LID4096"/>
          </a:p>
        </p:txBody>
      </p:sp>
      <p:sp>
        <p:nvSpPr>
          <p:cNvPr id="99" name="Google Shape;99;p12"/>
          <p:cNvSpPr/>
          <p:nvPr/>
        </p:nvSpPr>
        <p:spPr>
          <a:xfrm rot="10779982">
            <a:off x="12586873" y="4677089"/>
            <a:ext cx="542730" cy="542682"/>
          </a:xfrm>
          <a:custGeom>
            <a:avLst/>
            <a:gdLst/>
            <a:ahLst/>
            <a:cxnLst/>
            <a:rect l="l" t="t" r="r" b="b"/>
            <a:pathLst>
              <a:path w="14400530" h="14399261" extrusionOk="0">
                <a:moveTo>
                  <a:pt x="7199630" y="0"/>
                </a:moveTo>
                <a:cubicBezTo>
                  <a:pt x="3223260" y="0"/>
                  <a:pt x="0" y="3223260"/>
                  <a:pt x="0" y="7199630"/>
                </a:cubicBezTo>
                <a:cubicBezTo>
                  <a:pt x="0" y="11176001"/>
                  <a:pt x="3223260" y="14399261"/>
                  <a:pt x="7199630" y="14399261"/>
                </a:cubicBezTo>
                <a:lnTo>
                  <a:pt x="14399261" y="14399261"/>
                </a:lnTo>
                <a:lnTo>
                  <a:pt x="14399261" y="7199630"/>
                </a:lnTo>
                <a:cubicBezTo>
                  <a:pt x="14400530" y="3223260"/>
                  <a:pt x="11176000" y="0"/>
                  <a:pt x="7199630" y="0"/>
                </a:cubicBezTo>
                <a:close/>
              </a:path>
            </a:pathLst>
          </a:custGeom>
          <a:solidFill>
            <a:srgbClr val="EE60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Rechthoek 1">
            <a:extLst>
              <a:ext uri="{FF2B5EF4-FFF2-40B4-BE49-F238E27FC236}">
                <a16:creationId xmlns:a16="http://schemas.microsoft.com/office/drawing/2014/main" id="{712DB7EC-3151-30D2-92DB-86B257C03E4D}"/>
              </a:ext>
            </a:extLst>
          </p:cNvPr>
          <p:cNvSpPr/>
          <p:nvPr/>
        </p:nvSpPr>
        <p:spPr>
          <a:xfrm>
            <a:off x="17629310" y="9627980"/>
            <a:ext cx="312907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nl-NL" sz="1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  <a:endParaRPr lang="nl-NL" sz="1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8"/>
          <p:cNvSpPr/>
          <p:nvPr/>
        </p:nvSpPr>
        <p:spPr>
          <a:xfrm>
            <a:off x="9488079" y="0"/>
            <a:ext cx="8799921" cy="10287000"/>
          </a:xfrm>
          <a:custGeom>
            <a:avLst/>
            <a:gdLst/>
            <a:ahLst/>
            <a:cxnLst/>
            <a:rect l="l" t="t" r="r" b="b"/>
            <a:pathLst>
              <a:path w="611196" h="714481" extrusionOk="0">
                <a:moveTo>
                  <a:pt x="0" y="0"/>
                </a:moveTo>
                <a:lnTo>
                  <a:pt x="611196" y="0"/>
                </a:lnTo>
                <a:lnTo>
                  <a:pt x="611196" y="714481"/>
                </a:lnTo>
                <a:lnTo>
                  <a:pt x="0" y="714481"/>
                </a:lnTo>
                <a:close/>
              </a:path>
            </a:pathLst>
          </a:custGeom>
          <a:solidFill>
            <a:srgbClr val="4BB8BE"/>
          </a:solidFill>
          <a:ln>
            <a:noFill/>
          </a:ln>
        </p:spPr>
        <p:txBody>
          <a:bodyPr/>
          <a:lstStyle/>
          <a:p>
            <a:endParaRPr lang="LID4096"/>
          </a:p>
        </p:txBody>
      </p:sp>
      <p:sp>
        <p:nvSpPr>
          <p:cNvPr id="251" name="Google Shape;251;p18"/>
          <p:cNvSpPr txBox="1"/>
          <p:nvPr/>
        </p:nvSpPr>
        <p:spPr>
          <a:xfrm>
            <a:off x="1102296" y="828675"/>
            <a:ext cx="7127100" cy="1154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BE" sz="7500" b="1" i="0" u="none" strike="noStrike" cap="none" dirty="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Analyse</a:t>
            </a:r>
            <a:endParaRPr dirty="0"/>
          </a:p>
        </p:txBody>
      </p:sp>
      <p:grpSp>
        <p:nvGrpSpPr>
          <p:cNvPr id="253" name="Google Shape;253;p18"/>
          <p:cNvGrpSpPr/>
          <p:nvPr/>
        </p:nvGrpSpPr>
        <p:grpSpPr>
          <a:xfrm>
            <a:off x="1102296" y="8522768"/>
            <a:ext cx="3989062" cy="959486"/>
            <a:chOff x="0" y="-40383"/>
            <a:chExt cx="5318750" cy="1279314"/>
          </a:xfrm>
        </p:grpSpPr>
        <p:grpSp>
          <p:nvGrpSpPr>
            <p:cNvPr id="254" name="Google Shape;254;p18"/>
            <p:cNvGrpSpPr/>
            <p:nvPr/>
          </p:nvGrpSpPr>
          <p:grpSpPr>
            <a:xfrm>
              <a:off x="0" y="16561"/>
              <a:ext cx="993176" cy="1222370"/>
              <a:chOff x="0" y="0"/>
              <a:chExt cx="660400" cy="812800"/>
            </a:xfrm>
          </p:grpSpPr>
          <p:sp>
            <p:nvSpPr>
              <p:cNvPr id="255" name="Google Shape;255;p18"/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4BB8B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56;p18"/>
              <p:cNvSpPr txBox="1"/>
              <p:nvPr/>
            </p:nvSpPr>
            <p:spPr>
              <a:xfrm>
                <a:off x="0" y="88900"/>
                <a:ext cx="660300" cy="72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22055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7" name="Google Shape;257;p18"/>
            <p:cNvGrpSpPr/>
            <p:nvPr/>
          </p:nvGrpSpPr>
          <p:grpSpPr>
            <a:xfrm>
              <a:off x="2722201" y="-40383"/>
              <a:ext cx="1100922" cy="1271755"/>
              <a:chOff x="0" y="-38100"/>
              <a:chExt cx="736600" cy="850900"/>
            </a:xfrm>
          </p:grpSpPr>
          <p:sp>
            <p:nvSpPr>
              <p:cNvPr id="258" name="Google Shape;258;p18"/>
              <p:cNvSpPr/>
              <p:nvPr/>
            </p:nvSpPr>
            <p:spPr>
              <a:xfrm>
                <a:off x="0" y="0"/>
                <a:ext cx="7366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36600" h="812800" extrusionOk="0">
                    <a:moveTo>
                      <a:pt x="736600" y="0"/>
                    </a:moveTo>
                    <a:lnTo>
                      <a:pt x="736600" y="812800"/>
                    </a:lnTo>
                    <a:lnTo>
                      <a:pt x="368300" y="685800"/>
                    </a:lnTo>
                    <a:lnTo>
                      <a:pt x="0" y="812800"/>
                    </a:lnTo>
                    <a:lnTo>
                      <a:pt x="0" y="0"/>
                    </a:lnTo>
                    <a:lnTo>
                      <a:pt x="736600" y="0"/>
                    </a:lnTo>
                    <a:close/>
                  </a:path>
                </a:pathLst>
              </a:custGeom>
              <a:solidFill>
                <a:srgbClr val="F4C500"/>
              </a:solidFill>
              <a:ln>
                <a:noFill/>
              </a:ln>
            </p:spPr>
            <p:txBody>
              <a:bodyPr/>
              <a:lstStyle/>
              <a:p>
                <a:endParaRPr lang="LID4096"/>
              </a:p>
            </p:txBody>
          </p:sp>
          <p:sp>
            <p:nvSpPr>
              <p:cNvPr id="259" name="Google Shape;259;p18"/>
              <p:cNvSpPr txBox="1"/>
              <p:nvPr/>
            </p:nvSpPr>
            <p:spPr>
              <a:xfrm>
                <a:off x="0" y="-38100"/>
                <a:ext cx="736500" cy="72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22055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60" name="Google Shape;260;p18"/>
            <p:cNvGrpSpPr/>
            <p:nvPr/>
          </p:nvGrpSpPr>
          <p:grpSpPr>
            <a:xfrm>
              <a:off x="1252993" y="16561"/>
              <a:ext cx="1209390" cy="1214811"/>
              <a:chOff x="1813" y="0"/>
              <a:chExt cx="809173" cy="812800"/>
            </a:xfrm>
          </p:grpSpPr>
          <p:sp>
            <p:nvSpPr>
              <p:cNvPr id="261" name="Google Shape;261;p18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A16AE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62;p18"/>
              <p:cNvSpPr txBox="1"/>
              <p:nvPr/>
            </p:nvSpPr>
            <p:spPr>
              <a:xfrm>
                <a:off x="76200" y="38100"/>
                <a:ext cx="660300" cy="6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22055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63" name="Google Shape;263;p18"/>
            <p:cNvSpPr/>
            <p:nvPr/>
          </p:nvSpPr>
          <p:spPr>
            <a:xfrm rot="10800000">
              <a:off x="4094705" y="7409"/>
              <a:ext cx="1224045" cy="1223937"/>
            </a:xfrm>
            <a:custGeom>
              <a:avLst/>
              <a:gdLst/>
              <a:ahLst/>
              <a:cxnLst/>
              <a:rect l="l" t="t" r="r" b="b"/>
              <a:pathLst>
                <a:path w="14400530" h="14399261" extrusionOk="0">
                  <a:moveTo>
                    <a:pt x="7199630" y="0"/>
                  </a:moveTo>
                  <a:cubicBezTo>
                    <a:pt x="3223260" y="0"/>
                    <a:pt x="0" y="3223260"/>
                    <a:pt x="0" y="7199630"/>
                  </a:cubicBezTo>
                  <a:cubicBezTo>
                    <a:pt x="0" y="11176001"/>
                    <a:pt x="3223260" y="14399261"/>
                    <a:pt x="7199630" y="14399261"/>
                  </a:cubicBezTo>
                  <a:lnTo>
                    <a:pt x="14399261" y="14399261"/>
                  </a:lnTo>
                  <a:lnTo>
                    <a:pt x="14399261" y="7199630"/>
                  </a:lnTo>
                  <a:cubicBezTo>
                    <a:pt x="14400530" y="3223260"/>
                    <a:pt x="11176000" y="0"/>
                    <a:pt x="7199630" y="0"/>
                  </a:cubicBezTo>
                  <a:close/>
                </a:path>
              </a:pathLst>
            </a:custGeom>
            <a:solidFill>
              <a:srgbClr val="EE60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4" name="Google Shape;264;p18"/>
          <p:cNvSpPr txBox="1"/>
          <p:nvPr/>
        </p:nvSpPr>
        <p:spPr>
          <a:xfrm>
            <a:off x="10054970" y="1109034"/>
            <a:ext cx="4584124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="0" i="0" u="none" strike="noStrike" cap="none" dirty="0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Data</a:t>
            </a:r>
            <a:endParaRPr dirty="0"/>
          </a:p>
        </p:txBody>
      </p:sp>
      <p:sp>
        <p:nvSpPr>
          <p:cNvPr id="265" name="Google Shape;265;p18"/>
          <p:cNvSpPr txBox="1"/>
          <p:nvPr/>
        </p:nvSpPr>
        <p:spPr>
          <a:xfrm>
            <a:off x="10054969" y="1702301"/>
            <a:ext cx="5151015" cy="769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BE" sz="2499" b="0" i="0" u="none" strike="noStrike" cap="none" dirty="0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Eigen data</a:t>
            </a:r>
            <a:endParaRPr lang="nl-BE" sz="2499" dirty="0">
              <a:solidFill>
                <a:srgbClr val="FFFFFF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r>
              <a:rPr lang="nl-BE" sz="2499" dirty="0">
                <a:solidFill>
                  <a:srgbClr val="FFFFFF"/>
                </a:solidFill>
                <a:latin typeface="Assistant"/>
                <a:cs typeface="Assistant"/>
                <a:sym typeface="Assistant"/>
              </a:rPr>
              <a:t>Uitbreiding </a:t>
            </a:r>
            <a:r>
              <a:rPr lang="nl-BE" sz="2499" dirty="0" err="1">
                <a:solidFill>
                  <a:srgbClr val="FFFFFF"/>
                </a:solidFill>
                <a:latin typeface="Assistant"/>
                <a:cs typeface="Assistant"/>
                <a:sym typeface="Assistant"/>
              </a:rPr>
              <a:t>tetrisGen</a:t>
            </a:r>
            <a:endParaRPr dirty="0"/>
          </a:p>
        </p:txBody>
      </p:sp>
      <p:sp>
        <p:nvSpPr>
          <p:cNvPr id="266" name="Google Shape;266;p18"/>
          <p:cNvSpPr txBox="1"/>
          <p:nvPr/>
        </p:nvSpPr>
        <p:spPr>
          <a:xfrm>
            <a:off x="10054970" y="3350077"/>
            <a:ext cx="4584124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="0" i="0" u="none" strike="noStrike" cap="none" dirty="0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Software</a:t>
            </a:r>
            <a:endParaRPr dirty="0"/>
          </a:p>
        </p:txBody>
      </p:sp>
      <p:sp>
        <p:nvSpPr>
          <p:cNvPr id="267" name="Google Shape;267;p18"/>
          <p:cNvSpPr txBox="1"/>
          <p:nvPr/>
        </p:nvSpPr>
        <p:spPr>
          <a:xfrm>
            <a:off x="10054970" y="3943344"/>
            <a:ext cx="4584000" cy="38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BE" sz="2499" b="0" i="0" u="none" strike="noStrike" cap="none" dirty="0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Windows</a:t>
            </a:r>
            <a:endParaRPr dirty="0"/>
          </a:p>
        </p:txBody>
      </p:sp>
      <p:sp>
        <p:nvSpPr>
          <p:cNvPr id="268" name="Google Shape;268;p18"/>
          <p:cNvSpPr txBox="1"/>
          <p:nvPr/>
        </p:nvSpPr>
        <p:spPr>
          <a:xfrm>
            <a:off x="10054970" y="5591119"/>
            <a:ext cx="4584124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dirty="0">
                <a:solidFill>
                  <a:srgbClr val="FFFFFF"/>
                </a:solidFill>
                <a:latin typeface="Fira Sans Medium"/>
                <a:sym typeface="Fira Sans Medium"/>
              </a:rPr>
              <a:t>Hardware</a:t>
            </a:r>
            <a:endParaRPr lang="en-US" dirty="0"/>
          </a:p>
        </p:txBody>
      </p:sp>
      <p:sp>
        <p:nvSpPr>
          <p:cNvPr id="269" name="Google Shape;269;p18"/>
          <p:cNvSpPr txBox="1"/>
          <p:nvPr/>
        </p:nvSpPr>
        <p:spPr>
          <a:xfrm>
            <a:off x="10054970" y="6162887"/>
            <a:ext cx="4584000" cy="38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BE" sz="2499" dirty="0">
                <a:solidFill>
                  <a:srgbClr val="FFFFFF"/>
                </a:solidFill>
                <a:latin typeface="Assistant"/>
                <a:cs typeface="Assistant"/>
                <a:sym typeface="Assistant"/>
              </a:rPr>
              <a:t>Pc/laptop</a:t>
            </a:r>
            <a:endParaRPr dirty="0"/>
          </a:p>
        </p:txBody>
      </p:sp>
      <p:sp>
        <p:nvSpPr>
          <p:cNvPr id="270" name="Google Shape;270;p18"/>
          <p:cNvSpPr txBox="1"/>
          <p:nvPr/>
        </p:nvSpPr>
        <p:spPr>
          <a:xfrm>
            <a:off x="10054970" y="7832162"/>
            <a:ext cx="492316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="0" i="0" u="none" strike="noStrike" cap="none" dirty="0" err="1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Deployen</a:t>
            </a:r>
            <a:r>
              <a:rPr lang="en-US" sz="3500" b="0" i="0" u="none" strike="noStrike" cap="none" dirty="0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 van software</a:t>
            </a:r>
            <a:endParaRPr lang="en-US" dirty="0"/>
          </a:p>
        </p:txBody>
      </p:sp>
      <p:sp>
        <p:nvSpPr>
          <p:cNvPr id="271" name="Google Shape;271;p18"/>
          <p:cNvSpPr txBox="1"/>
          <p:nvPr/>
        </p:nvSpPr>
        <p:spPr>
          <a:xfrm>
            <a:off x="10054970" y="8425429"/>
            <a:ext cx="4584000" cy="38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99" b="0" i="0" u="none" strike="noStrike" cap="none" dirty="0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.exe</a:t>
            </a:r>
            <a:endParaRPr lang="en-US" dirty="0"/>
          </a:p>
        </p:txBody>
      </p:sp>
      <p:sp>
        <p:nvSpPr>
          <p:cNvPr id="272" name="Google Shape;272;p18"/>
          <p:cNvSpPr/>
          <p:nvPr/>
        </p:nvSpPr>
        <p:spPr>
          <a:xfrm>
            <a:off x="9223965" y="1118982"/>
            <a:ext cx="528228" cy="530596"/>
          </a:xfrm>
          <a:custGeom>
            <a:avLst/>
            <a:gdLst/>
            <a:ahLst/>
            <a:cxnLst/>
            <a:rect l="l" t="t" r="r" b="b"/>
            <a:pathLst>
              <a:path w="809173" h="812800" extrusionOk="0">
                <a:moveTo>
                  <a:pt x="404587" y="0"/>
                </a:moveTo>
                <a:cubicBezTo>
                  <a:pt x="628326" y="1001"/>
                  <a:pt x="809174" y="182659"/>
                  <a:pt x="809174" y="406400"/>
                </a:cubicBezTo>
                <a:cubicBezTo>
                  <a:pt x="809174" y="630141"/>
                  <a:pt x="628326" y="811799"/>
                  <a:pt x="404587" y="812800"/>
                </a:cubicBezTo>
                <a:cubicBezTo>
                  <a:pt x="180848" y="811799"/>
                  <a:pt x="0" y="630141"/>
                  <a:pt x="0" y="406400"/>
                </a:cubicBezTo>
                <a:cubicBezTo>
                  <a:pt x="0" y="182659"/>
                  <a:pt x="180848" y="1001"/>
                  <a:pt x="404587" y="0"/>
                </a:cubicBezTo>
                <a:close/>
              </a:path>
            </a:pathLst>
          </a:custGeom>
          <a:solidFill>
            <a:srgbClr val="A16AE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8"/>
          <p:cNvSpPr/>
          <p:nvPr/>
        </p:nvSpPr>
        <p:spPr>
          <a:xfrm>
            <a:off x="9243297" y="3360025"/>
            <a:ext cx="528228" cy="530596"/>
          </a:xfrm>
          <a:custGeom>
            <a:avLst/>
            <a:gdLst/>
            <a:ahLst/>
            <a:cxnLst/>
            <a:rect l="l" t="t" r="r" b="b"/>
            <a:pathLst>
              <a:path w="809173" h="812800" extrusionOk="0">
                <a:moveTo>
                  <a:pt x="404587" y="0"/>
                </a:moveTo>
                <a:cubicBezTo>
                  <a:pt x="628326" y="1001"/>
                  <a:pt x="809174" y="182659"/>
                  <a:pt x="809174" y="406400"/>
                </a:cubicBezTo>
                <a:cubicBezTo>
                  <a:pt x="809174" y="630141"/>
                  <a:pt x="628326" y="811799"/>
                  <a:pt x="404587" y="812800"/>
                </a:cubicBezTo>
                <a:cubicBezTo>
                  <a:pt x="180848" y="811799"/>
                  <a:pt x="0" y="630141"/>
                  <a:pt x="0" y="406400"/>
                </a:cubicBezTo>
                <a:cubicBezTo>
                  <a:pt x="0" y="182659"/>
                  <a:pt x="180848" y="1001"/>
                  <a:pt x="404587" y="0"/>
                </a:cubicBezTo>
                <a:close/>
              </a:path>
            </a:pathLst>
          </a:custGeom>
          <a:solidFill>
            <a:srgbClr val="F5C5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8"/>
          <p:cNvSpPr/>
          <p:nvPr/>
        </p:nvSpPr>
        <p:spPr>
          <a:xfrm>
            <a:off x="9243297" y="5596093"/>
            <a:ext cx="528228" cy="530596"/>
          </a:xfrm>
          <a:custGeom>
            <a:avLst/>
            <a:gdLst/>
            <a:ahLst/>
            <a:cxnLst/>
            <a:rect l="l" t="t" r="r" b="b"/>
            <a:pathLst>
              <a:path w="809173" h="812800" extrusionOk="0">
                <a:moveTo>
                  <a:pt x="404587" y="0"/>
                </a:moveTo>
                <a:cubicBezTo>
                  <a:pt x="628326" y="1001"/>
                  <a:pt x="809174" y="182659"/>
                  <a:pt x="809174" y="406400"/>
                </a:cubicBezTo>
                <a:cubicBezTo>
                  <a:pt x="809174" y="630141"/>
                  <a:pt x="628326" y="811799"/>
                  <a:pt x="404587" y="812800"/>
                </a:cubicBezTo>
                <a:cubicBezTo>
                  <a:pt x="180848" y="811799"/>
                  <a:pt x="0" y="630141"/>
                  <a:pt x="0" y="406400"/>
                </a:cubicBezTo>
                <a:cubicBezTo>
                  <a:pt x="0" y="182659"/>
                  <a:pt x="180848" y="1001"/>
                  <a:pt x="404587" y="0"/>
                </a:cubicBezTo>
                <a:close/>
              </a:path>
            </a:pathLst>
          </a:custGeom>
          <a:solidFill>
            <a:srgbClr val="EF5F4A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8"/>
          <p:cNvSpPr/>
          <p:nvPr/>
        </p:nvSpPr>
        <p:spPr>
          <a:xfrm>
            <a:off x="9223965" y="7832161"/>
            <a:ext cx="528228" cy="530596"/>
          </a:xfrm>
          <a:custGeom>
            <a:avLst/>
            <a:gdLst/>
            <a:ahLst/>
            <a:cxnLst/>
            <a:rect l="l" t="t" r="r" b="b"/>
            <a:pathLst>
              <a:path w="809173" h="812800" extrusionOk="0">
                <a:moveTo>
                  <a:pt x="404587" y="0"/>
                </a:moveTo>
                <a:cubicBezTo>
                  <a:pt x="628326" y="1001"/>
                  <a:pt x="809174" y="182659"/>
                  <a:pt x="809174" y="406400"/>
                </a:cubicBezTo>
                <a:cubicBezTo>
                  <a:pt x="809174" y="630141"/>
                  <a:pt x="628326" y="811799"/>
                  <a:pt x="404587" y="812800"/>
                </a:cubicBezTo>
                <a:cubicBezTo>
                  <a:pt x="180848" y="811799"/>
                  <a:pt x="0" y="630141"/>
                  <a:pt x="0" y="406400"/>
                </a:cubicBezTo>
                <a:cubicBezTo>
                  <a:pt x="0" y="182659"/>
                  <a:pt x="180848" y="1001"/>
                  <a:pt x="404587" y="0"/>
                </a:cubicBezTo>
                <a:close/>
              </a:path>
            </a:pathLst>
          </a:custGeom>
          <a:solidFill>
            <a:srgbClr val="A16AE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Picture 3" descr="A blue screen with white lines">
            <a:extLst>
              <a:ext uri="{FF2B5EF4-FFF2-40B4-BE49-F238E27FC236}">
                <a16:creationId xmlns:a16="http://schemas.microsoft.com/office/drawing/2014/main" id="{E0145208-40F0-C217-ECC8-0003B08AE02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8664"/>
          <a:stretch/>
        </p:blipFill>
        <p:spPr>
          <a:xfrm>
            <a:off x="1438242" y="2471486"/>
            <a:ext cx="4946997" cy="670022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Rechthoek 1">
            <a:extLst>
              <a:ext uri="{FF2B5EF4-FFF2-40B4-BE49-F238E27FC236}">
                <a16:creationId xmlns:a16="http://schemas.microsoft.com/office/drawing/2014/main" id="{0E6C3196-DAD0-BDC2-14F0-37781FDEF88F}"/>
              </a:ext>
            </a:extLst>
          </p:cNvPr>
          <p:cNvSpPr/>
          <p:nvPr/>
        </p:nvSpPr>
        <p:spPr>
          <a:xfrm>
            <a:off x="17629310" y="9627980"/>
            <a:ext cx="312907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nl-NL" sz="1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</a:t>
            </a:r>
            <a:endParaRPr lang="nl-NL" sz="1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0334247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16AE8"/>
        </a:solidFill>
        <a:effectLst/>
      </p:bgPr>
    </p:bg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6"/>
          <p:cNvSpPr txBox="1"/>
          <p:nvPr/>
        </p:nvSpPr>
        <p:spPr>
          <a:xfrm>
            <a:off x="9889521" y="611923"/>
            <a:ext cx="5446213" cy="1384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499" b="1" i="0" u="none" strike="noStrike" cap="none" dirty="0" err="1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Resultaat</a:t>
            </a:r>
            <a:endParaRPr dirty="0"/>
          </a:p>
        </p:txBody>
      </p:sp>
      <p:sp>
        <p:nvSpPr>
          <p:cNvPr id="199" name="Google Shape;199;p16"/>
          <p:cNvSpPr txBox="1"/>
          <p:nvPr/>
        </p:nvSpPr>
        <p:spPr>
          <a:xfrm>
            <a:off x="9889521" y="1841966"/>
            <a:ext cx="5620500" cy="38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99" b="0" i="0" u="none" strike="noStrike" cap="none" dirty="0" err="1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Algemene</a:t>
            </a:r>
            <a:r>
              <a:rPr lang="en-US" sz="2499" b="0" i="0" u="none" strike="noStrike" cap="none" dirty="0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 </a:t>
            </a:r>
            <a:r>
              <a:rPr lang="en-US" sz="2499" b="0" i="0" u="none" strike="noStrike" cap="none" dirty="0" err="1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beschrijving</a:t>
            </a:r>
            <a:endParaRPr dirty="0"/>
          </a:p>
        </p:txBody>
      </p:sp>
      <p:grpSp>
        <p:nvGrpSpPr>
          <p:cNvPr id="200" name="Google Shape;200;p16"/>
          <p:cNvGrpSpPr/>
          <p:nvPr/>
        </p:nvGrpSpPr>
        <p:grpSpPr>
          <a:xfrm>
            <a:off x="7637594" y="7840275"/>
            <a:ext cx="7698139" cy="1954599"/>
            <a:chOff x="0" y="-215291"/>
            <a:chExt cx="10264185" cy="2606133"/>
          </a:xfrm>
        </p:grpSpPr>
        <p:grpSp>
          <p:nvGrpSpPr>
            <p:cNvPr id="201" name="Google Shape;201;p16"/>
            <p:cNvGrpSpPr/>
            <p:nvPr/>
          </p:nvGrpSpPr>
          <p:grpSpPr>
            <a:xfrm>
              <a:off x="0" y="31960"/>
              <a:ext cx="1916592" cy="2358882"/>
              <a:chOff x="0" y="0"/>
              <a:chExt cx="660400" cy="812800"/>
            </a:xfrm>
          </p:grpSpPr>
          <p:sp>
            <p:nvSpPr>
              <p:cNvPr id="202" name="Google Shape;202;p16"/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4BB8B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" name="Google Shape;203;p16"/>
              <p:cNvSpPr txBox="1"/>
              <p:nvPr/>
            </p:nvSpPr>
            <p:spPr>
              <a:xfrm>
                <a:off x="0" y="41275"/>
                <a:ext cx="660400" cy="7715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235555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4" name="Google Shape;204;p16"/>
            <p:cNvGrpSpPr/>
            <p:nvPr/>
          </p:nvGrpSpPr>
          <p:grpSpPr>
            <a:xfrm>
              <a:off x="5253336" y="-215291"/>
              <a:ext cx="2124528" cy="2591558"/>
              <a:chOff x="0" y="-85725"/>
              <a:chExt cx="736600" cy="898525"/>
            </a:xfrm>
          </p:grpSpPr>
          <p:sp>
            <p:nvSpPr>
              <p:cNvPr id="205" name="Google Shape;205;p16"/>
              <p:cNvSpPr/>
              <p:nvPr/>
            </p:nvSpPr>
            <p:spPr>
              <a:xfrm>
                <a:off x="0" y="0"/>
                <a:ext cx="7366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36600" h="812800" extrusionOk="0">
                    <a:moveTo>
                      <a:pt x="736600" y="0"/>
                    </a:moveTo>
                    <a:lnTo>
                      <a:pt x="736600" y="812800"/>
                    </a:lnTo>
                    <a:lnTo>
                      <a:pt x="368300" y="685800"/>
                    </a:lnTo>
                    <a:lnTo>
                      <a:pt x="0" y="812800"/>
                    </a:lnTo>
                    <a:lnTo>
                      <a:pt x="0" y="0"/>
                    </a:lnTo>
                    <a:lnTo>
                      <a:pt x="736600" y="0"/>
                    </a:lnTo>
                    <a:close/>
                  </a:path>
                </a:pathLst>
              </a:custGeom>
              <a:solidFill>
                <a:srgbClr val="EE604A"/>
              </a:solidFill>
              <a:ln>
                <a:noFill/>
              </a:ln>
            </p:spPr>
            <p:txBody>
              <a:bodyPr/>
              <a:lstStyle/>
              <a:p>
                <a:endParaRPr lang="LID4096"/>
              </a:p>
            </p:txBody>
          </p:sp>
          <p:sp>
            <p:nvSpPr>
              <p:cNvPr id="206" name="Google Shape;206;p16"/>
              <p:cNvSpPr txBox="1"/>
              <p:nvPr/>
            </p:nvSpPr>
            <p:spPr>
              <a:xfrm>
                <a:off x="0" y="-85725"/>
                <a:ext cx="736600" cy="7715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235555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7" name="Google Shape;207;p16"/>
            <p:cNvGrpSpPr/>
            <p:nvPr/>
          </p:nvGrpSpPr>
          <p:grpSpPr>
            <a:xfrm>
              <a:off x="2418039" y="4488"/>
              <a:ext cx="2333846" cy="2371779"/>
              <a:chOff x="1813" y="-9525"/>
              <a:chExt cx="809173" cy="822325"/>
            </a:xfrm>
          </p:grpSpPr>
          <p:sp>
            <p:nvSpPr>
              <p:cNvPr id="208" name="Google Shape;208;p16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4C5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" name="Google Shape;209;p16"/>
              <p:cNvSpPr txBox="1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235555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10" name="Google Shape;210;p16"/>
            <p:cNvSpPr/>
            <p:nvPr/>
          </p:nvSpPr>
          <p:spPr>
            <a:xfrm rot="10779982">
              <a:off x="7880981" y="7107"/>
              <a:ext cx="2376307" cy="2376098"/>
            </a:xfrm>
            <a:custGeom>
              <a:avLst/>
              <a:gdLst/>
              <a:ahLst/>
              <a:cxnLst/>
              <a:rect l="l" t="t" r="r" b="b"/>
              <a:pathLst>
                <a:path w="14400530" h="14399261" extrusionOk="0">
                  <a:moveTo>
                    <a:pt x="7199630" y="0"/>
                  </a:moveTo>
                  <a:cubicBezTo>
                    <a:pt x="3223260" y="0"/>
                    <a:pt x="0" y="3223260"/>
                    <a:pt x="0" y="7199630"/>
                  </a:cubicBezTo>
                  <a:cubicBezTo>
                    <a:pt x="0" y="11176001"/>
                    <a:pt x="3223260" y="14399261"/>
                    <a:pt x="7199630" y="14399261"/>
                  </a:cubicBezTo>
                  <a:lnTo>
                    <a:pt x="14399261" y="14399261"/>
                  </a:lnTo>
                  <a:lnTo>
                    <a:pt x="14399261" y="7199630"/>
                  </a:lnTo>
                  <a:cubicBezTo>
                    <a:pt x="14400530" y="3223260"/>
                    <a:pt x="11176000" y="0"/>
                    <a:pt x="7199630" y="0"/>
                  </a:cubicBezTo>
                  <a:close/>
                </a:path>
              </a:pathLst>
            </a:custGeom>
            <a:solidFill>
              <a:srgbClr val="4BB8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1" name="Google Shape;211;p16"/>
          <p:cNvGrpSpPr/>
          <p:nvPr/>
        </p:nvGrpSpPr>
        <p:grpSpPr>
          <a:xfrm>
            <a:off x="15711723" y="8025713"/>
            <a:ext cx="1437444" cy="1769162"/>
            <a:chOff x="0" y="0"/>
            <a:chExt cx="660400" cy="812800"/>
          </a:xfrm>
        </p:grpSpPr>
        <p:sp>
          <p:nvSpPr>
            <p:cNvPr id="212" name="Google Shape;212;p16"/>
            <p:cNvSpPr/>
            <p:nvPr/>
          </p:nvSpPr>
          <p:spPr>
            <a:xfrm>
              <a:off x="0" y="0"/>
              <a:ext cx="660400" cy="812800"/>
            </a:xfrm>
            <a:custGeom>
              <a:avLst/>
              <a:gdLst/>
              <a:ahLst/>
              <a:cxnLst/>
              <a:rect l="l" t="t" r="r" b="b"/>
              <a:pathLst>
                <a:path w="660400" h="812800" extrusionOk="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28502"/>
                  </a:cubicBezTo>
                  <a:lnTo>
                    <a:pt x="660400" y="812800"/>
                  </a:lnTo>
                  <a:lnTo>
                    <a:pt x="0" y="812800"/>
                  </a:lnTo>
                  <a:lnTo>
                    <a:pt x="0" y="328861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F4C5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16"/>
            <p:cNvSpPr txBox="1"/>
            <p:nvPr/>
          </p:nvSpPr>
          <p:spPr>
            <a:xfrm>
              <a:off x="0" y="60325"/>
              <a:ext cx="660400" cy="7524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7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4" name="Google Shape;214;p16"/>
          <p:cNvGrpSpPr/>
          <p:nvPr/>
        </p:nvGrpSpPr>
        <p:grpSpPr>
          <a:xfrm>
            <a:off x="17525253" y="8025713"/>
            <a:ext cx="1750384" cy="1758230"/>
            <a:chOff x="1813" y="0"/>
            <a:chExt cx="809173" cy="812800"/>
          </a:xfrm>
        </p:grpSpPr>
        <p:sp>
          <p:nvSpPr>
            <p:cNvPr id="215" name="Google Shape;215;p16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EE60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16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7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7" name="Google Shape;217;p16"/>
          <p:cNvSpPr/>
          <p:nvPr/>
        </p:nvSpPr>
        <p:spPr>
          <a:xfrm rot="10779982">
            <a:off x="9511266" y="5740833"/>
            <a:ext cx="1782230" cy="1782073"/>
          </a:xfrm>
          <a:custGeom>
            <a:avLst/>
            <a:gdLst/>
            <a:ahLst/>
            <a:cxnLst/>
            <a:rect l="l" t="t" r="r" b="b"/>
            <a:pathLst>
              <a:path w="14400530" h="14399261" extrusionOk="0">
                <a:moveTo>
                  <a:pt x="7199630" y="0"/>
                </a:moveTo>
                <a:cubicBezTo>
                  <a:pt x="3223260" y="0"/>
                  <a:pt x="0" y="3223260"/>
                  <a:pt x="0" y="7199630"/>
                </a:cubicBezTo>
                <a:cubicBezTo>
                  <a:pt x="0" y="11176001"/>
                  <a:pt x="3223260" y="14399261"/>
                  <a:pt x="7199630" y="14399261"/>
                </a:cubicBezTo>
                <a:lnTo>
                  <a:pt x="14399261" y="14399261"/>
                </a:lnTo>
                <a:lnTo>
                  <a:pt x="14399261" y="7199630"/>
                </a:lnTo>
                <a:cubicBezTo>
                  <a:pt x="14400530" y="3223260"/>
                  <a:pt x="11176000" y="0"/>
                  <a:pt x="7199630" y="0"/>
                </a:cubicBezTo>
                <a:close/>
              </a:path>
            </a:pathLst>
          </a:custGeom>
          <a:solidFill>
            <a:srgbClr val="4BB8B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8" name="Google Shape;218;p16"/>
          <p:cNvGrpSpPr/>
          <p:nvPr/>
        </p:nvGrpSpPr>
        <p:grpSpPr>
          <a:xfrm>
            <a:off x="11674659" y="5574034"/>
            <a:ext cx="7698139" cy="1954599"/>
            <a:chOff x="0" y="-215291"/>
            <a:chExt cx="10264185" cy="2606133"/>
          </a:xfrm>
        </p:grpSpPr>
        <p:grpSp>
          <p:nvGrpSpPr>
            <p:cNvPr id="219" name="Google Shape;219;p16"/>
            <p:cNvGrpSpPr/>
            <p:nvPr/>
          </p:nvGrpSpPr>
          <p:grpSpPr>
            <a:xfrm>
              <a:off x="0" y="31960"/>
              <a:ext cx="1916592" cy="2358882"/>
              <a:chOff x="0" y="0"/>
              <a:chExt cx="660400" cy="812800"/>
            </a:xfrm>
          </p:grpSpPr>
          <p:sp>
            <p:nvSpPr>
              <p:cNvPr id="220" name="Google Shape;220;p16"/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F4C5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Google Shape;221;p16"/>
              <p:cNvSpPr txBox="1"/>
              <p:nvPr/>
            </p:nvSpPr>
            <p:spPr>
              <a:xfrm>
                <a:off x="0" y="41275"/>
                <a:ext cx="660400" cy="7715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235555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2" name="Google Shape;222;p16"/>
            <p:cNvGrpSpPr/>
            <p:nvPr/>
          </p:nvGrpSpPr>
          <p:grpSpPr>
            <a:xfrm>
              <a:off x="5253336" y="-215291"/>
              <a:ext cx="2124528" cy="2591558"/>
              <a:chOff x="0" y="-85725"/>
              <a:chExt cx="736600" cy="898525"/>
            </a:xfrm>
          </p:grpSpPr>
          <p:sp>
            <p:nvSpPr>
              <p:cNvPr id="223" name="Google Shape;223;p16"/>
              <p:cNvSpPr/>
              <p:nvPr/>
            </p:nvSpPr>
            <p:spPr>
              <a:xfrm>
                <a:off x="0" y="0"/>
                <a:ext cx="7366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36600" h="812800" extrusionOk="0">
                    <a:moveTo>
                      <a:pt x="736600" y="0"/>
                    </a:moveTo>
                    <a:lnTo>
                      <a:pt x="736600" y="812800"/>
                    </a:lnTo>
                    <a:lnTo>
                      <a:pt x="368300" y="685800"/>
                    </a:lnTo>
                    <a:lnTo>
                      <a:pt x="0" y="812800"/>
                    </a:lnTo>
                    <a:lnTo>
                      <a:pt x="0" y="0"/>
                    </a:lnTo>
                    <a:lnTo>
                      <a:pt x="736600" y="0"/>
                    </a:lnTo>
                    <a:close/>
                  </a:path>
                </a:pathLst>
              </a:custGeom>
              <a:solidFill>
                <a:srgbClr val="EE604A"/>
              </a:solidFill>
              <a:ln>
                <a:noFill/>
              </a:ln>
            </p:spPr>
            <p:txBody>
              <a:bodyPr/>
              <a:lstStyle/>
              <a:p>
                <a:endParaRPr lang="LID4096"/>
              </a:p>
            </p:txBody>
          </p:sp>
          <p:sp>
            <p:nvSpPr>
              <p:cNvPr id="224" name="Google Shape;224;p16"/>
              <p:cNvSpPr txBox="1"/>
              <p:nvPr/>
            </p:nvSpPr>
            <p:spPr>
              <a:xfrm>
                <a:off x="0" y="-85725"/>
                <a:ext cx="736600" cy="7715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235555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5" name="Google Shape;225;p16"/>
            <p:cNvGrpSpPr/>
            <p:nvPr/>
          </p:nvGrpSpPr>
          <p:grpSpPr>
            <a:xfrm>
              <a:off x="2418039" y="4488"/>
              <a:ext cx="2333846" cy="2371779"/>
              <a:chOff x="1813" y="-9525"/>
              <a:chExt cx="809173" cy="822325"/>
            </a:xfrm>
          </p:grpSpPr>
          <p:sp>
            <p:nvSpPr>
              <p:cNvPr id="226" name="Google Shape;226;p16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EE604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Google Shape;227;p16"/>
              <p:cNvSpPr txBox="1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235555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28" name="Google Shape;228;p16"/>
            <p:cNvSpPr/>
            <p:nvPr/>
          </p:nvSpPr>
          <p:spPr>
            <a:xfrm rot="10779982">
              <a:off x="7880981" y="7107"/>
              <a:ext cx="2376307" cy="2376098"/>
            </a:xfrm>
            <a:custGeom>
              <a:avLst/>
              <a:gdLst/>
              <a:ahLst/>
              <a:cxnLst/>
              <a:rect l="l" t="t" r="r" b="b"/>
              <a:pathLst>
                <a:path w="14400530" h="14399261" extrusionOk="0">
                  <a:moveTo>
                    <a:pt x="7199630" y="0"/>
                  </a:moveTo>
                  <a:cubicBezTo>
                    <a:pt x="3223260" y="0"/>
                    <a:pt x="0" y="3223260"/>
                    <a:pt x="0" y="7199630"/>
                  </a:cubicBezTo>
                  <a:cubicBezTo>
                    <a:pt x="0" y="11176001"/>
                    <a:pt x="3223260" y="14399261"/>
                    <a:pt x="7199630" y="14399261"/>
                  </a:cubicBezTo>
                  <a:lnTo>
                    <a:pt x="14399261" y="14399261"/>
                  </a:lnTo>
                  <a:lnTo>
                    <a:pt x="14399261" y="7199630"/>
                  </a:lnTo>
                  <a:cubicBezTo>
                    <a:pt x="14400530" y="3223260"/>
                    <a:pt x="11176000" y="0"/>
                    <a:pt x="7199630" y="0"/>
                  </a:cubicBezTo>
                  <a:close/>
                </a:path>
              </a:pathLst>
            </a:custGeom>
            <a:solidFill>
              <a:srgbClr val="4BB8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9" name="Google Shape;229;p16"/>
          <p:cNvSpPr/>
          <p:nvPr/>
        </p:nvSpPr>
        <p:spPr>
          <a:xfrm>
            <a:off x="7540532" y="5759472"/>
            <a:ext cx="1593413" cy="1758249"/>
          </a:xfrm>
          <a:custGeom>
            <a:avLst/>
            <a:gdLst/>
            <a:ahLst/>
            <a:cxnLst/>
            <a:rect l="l" t="t" r="r" b="b"/>
            <a:pathLst>
              <a:path w="736600" h="812800" extrusionOk="0">
                <a:moveTo>
                  <a:pt x="736600" y="0"/>
                </a:moveTo>
                <a:lnTo>
                  <a:pt x="736600" y="812800"/>
                </a:lnTo>
                <a:lnTo>
                  <a:pt x="368300" y="685800"/>
                </a:lnTo>
                <a:lnTo>
                  <a:pt x="0" y="812800"/>
                </a:lnTo>
                <a:lnTo>
                  <a:pt x="0" y="0"/>
                </a:lnTo>
                <a:lnTo>
                  <a:pt x="736600" y="0"/>
                </a:lnTo>
                <a:close/>
              </a:path>
            </a:pathLst>
          </a:custGeom>
          <a:solidFill>
            <a:srgbClr val="EE604A"/>
          </a:solidFill>
          <a:ln>
            <a:noFill/>
          </a:ln>
        </p:spPr>
        <p:txBody>
          <a:bodyPr/>
          <a:lstStyle/>
          <a:p>
            <a:endParaRPr lang="LID4096"/>
          </a:p>
        </p:txBody>
      </p:sp>
      <p:pic>
        <p:nvPicPr>
          <p:cNvPr id="2" name="Picture 1" descr="A graph of a graph">
            <a:extLst>
              <a:ext uri="{FF2B5EF4-FFF2-40B4-BE49-F238E27FC236}">
                <a16:creationId xmlns:a16="http://schemas.microsoft.com/office/drawing/2014/main" id="{F783676E-4840-6DA9-F2A1-8C61C0D347E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8799"/>
          <a:stretch/>
        </p:blipFill>
        <p:spPr>
          <a:xfrm>
            <a:off x="8488420" y="2995466"/>
            <a:ext cx="9849798" cy="648008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" name="Picture 2" descr="A blue rectangular object with white lines">
            <a:extLst>
              <a:ext uri="{FF2B5EF4-FFF2-40B4-BE49-F238E27FC236}">
                <a16:creationId xmlns:a16="http://schemas.microsoft.com/office/drawing/2014/main" id="{8BF97DB1-869E-E85F-5527-EA2BB60EE90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73569"/>
          <a:stretch/>
        </p:blipFill>
        <p:spPr>
          <a:xfrm>
            <a:off x="4874214" y="1996789"/>
            <a:ext cx="3885146" cy="7906853"/>
          </a:xfrm>
          <a:prstGeom prst="rect">
            <a:avLst/>
          </a:prstGeom>
        </p:spPr>
      </p:pic>
      <p:sp>
        <p:nvSpPr>
          <p:cNvPr id="4" name="Google Shape;199;p16">
            <a:extLst>
              <a:ext uri="{FF2B5EF4-FFF2-40B4-BE49-F238E27FC236}">
                <a16:creationId xmlns:a16="http://schemas.microsoft.com/office/drawing/2014/main" id="{EC28E346-036C-868D-8CC7-BEA72743EFDE}"/>
              </a:ext>
            </a:extLst>
          </p:cNvPr>
          <p:cNvSpPr txBox="1"/>
          <p:nvPr/>
        </p:nvSpPr>
        <p:spPr>
          <a:xfrm>
            <a:off x="9889521" y="2291548"/>
            <a:ext cx="5620500" cy="38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99" b="0" i="0" u="none" strike="noStrike" cap="none" dirty="0" err="1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Overzicht</a:t>
            </a:r>
            <a:r>
              <a:rPr lang="en-US" sz="2499" b="0" i="0" u="none" strike="noStrike" cap="none" dirty="0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 van de </a:t>
            </a:r>
            <a:r>
              <a:rPr lang="en-US" sz="2499" b="0" i="0" u="none" strike="noStrike" cap="none" dirty="0" err="1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onderdelen</a:t>
            </a:r>
            <a:endParaRPr dirty="0"/>
          </a:p>
        </p:txBody>
      </p:sp>
      <p:sp>
        <p:nvSpPr>
          <p:cNvPr id="5" name="Google Shape;273;p18">
            <a:extLst>
              <a:ext uri="{FF2B5EF4-FFF2-40B4-BE49-F238E27FC236}">
                <a16:creationId xmlns:a16="http://schemas.microsoft.com/office/drawing/2014/main" id="{A6618DF6-01C9-1C55-C387-531ABBBA739C}"/>
              </a:ext>
            </a:extLst>
          </p:cNvPr>
          <p:cNvSpPr/>
          <p:nvPr/>
        </p:nvSpPr>
        <p:spPr>
          <a:xfrm>
            <a:off x="421269" y="2822966"/>
            <a:ext cx="528228" cy="530596"/>
          </a:xfrm>
          <a:custGeom>
            <a:avLst/>
            <a:gdLst/>
            <a:ahLst/>
            <a:cxnLst/>
            <a:rect l="l" t="t" r="r" b="b"/>
            <a:pathLst>
              <a:path w="809173" h="812800" extrusionOk="0">
                <a:moveTo>
                  <a:pt x="404587" y="0"/>
                </a:moveTo>
                <a:cubicBezTo>
                  <a:pt x="628326" y="1001"/>
                  <a:pt x="809174" y="182659"/>
                  <a:pt x="809174" y="406400"/>
                </a:cubicBezTo>
                <a:cubicBezTo>
                  <a:pt x="809174" y="630141"/>
                  <a:pt x="628326" y="811799"/>
                  <a:pt x="404587" y="812800"/>
                </a:cubicBezTo>
                <a:cubicBezTo>
                  <a:pt x="180848" y="811799"/>
                  <a:pt x="0" y="630141"/>
                  <a:pt x="0" y="406400"/>
                </a:cubicBezTo>
                <a:cubicBezTo>
                  <a:pt x="0" y="182659"/>
                  <a:pt x="180848" y="1001"/>
                  <a:pt x="404587" y="0"/>
                </a:cubicBezTo>
                <a:close/>
              </a:path>
            </a:pathLst>
          </a:custGeom>
          <a:solidFill>
            <a:srgbClr val="F5C5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264;p18">
            <a:extLst>
              <a:ext uri="{FF2B5EF4-FFF2-40B4-BE49-F238E27FC236}">
                <a16:creationId xmlns:a16="http://schemas.microsoft.com/office/drawing/2014/main" id="{CF679A1A-1044-BBF2-2EB6-9FEC0D239A14}"/>
              </a:ext>
            </a:extLst>
          </p:cNvPr>
          <p:cNvSpPr txBox="1"/>
          <p:nvPr/>
        </p:nvSpPr>
        <p:spPr>
          <a:xfrm>
            <a:off x="1129299" y="2765098"/>
            <a:ext cx="4584124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="0" i="0" u="none" strike="noStrike" cap="none" dirty="0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Data files</a:t>
            </a:r>
            <a:endParaRPr dirty="0"/>
          </a:p>
        </p:txBody>
      </p:sp>
      <p:sp>
        <p:nvSpPr>
          <p:cNvPr id="7" name="Google Shape;265;p18">
            <a:extLst>
              <a:ext uri="{FF2B5EF4-FFF2-40B4-BE49-F238E27FC236}">
                <a16:creationId xmlns:a16="http://schemas.microsoft.com/office/drawing/2014/main" id="{10BDBA86-E086-9007-678D-24E6C2803E9F}"/>
              </a:ext>
            </a:extLst>
          </p:cNvPr>
          <p:cNvSpPr txBox="1"/>
          <p:nvPr/>
        </p:nvSpPr>
        <p:spPr>
          <a:xfrm>
            <a:off x="1129423" y="3353562"/>
            <a:ext cx="4584000" cy="769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BE" sz="2499" dirty="0">
                <a:solidFill>
                  <a:srgbClr val="FFFFFF"/>
                </a:solidFill>
                <a:latin typeface="Assistant"/>
                <a:cs typeface="Assistant"/>
                <a:sym typeface="Assistant"/>
              </a:rPr>
              <a:t>Sorteren data op een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BE" sz="2499" dirty="0">
                <a:solidFill>
                  <a:srgbClr val="FFFFFF"/>
                </a:solidFill>
                <a:latin typeface="Assistant"/>
                <a:cs typeface="Assistant"/>
                <a:sym typeface="Assistant"/>
              </a:rPr>
              <a:t>bepaalde manier</a:t>
            </a:r>
            <a:endParaRPr dirty="0"/>
          </a:p>
        </p:txBody>
      </p:sp>
      <p:sp>
        <p:nvSpPr>
          <p:cNvPr id="8" name="Google Shape;274;p18">
            <a:extLst>
              <a:ext uri="{FF2B5EF4-FFF2-40B4-BE49-F238E27FC236}">
                <a16:creationId xmlns:a16="http://schemas.microsoft.com/office/drawing/2014/main" id="{687B0ED6-CD8C-155A-D779-BC63689163BA}"/>
              </a:ext>
            </a:extLst>
          </p:cNvPr>
          <p:cNvSpPr/>
          <p:nvPr/>
        </p:nvSpPr>
        <p:spPr>
          <a:xfrm>
            <a:off x="406096" y="4930686"/>
            <a:ext cx="528228" cy="530596"/>
          </a:xfrm>
          <a:custGeom>
            <a:avLst/>
            <a:gdLst/>
            <a:ahLst/>
            <a:cxnLst/>
            <a:rect l="l" t="t" r="r" b="b"/>
            <a:pathLst>
              <a:path w="809173" h="812800" extrusionOk="0">
                <a:moveTo>
                  <a:pt x="404587" y="0"/>
                </a:moveTo>
                <a:cubicBezTo>
                  <a:pt x="628326" y="1001"/>
                  <a:pt x="809174" y="182659"/>
                  <a:pt x="809174" y="406400"/>
                </a:cubicBezTo>
                <a:cubicBezTo>
                  <a:pt x="809174" y="630141"/>
                  <a:pt x="628326" y="811799"/>
                  <a:pt x="404587" y="812800"/>
                </a:cubicBezTo>
                <a:cubicBezTo>
                  <a:pt x="180848" y="811799"/>
                  <a:pt x="0" y="630141"/>
                  <a:pt x="0" y="406400"/>
                </a:cubicBezTo>
                <a:cubicBezTo>
                  <a:pt x="0" y="182659"/>
                  <a:pt x="180848" y="1001"/>
                  <a:pt x="404587" y="0"/>
                </a:cubicBezTo>
                <a:close/>
              </a:path>
            </a:pathLst>
          </a:custGeom>
          <a:solidFill>
            <a:srgbClr val="EF5F4A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264;p18">
            <a:extLst>
              <a:ext uri="{FF2B5EF4-FFF2-40B4-BE49-F238E27FC236}">
                <a16:creationId xmlns:a16="http://schemas.microsoft.com/office/drawing/2014/main" id="{7D2E45A2-D21E-C22F-D4D0-34258D96CA9D}"/>
              </a:ext>
            </a:extLst>
          </p:cNvPr>
          <p:cNvSpPr txBox="1"/>
          <p:nvPr/>
        </p:nvSpPr>
        <p:spPr>
          <a:xfrm>
            <a:off x="1186821" y="7295000"/>
            <a:ext cx="4584124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dirty="0">
                <a:solidFill>
                  <a:srgbClr val="FFFFFF"/>
                </a:solidFill>
                <a:latin typeface="Fira Sans Medium"/>
                <a:sym typeface="Fira Sans Medium"/>
              </a:rPr>
              <a:t>Score</a:t>
            </a:r>
            <a:endParaRPr dirty="0"/>
          </a:p>
        </p:txBody>
      </p:sp>
      <p:sp>
        <p:nvSpPr>
          <p:cNvPr id="10" name="Google Shape;265;p18">
            <a:extLst>
              <a:ext uri="{FF2B5EF4-FFF2-40B4-BE49-F238E27FC236}">
                <a16:creationId xmlns:a16="http://schemas.microsoft.com/office/drawing/2014/main" id="{FBF4C4AD-022C-BFA0-2D26-E6A1835FBEEB}"/>
              </a:ext>
            </a:extLst>
          </p:cNvPr>
          <p:cNvSpPr txBox="1"/>
          <p:nvPr/>
        </p:nvSpPr>
        <p:spPr>
          <a:xfrm>
            <a:off x="1129423" y="5517627"/>
            <a:ext cx="4584000" cy="1153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BE" sz="2499" dirty="0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tetrisPyGame.py</a:t>
            </a:r>
            <a:endParaRPr lang="nl-BE" sz="2499" b="0" i="0" u="none" strike="noStrike" cap="none" dirty="0">
              <a:solidFill>
                <a:srgbClr val="FFFFFF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BE" sz="2499" dirty="0">
                <a:solidFill>
                  <a:srgbClr val="FFFFFF"/>
                </a:solidFill>
                <a:latin typeface="Assistant"/>
                <a:cs typeface="Assistant"/>
                <a:sym typeface="Assistant"/>
              </a:rPr>
              <a:t>tetrisGen.py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BE" sz="2499" dirty="0">
                <a:solidFill>
                  <a:srgbClr val="FFFFFF"/>
                </a:solidFill>
                <a:latin typeface="Assistant"/>
                <a:cs typeface="Assistant"/>
                <a:sym typeface="Assistant"/>
              </a:rPr>
              <a:t>game.py</a:t>
            </a:r>
          </a:p>
        </p:txBody>
      </p:sp>
      <p:sp>
        <p:nvSpPr>
          <p:cNvPr id="11" name="Google Shape;274;p18">
            <a:extLst>
              <a:ext uri="{FF2B5EF4-FFF2-40B4-BE49-F238E27FC236}">
                <a16:creationId xmlns:a16="http://schemas.microsoft.com/office/drawing/2014/main" id="{61358516-72AB-D277-81E2-852968B901D1}"/>
              </a:ext>
            </a:extLst>
          </p:cNvPr>
          <p:cNvSpPr/>
          <p:nvPr/>
        </p:nvSpPr>
        <p:spPr>
          <a:xfrm>
            <a:off x="421269" y="7352868"/>
            <a:ext cx="528228" cy="530596"/>
          </a:xfrm>
          <a:custGeom>
            <a:avLst/>
            <a:gdLst/>
            <a:ahLst/>
            <a:cxnLst/>
            <a:rect l="l" t="t" r="r" b="b"/>
            <a:pathLst>
              <a:path w="809173" h="812800" extrusionOk="0">
                <a:moveTo>
                  <a:pt x="404587" y="0"/>
                </a:moveTo>
                <a:cubicBezTo>
                  <a:pt x="628326" y="1001"/>
                  <a:pt x="809174" y="182659"/>
                  <a:pt x="809174" y="406400"/>
                </a:cubicBezTo>
                <a:cubicBezTo>
                  <a:pt x="809174" y="630141"/>
                  <a:pt x="628326" y="811799"/>
                  <a:pt x="404587" y="812800"/>
                </a:cubicBezTo>
                <a:cubicBezTo>
                  <a:pt x="180848" y="811799"/>
                  <a:pt x="0" y="630141"/>
                  <a:pt x="0" y="406400"/>
                </a:cubicBezTo>
                <a:cubicBezTo>
                  <a:pt x="0" y="182659"/>
                  <a:pt x="180848" y="1001"/>
                  <a:pt x="404587" y="0"/>
                </a:cubicBezTo>
                <a:close/>
              </a:path>
            </a:pathLst>
          </a:custGeom>
          <a:solidFill>
            <a:srgbClr val="48AAB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264;p18">
            <a:extLst>
              <a:ext uri="{FF2B5EF4-FFF2-40B4-BE49-F238E27FC236}">
                <a16:creationId xmlns:a16="http://schemas.microsoft.com/office/drawing/2014/main" id="{65D5BF48-78FF-559E-20E8-D64D2B9E90EF}"/>
              </a:ext>
            </a:extLst>
          </p:cNvPr>
          <p:cNvSpPr txBox="1"/>
          <p:nvPr/>
        </p:nvSpPr>
        <p:spPr>
          <a:xfrm>
            <a:off x="1129299" y="4871296"/>
            <a:ext cx="4584124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dirty="0">
                <a:solidFill>
                  <a:srgbClr val="FFFFFF"/>
                </a:solidFill>
                <a:latin typeface="Fira Sans Medium"/>
                <a:sym typeface="Fira Sans Medium"/>
              </a:rPr>
              <a:t>Main files</a:t>
            </a:r>
            <a:endParaRPr dirty="0"/>
          </a:p>
        </p:txBody>
      </p:sp>
      <p:sp>
        <p:nvSpPr>
          <p:cNvPr id="14" name="Google Shape;265;p18">
            <a:extLst>
              <a:ext uri="{FF2B5EF4-FFF2-40B4-BE49-F238E27FC236}">
                <a16:creationId xmlns:a16="http://schemas.microsoft.com/office/drawing/2014/main" id="{C504F227-9966-F35A-1F19-7945267EB31F}"/>
              </a:ext>
            </a:extLst>
          </p:cNvPr>
          <p:cNvSpPr txBox="1"/>
          <p:nvPr/>
        </p:nvSpPr>
        <p:spPr>
          <a:xfrm>
            <a:off x="1129299" y="7941331"/>
            <a:ext cx="4584000" cy="769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BE" sz="2499" dirty="0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Highscores a</a:t>
            </a:r>
            <a:r>
              <a:rPr lang="nl-BE" sz="2499" b="0" i="0" u="none" strike="noStrike" cap="none" dirty="0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fhankelijk van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BE" sz="2499" b="0" i="0" u="none" strike="noStrike" cap="none" dirty="0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parameters</a:t>
            </a:r>
            <a:endParaRPr dirty="0"/>
          </a:p>
        </p:txBody>
      </p:sp>
      <p:sp>
        <p:nvSpPr>
          <p:cNvPr id="13" name="Rechthoek 12">
            <a:extLst>
              <a:ext uri="{FF2B5EF4-FFF2-40B4-BE49-F238E27FC236}">
                <a16:creationId xmlns:a16="http://schemas.microsoft.com/office/drawing/2014/main" id="{111417FD-A4A4-A65C-8318-55790C2CB24F}"/>
              </a:ext>
            </a:extLst>
          </p:cNvPr>
          <p:cNvSpPr/>
          <p:nvPr/>
        </p:nvSpPr>
        <p:spPr>
          <a:xfrm>
            <a:off x="17629310" y="9627980"/>
            <a:ext cx="312907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nl-NL" sz="1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</a:t>
            </a:r>
            <a:endParaRPr lang="nl-NL" sz="1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9"/>
          <p:cNvSpPr/>
          <p:nvPr/>
        </p:nvSpPr>
        <p:spPr>
          <a:xfrm>
            <a:off x="0" y="0"/>
            <a:ext cx="18280075" cy="4427418"/>
          </a:xfrm>
          <a:custGeom>
            <a:avLst/>
            <a:gdLst/>
            <a:ahLst/>
            <a:cxnLst/>
            <a:rect l="l" t="t" r="r" b="b"/>
            <a:pathLst>
              <a:path w="8971816" h="2172966" extrusionOk="0">
                <a:moveTo>
                  <a:pt x="0" y="0"/>
                </a:moveTo>
                <a:lnTo>
                  <a:pt x="8971816" y="0"/>
                </a:lnTo>
                <a:lnTo>
                  <a:pt x="8971816" y="2172966"/>
                </a:lnTo>
                <a:lnTo>
                  <a:pt x="0" y="2172966"/>
                </a:lnTo>
                <a:close/>
              </a:path>
            </a:pathLst>
          </a:custGeom>
          <a:solidFill>
            <a:srgbClr val="4BB8BE"/>
          </a:solidFill>
          <a:ln>
            <a:noFill/>
          </a:ln>
        </p:spPr>
        <p:txBody>
          <a:bodyPr/>
          <a:lstStyle/>
          <a:p>
            <a:endParaRPr lang="LID4096"/>
          </a:p>
        </p:txBody>
      </p:sp>
      <p:sp>
        <p:nvSpPr>
          <p:cNvPr id="281" name="Google Shape;281;p19"/>
          <p:cNvSpPr txBox="1"/>
          <p:nvPr/>
        </p:nvSpPr>
        <p:spPr>
          <a:xfrm>
            <a:off x="1028700" y="1019175"/>
            <a:ext cx="11359290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dirty="0" err="1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Resultaat</a:t>
            </a:r>
            <a:endParaRPr dirty="0"/>
          </a:p>
        </p:txBody>
      </p:sp>
      <p:sp>
        <p:nvSpPr>
          <p:cNvPr id="282" name="Google Shape;282;p19"/>
          <p:cNvSpPr/>
          <p:nvPr/>
        </p:nvSpPr>
        <p:spPr>
          <a:xfrm>
            <a:off x="990600" y="3454464"/>
            <a:ext cx="5257275" cy="2825669"/>
          </a:xfrm>
          <a:custGeom>
            <a:avLst/>
            <a:gdLst/>
            <a:ahLst/>
            <a:cxnLst/>
            <a:rect l="l" t="t" r="r" b="b"/>
            <a:pathLst>
              <a:path w="664661" h="357240" extrusionOk="0">
                <a:moveTo>
                  <a:pt x="0" y="0"/>
                </a:moveTo>
                <a:lnTo>
                  <a:pt x="664661" y="0"/>
                </a:lnTo>
                <a:lnTo>
                  <a:pt x="664661" y="357240"/>
                </a:lnTo>
                <a:lnTo>
                  <a:pt x="0" y="357240"/>
                </a:lnTo>
                <a:close/>
              </a:path>
            </a:pathLst>
          </a:custGeom>
          <a:solidFill>
            <a:srgbClr val="EE604A"/>
          </a:solidFill>
          <a:ln>
            <a:noFill/>
          </a:ln>
        </p:spPr>
        <p:txBody>
          <a:bodyPr/>
          <a:lstStyle/>
          <a:p>
            <a:endParaRPr lang="LID4096"/>
          </a:p>
        </p:txBody>
      </p:sp>
      <p:sp>
        <p:nvSpPr>
          <p:cNvPr id="283" name="Google Shape;283;p19"/>
          <p:cNvSpPr/>
          <p:nvPr/>
        </p:nvSpPr>
        <p:spPr>
          <a:xfrm>
            <a:off x="6570341" y="3454464"/>
            <a:ext cx="5257275" cy="2825669"/>
          </a:xfrm>
          <a:custGeom>
            <a:avLst/>
            <a:gdLst/>
            <a:ahLst/>
            <a:cxnLst/>
            <a:rect l="l" t="t" r="r" b="b"/>
            <a:pathLst>
              <a:path w="664661" h="357240" extrusionOk="0">
                <a:moveTo>
                  <a:pt x="0" y="0"/>
                </a:moveTo>
                <a:lnTo>
                  <a:pt x="664661" y="0"/>
                </a:lnTo>
                <a:lnTo>
                  <a:pt x="664661" y="357240"/>
                </a:lnTo>
                <a:lnTo>
                  <a:pt x="0" y="357240"/>
                </a:lnTo>
                <a:close/>
              </a:path>
            </a:pathLst>
          </a:custGeom>
          <a:solidFill>
            <a:srgbClr val="F4C500"/>
          </a:solidFill>
          <a:ln>
            <a:noFill/>
          </a:ln>
        </p:spPr>
        <p:txBody>
          <a:bodyPr/>
          <a:lstStyle/>
          <a:p>
            <a:endParaRPr lang="LID4096"/>
          </a:p>
        </p:txBody>
      </p:sp>
      <p:sp>
        <p:nvSpPr>
          <p:cNvPr id="284" name="Google Shape;284;p19"/>
          <p:cNvSpPr/>
          <p:nvPr/>
        </p:nvSpPr>
        <p:spPr>
          <a:xfrm>
            <a:off x="12151466" y="3454464"/>
            <a:ext cx="5257275" cy="2825669"/>
          </a:xfrm>
          <a:custGeom>
            <a:avLst/>
            <a:gdLst/>
            <a:ahLst/>
            <a:cxnLst/>
            <a:rect l="l" t="t" r="r" b="b"/>
            <a:pathLst>
              <a:path w="664661" h="357240" extrusionOk="0">
                <a:moveTo>
                  <a:pt x="0" y="0"/>
                </a:moveTo>
                <a:lnTo>
                  <a:pt x="664661" y="0"/>
                </a:lnTo>
                <a:lnTo>
                  <a:pt x="664661" y="357240"/>
                </a:lnTo>
                <a:lnTo>
                  <a:pt x="0" y="357240"/>
                </a:lnTo>
                <a:close/>
              </a:path>
            </a:pathLst>
          </a:custGeom>
          <a:solidFill>
            <a:srgbClr val="A16AE8"/>
          </a:solidFill>
          <a:ln>
            <a:noFill/>
          </a:ln>
        </p:spPr>
        <p:txBody>
          <a:bodyPr/>
          <a:lstStyle/>
          <a:p>
            <a:endParaRPr lang="LID4096"/>
          </a:p>
        </p:txBody>
      </p:sp>
      <p:sp>
        <p:nvSpPr>
          <p:cNvPr id="285" name="Google Shape;285;p19"/>
          <p:cNvSpPr/>
          <p:nvPr/>
        </p:nvSpPr>
        <p:spPr>
          <a:xfrm>
            <a:off x="990600" y="6568331"/>
            <a:ext cx="5257275" cy="2825669"/>
          </a:xfrm>
          <a:custGeom>
            <a:avLst/>
            <a:gdLst/>
            <a:ahLst/>
            <a:cxnLst/>
            <a:rect l="l" t="t" r="r" b="b"/>
            <a:pathLst>
              <a:path w="664661" h="357240" extrusionOk="0">
                <a:moveTo>
                  <a:pt x="0" y="0"/>
                </a:moveTo>
                <a:lnTo>
                  <a:pt x="664661" y="0"/>
                </a:lnTo>
                <a:lnTo>
                  <a:pt x="664661" y="357240"/>
                </a:lnTo>
                <a:lnTo>
                  <a:pt x="0" y="357240"/>
                </a:lnTo>
                <a:close/>
              </a:path>
            </a:pathLst>
          </a:custGeom>
          <a:solidFill>
            <a:srgbClr val="A16AE8"/>
          </a:solidFill>
          <a:ln>
            <a:noFill/>
          </a:ln>
        </p:spPr>
        <p:txBody>
          <a:bodyPr/>
          <a:lstStyle/>
          <a:p>
            <a:endParaRPr lang="LID4096"/>
          </a:p>
        </p:txBody>
      </p:sp>
      <p:sp>
        <p:nvSpPr>
          <p:cNvPr id="286" name="Google Shape;286;p19"/>
          <p:cNvSpPr/>
          <p:nvPr/>
        </p:nvSpPr>
        <p:spPr>
          <a:xfrm>
            <a:off x="6570341" y="6568331"/>
            <a:ext cx="5257275" cy="2825669"/>
          </a:xfrm>
          <a:custGeom>
            <a:avLst/>
            <a:gdLst/>
            <a:ahLst/>
            <a:cxnLst/>
            <a:rect l="l" t="t" r="r" b="b"/>
            <a:pathLst>
              <a:path w="664661" h="357240" extrusionOk="0">
                <a:moveTo>
                  <a:pt x="0" y="0"/>
                </a:moveTo>
                <a:lnTo>
                  <a:pt x="664661" y="0"/>
                </a:lnTo>
                <a:lnTo>
                  <a:pt x="664661" y="357240"/>
                </a:lnTo>
                <a:lnTo>
                  <a:pt x="0" y="357240"/>
                </a:lnTo>
                <a:close/>
              </a:path>
            </a:pathLst>
          </a:custGeom>
          <a:solidFill>
            <a:srgbClr val="EE604A"/>
          </a:solidFill>
          <a:ln>
            <a:noFill/>
          </a:ln>
        </p:spPr>
        <p:txBody>
          <a:bodyPr/>
          <a:lstStyle/>
          <a:p>
            <a:endParaRPr lang="LID4096"/>
          </a:p>
        </p:txBody>
      </p:sp>
      <p:sp>
        <p:nvSpPr>
          <p:cNvPr id="287" name="Google Shape;287;p19"/>
          <p:cNvSpPr/>
          <p:nvPr/>
        </p:nvSpPr>
        <p:spPr>
          <a:xfrm>
            <a:off x="12151466" y="6568331"/>
            <a:ext cx="5257275" cy="2825669"/>
          </a:xfrm>
          <a:custGeom>
            <a:avLst/>
            <a:gdLst/>
            <a:ahLst/>
            <a:cxnLst/>
            <a:rect l="l" t="t" r="r" b="b"/>
            <a:pathLst>
              <a:path w="664661" h="357240" extrusionOk="0">
                <a:moveTo>
                  <a:pt x="0" y="0"/>
                </a:moveTo>
                <a:lnTo>
                  <a:pt x="664661" y="0"/>
                </a:lnTo>
                <a:lnTo>
                  <a:pt x="664661" y="357240"/>
                </a:lnTo>
                <a:lnTo>
                  <a:pt x="0" y="357240"/>
                </a:lnTo>
                <a:close/>
              </a:path>
            </a:pathLst>
          </a:custGeom>
          <a:solidFill>
            <a:srgbClr val="F4C500"/>
          </a:solidFill>
          <a:ln>
            <a:noFill/>
          </a:ln>
        </p:spPr>
        <p:txBody>
          <a:bodyPr/>
          <a:lstStyle/>
          <a:p>
            <a:endParaRPr lang="LID4096"/>
          </a:p>
        </p:txBody>
      </p:sp>
      <p:grpSp>
        <p:nvGrpSpPr>
          <p:cNvPr id="288" name="Google Shape;288;p19"/>
          <p:cNvGrpSpPr/>
          <p:nvPr/>
        </p:nvGrpSpPr>
        <p:grpSpPr>
          <a:xfrm>
            <a:off x="1273105" y="3938178"/>
            <a:ext cx="4584151" cy="977859"/>
            <a:chOff x="0" y="-9525"/>
            <a:chExt cx="6112200" cy="1303812"/>
          </a:xfrm>
        </p:grpSpPr>
        <p:sp>
          <p:nvSpPr>
            <p:cNvPr id="289" name="Google Shape;289;p19"/>
            <p:cNvSpPr txBox="1"/>
            <p:nvPr/>
          </p:nvSpPr>
          <p:spPr>
            <a:xfrm>
              <a:off x="0" y="-9525"/>
              <a:ext cx="6112165" cy="861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500" dirty="0" err="1">
                  <a:solidFill>
                    <a:srgbClr val="FFFFFF"/>
                  </a:solidFill>
                  <a:latin typeface="Fira Sans Medium"/>
                  <a:ea typeface="Fira Sans Medium"/>
                  <a:cs typeface="Fira Sans Medium"/>
                  <a:sym typeface="Fira Sans Medium"/>
                </a:rPr>
                <a:t>T</a:t>
              </a:r>
              <a:r>
                <a:rPr lang="en-US" sz="3500" u="none" dirty="0" err="1">
                  <a:solidFill>
                    <a:srgbClr val="FFFFFF"/>
                  </a:solidFill>
                  <a:latin typeface="Fira Sans Medium"/>
                  <a:ea typeface="Fira Sans Medium"/>
                  <a:cs typeface="Fira Sans Medium"/>
                  <a:sym typeface="Fira Sans Medium"/>
                </a:rPr>
                <a:t>etrisPyGame</a:t>
              </a:r>
              <a:endParaRPr dirty="0"/>
            </a:p>
          </p:txBody>
        </p:sp>
        <p:sp>
          <p:nvSpPr>
            <p:cNvPr id="290" name="Google Shape;290;p19"/>
            <p:cNvSpPr txBox="1"/>
            <p:nvPr/>
          </p:nvSpPr>
          <p:spPr>
            <a:xfrm>
              <a:off x="0" y="781498"/>
              <a:ext cx="6112200" cy="5127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99" u="none" dirty="0" err="1">
                  <a:solidFill>
                    <a:srgbClr val="FFFFFF"/>
                  </a:solidFill>
                  <a:latin typeface="Assistant"/>
                  <a:ea typeface="Assistant"/>
                  <a:cs typeface="Assistant"/>
                  <a:sym typeface="Assistant"/>
                </a:rPr>
                <a:t>Speler</a:t>
              </a:r>
              <a:r>
                <a:rPr lang="en-US" sz="2499" u="none" dirty="0">
                  <a:solidFill>
                    <a:srgbClr val="FFFFFF"/>
                  </a:solidFill>
                  <a:latin typeface="Assistant"/>
                  <a:ea typeface="Assistant"/>
                  <a:cs typeface="Assistant"/>
                  <a:sym typeface="Assistant"/>
                </a:rPr>
                <a:t> </a:t>
              </a:r>
              <a:r>
                <a:rPr lang="en-US" sz="2499" u="none" dirty="0" err="1">
                  <a:solidFill>
                    <a:srgbClr val="FFFFFF"/>
                  </a:solidFill>
                  <a:latin typeface="Assistant"/>
                  <a:ea typeface="Assistant"/>
                  <a:cs typeface="Assistant"/>
                  <a:sym typeface="Assistant"/>
                </a:rPr>
                <a:t>tegen</a:t>
              </a:r>
              <a:r>
                <a:rPr lang="en-US" sz="2499" u="none" dirty="0">
                  <a:solidFill>
                    <a:srgbClr val="FFFFFF"/>
                  </a:solidFill>
                  <a:latin typeface="Assistant"/>
                  <a:ea typeface="Assistant"/>
                  <a:cs typeface="Assistant"/>
                  <a:sym typeface="Assistant"/>
                </a:rPr>
                <a:t> AI</a:t>
              </a:r>
              <a:endParaRPr sz="2499" u="none" dirty="0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</p:grpSp>
      <p:grpSp>
        <p:nvGrpSpPr>
          <p:cNvPr id="291" name="Google Shape;291;p19"/>
          <p:cNvGrpSpPr/>
          <p:nvPr/>
        </p:nvGrpSpPr>
        <p:grpSpPr>
          <a:xfrm>
            <a:off x="6852846" y="3938178"/>
            <a:ext cx="4584151" cy="1362452"/>
            <a:chOff x="0" y="-9525"/>
            <a:chExt cx="6112200" cy="1816603"/>
          </a:xfrm>
        </p:grpSpPr>
        <p:sp>
          <p:nvSpPr>
            <p:cNvPr id="292" name="Google Shape;292;p19"/>
            <p:cNvSpPr txBox="1"/>
            <p:nvPr/>
          </p:nvSpPr>
          <p:spPr>
            <a:xfrm>
              <a:off x="0" y="-9525"/>
              <a:ext cx="6112165" cy="861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500" dirty="0" err="1">
                  <a:solidFill>
                    <a:srgbClr val="FFFFFF"/>
                  </a:solidFill>
                  <a:latin typeface="Fira Sans Medium"/>
                  <a:sym typeface="Fira Sans Medium"/>
                </a:rPr>
                <a:t>TetrisGen</a:t>
              </a:r>
              <a:endParaRPr dirty="0"/>
            </a:p>
          </p:txBody>
        </p:sp>
        <p:sp>
          <p:nvSpPr>
            <p:cNvPr id="293" name="Google Shape;293;p19"/>
            <p:cNvSpPr txBox="1"/>
            <p:nvPr/>
          </p:nvSpPr>
          <p:spPr>
            <a:xfrm>
              <a:off x="0" y="781498"/>
              <a:ext cx="6112200" cy="10255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99" u="none" dirty="0" err="1">
                  <a:solidFill>
                    <a:srgbClr val="FFFFFF"/>
                  </a:solidFill>
                  <a:latin typeface="Assistant"/>
                  <a:ea typeface="Assistant"/>
                  <a:cs typeface="Assistant"/>
                  <a:sym typeface="Assistant"/>
                </a:rPr>
                <a:t>Simultaan</a:t>
              </a:r>
              <a:r>
                <a:rPr lang="en-US" sz="2499" u="none" dirty="0">
                  <a:solidFill>
                    <a:srgbClr val="FFFFFF"/>
                  </a:solidFill>
                  <a:latin typeface="Assistant"/>
                  <a:ea typeface="Assistant"/>
                  <a:cs typeface="Assistant"/>
                  <a:sym typeface="Assistant"/>
                </a:rPr>
                <a:t> </a:t>
              </a:r>
              <a:r>
                <a:rPr lang="en-US" sz="2499" u="none" dirty="0" err="1">
                  <a:solidFill>
                    <a:srgbClr val="FFFFFF"/>
                  </a:solidFill>
                  <a:latin typeface="Assistant"/>
                  <a:ea typeface="Assistant"/>
                  <a:cs typeface="Assistant"/>
                  <a:sym typeface="Assistant"/>
                </a:rPr>
                <a:t>lopen</a:t>
              </a:r>
              <a:r>
                <a:rPr lang="en-US" sz="2499" u="none" dirty="0">
                  <a:solidFill>
                    <a:srgbClr val="FFFFFF"/>
                  </a:solidFill>
                  <a:latin typeface="Assistant"/>
                  <a:ea typeface="Assistant"/>
                  <a:cs typeface="Assistant"/>
                  <a:sym typeface="Assistant"/>
                </a:rPr>
                <a:t> van </a:t>
              </a:r>
              <a:r>
                <a:rPr lang="en-US" sz="2499" u="none" dirty="0" err="1">
                  <a:solidFill>
                    <a:srgbClr val="FFFFFF"/>
                  </a:solidFill>
                  <a:latin typeface="Assistant"/>
                  <a:ea typeface="Assistant"/>
                  <a:cs typeface="Assistant"/>
                  <a:sym typeface="Assistant"/>
                </a:rPr>
                <a:t>meerdere</a:t>
              </a:r>
              <a:r>
                <a:rPr lang="en-US" sz="2499" u="none" dirty="0">
                  <a:solidFill>
                    <a:srgbClr val="FFFFFF"/>
                  </a:solidFill>
                  <a:latin typeface="Assistant"/>
                  <a:ea typeface="Assistant"/>
                  <a:cs typeface="Assistant"/>
                  <a:sym typeface="Assistant"/>
                </a:rPr>
                <a:t> </a:t>
              </a:r>
              <a:r>
                <a:rPr lang="en-US" sz="2499" u="none" dirty="0" err="1">
                  <a:solidFill>
                    <a:srgbClr val="FFFFFF"/>
                  </a:solidFill>
                  <a:latin typeface="Assistant"/>
                  <a:ea typeface="Assistant"/>
                  <a:cs typeface="Assistant"/>
                  <a:sym typeface="Assistant"/>
                </a:rPr>
                <a:t>tetris</a:t>
              </a:r>
              <a:r>
                <a:rPr lang="en-US" sz="2499" u="none" dirty="0">
                  <a:solidFill>
                    <a:srgbClr val="FFFFFF"/>
                  </a:solidFill>
                  <a:latin typeface="Assistant"/>
                  <a:ea typeface="Assistant"/>
                  <a:cs typeface="Assistant"/>
                  <a:sym typeface="Assistant"/>
                </a:rPr>
                <a:t> </a:t>
              </a:r>
              <a:r>
                <a:rPr lang="en-US" sz="2499" u="none" dirty="0" err="1">
                  <a:solidFill>
                    <a:srgbClr val="FFFFFF"/>
                  </a:solidFill>
                  <a:latin typeface="Assistant"/>
                  <a:ea typeface="Assistant"/>
                  <a:cs typeface="Assistant"/>
                  <a:sym typeface="Assistant"/>
                </a:rPr>
                <a:t>velden</a:t>
              </a:r>
              <a:endParaRPr sz="2499" u="none" dirty="0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</p:grpSp>
      <p:grpSp>
        <p:nvGrpSpPr>
          <p:cNvPr id="294" name="Google Shape;294;p19"/>
          <p:cNvGrpSpPr/>
          <p:nvPr/>
        </p:nvGrpSpPr>
        <p:grpSpPr>
          <a:xfrm>
            <a:off x="12430771" y="3938178"/>
            <a:ext cx="4584151" cy="1747044"/>
            <a:chOff x="0" y="-9525"/>
            <a:chExt cx="6112200" cy="2329393"/>
          </a:xfrm>
        </p:grpSpPr>
        <p:sp>
          <p:nvSpPr>
            <p:cNvPr id="295" name="Google Shape;295;p19"/>
            <p:cNvSpPr txBox="1"/>
            <p:nvPr/>
          </p:nvSpPr>
          <p:spPr>
            <a:xfrm>
              <a:off x="0" y="-9525"/>
              <a:ext cx="6112165" cy="861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500" dirty="0">
                  <a:solidFill>
                    <a:srgbClr val="FFFFFF"/>
                  </a:solidFill>
                  <a:latin typeface="Fira Sans Medium"/>
                  <a:ea typeface="Fira Sans Medium"/>
                  <a:cs typeface="Fira Sans Medium"/>
                  <a:sym typeface="Fira Sans Medium"/>
                </a:rPr>
                <a:t>G</a:t>
              </a:r>
              <a:r>
                <a:rPr lang="en-US" sz="3500" u="none" dirty="0">
                  <a:solidFill>
                    <a:srgbClr val="FFFFFF"/>
                  </a:solidFill>
                  <a:latin typeface="Fira Sans Medium"/>
                  <a:ea typeface="Fira Sans Medium"/>
                  <a:cs typeface="Fira Sans Medium"/>
                  <a:sym typeface="Fira Sans Medium"/>
                </a:rPr>
                <a:t>ame</a:t>
              </a:r>
              <a:endParaRPr dirty="0"/>
            </a:p>
          </p:txBody>
        </p:sp>
        <p:sp>
          <p:nvSpPr>
            <p:cNvPr id="296" name="Google Shape;296;p19"/>
            <p:cNvSpPr txBox="1"/>
            <p:nvPr/>
          </p:nvSpPr>
          <p:spPr>
            <a:xfrm>
              <a:off x="0" y="781498"/>
              <a:ext cx="6112200" cy="15383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0"/>
              <a:r>
                <a:rPr lang="nl-BE" sz="2499" u="none" dirty="0">
                  <a:solidFill>
                    <a:srgbClr val="FFFFFF"/>
                  </a:solidFill>
                  <a:latin typeface="Assistant"/>
                  <a:ea typeface="Assistant"/>
                  <a:cs typeface="Assistant"/>
                  <a:sym typeface="Assistant"/>
                </a:rPr>
                <a:t>Combinatie van functies</a:t>
              </a:r>
              <a:endParaRPr sz="2499" u="none" dirty="0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99" u="none" dirty="0" err="1">
                  <a:solidFill>
                    <a:srgbClr val="FFFFFF"/>
                  </a:solidFill>
                  <a:latin typeface="Assistant"/>
                  <a:ea typeface="Assistant"/>
                  <a:cs typeface="Assistant"/>
                  <a:sym typeface="Assistant"/>
                </a:rPr>
                <a:t>Controle</a:t>
              </a:r>
              <a:r>
                <a:rPr lang="en-US" sz="2499" u="none" dirty="0">
                  <a:solidFill>
                    <a:srgbClr val="FFFFFF"/>
                  </a:solidFill>
                  <a:latin typeface="Assistant"/>
                  <a:ea typeface="Assistant"/>
                  <a:cs typeface="Assistant"/>
                  <a:sym typeface="Assistant"/>
                </a:rPr>
                <a:t> </a:t>
              </a:r>
              <a:r>
                <a:rPr lang="en-US" sz="2499" u="none" dirty="0" err="1">
                  <a:solidFill>
                    <a:srgbClr val="FFFFFF"/>
                  </a:solidFill>
                  <a:latin typeface="Assistant"/>
                  <a:ea typeface="Assistant"/>
                  <a:cs typeface="Assistant"/>
                  <a:sym typeface="Assistant"/>
                </a:rPr>
                <a:t>blokken</a:t>
              </a:r>
              <a:endParaRPr lang="en-US" sz="2499" u="none" dirty="0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99" dirty="0">
                  <a:solidFill>
                    <a:srgbClr val="FFFFFF"/>
                  </a:solidFill>
                  <a:latin typeface="Assistant"/>
                  <a:cs typeface="Assistant"/>
                  <a:sym typeface="Assistant"/>
                </a:rPr>
                <a:t>AI </a:t>
              </a:r>
              <a:r>
                <a:rPr lang="en-US" sz="2499" dirty="0" err="1">
                  <a:solidFill>
                    <a:srgbClr val="FFFFFF"/>
                  </a:solidFill>
                  <a:latin typeface="Assistant"/>
                  <a:cs typeface="Assistant"/>
                  <a:sym typeface="Assistant"/>
                </a:rPr>
                <a:t>methoden</a:t>
              </a:r>
              <a:endParaRPr dirty="0"/>
            </a:p>
          </p:txBody>
        </p:sp>
      </p:grpSp>
      <p:grpSp>
        <p:nvGrpSpPr>
          <p:cNvPr id="297" name="Google Shape;297;p19"/>
          <p:cNvGrpSpPr/>
          <p:nvPr/>
        </p:nvGrpSpPr>
        <p:grpSpPr>
          <a:xfrm>
            <a:off x="1273105" y="6870730"/>
            <a:ext cx="4584151" cy="1362452"/>
            <a:chOff x="0" y="-9525"/>
            <a:chExt cx="6112200" cy="1816603"/>
          </a:xfrm>
        </p:grpSpPr>
        <p:sp>
          <p:nvSpPr>
            <p:cNvPr id="298" name="Google Shape;298;p19"/>
            <p:cNvSpPr txBox="1"/>
            <p:nvPr/>
          </p:nvSpPr>
          <p:spPr>
            <a:xfrm>
              <a:off x="0" y="-9525"/>
              <a:ext cx="6112165" cy="861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500" dirty="0">
                  <a:solidFill>
                    <a:srgbClr val="FFFFFF"/>
                  </a:solidFill>
                  <a:latin typeface="Fira Sans Medium"/>
                  <a:ea typeface="Fira Sans Medium"/>
                  <a:cs typeface="Fira Sans Medium"/>
                  <a:sym typeface="Fira Sans Medium"/>
                </a:rPr>
                <a:t>G</a:t>
              </a:r>
              <a:r>
                <a:rPr lang="en-US" sz="3500" u="none" dirty="0">
                  <a:solidFill>
                    <a:srgbClr val="FFFFFF"/>
                  </a:solidFill>
                  <a:latin typeface="Fira Sans Medium"/>
                  <a:ea typeface="Fira Sans Medium"/>
                  <a:cs typeface="Fira Sans Medium"/>
                  <a:sym typeface="Fira Sans Medium"/>
                </a:rPr>
                <a:t>rid</a:t>
              </a:r>
              <a:endParaRPr dirty="0"/>
            </a:p>
          </p:txBody>
        </p:sp>
        <p:sp>
          <p:nvSpPr>
            <p:cNvPr id="299" name="Google Shape;299;p19"/>
            <p:cNvSpPr txBox="1"/>
            <p:nvPr/>
          </p:nvSpPr>
          <p:spPr>
            <a:xfrm>
              <a:off x="0" y="781498"/>
              <a:ext cx="6112200" cy="10255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nl-BE" sz="2499" u="none" dirty="0">
                  <a:solidFill>
                    <a:srgbClr val="FFFFFF"/>
                  </a:solidFill>
                  <a:latin typeface="Assistant"/>
                  <a:ea typeface="Assistant"/>
                  <a:cs typeface="Assistant"/>
                  <a:sym typeface="Assistant"/>
                </a:rPr>
                <a:t>Functionaliteit speelveld</a:t>
              </a: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nl-BE" sz="2499" dirty="0">
                  <a:solidFill>
                    <a:srgbClr val="FFFFFF"/>
                  </a:solidFill>
                  <a:latin typeface="Assistant"/>
                  <a:cs typeface="Assistant"/>
                  <a:sym typeface="Assistant"/>
                </a:rPr>
                <a:t>Parameters voor dimensies</a:t>
              </a:r>
              <a:endParaRPr dirty="0"/>
            </a:p>
          </p:txBody>
        </p:sp>
      </p:grpSp>
      <p:grpSp>
        <p:nvGrpSpPr>
          <p:cNvPr id="300" name="Google Shape;300;p19"/>
          <p:cNvGrpSpPr/>
          <p:nvPr/>
        </p:nvGrpSpPr>
        <p:grpSpPr>
          <a:xfrm>
            <a:off x="6852846" y="6870730"/>
            <a:ext cx="4584151" cy="1747044"/>
            <a:chOff x="0" y="-9525"/>
            <a:chExt cx="6112200" cy="2329394"/>
          </a:xfrm>
        </p:grpSpPr>
        <p:sp>
          <p:nvSpPr>
            <p:cNvPr id="301" name="Google Shape;301;p19"/>
            <p:cNvSpPr txBox="1"/>
            <p:nvPr/>
          </p:nvSpPr>
          <p:spPr>
            <a:xfrm>
              <a:off x="0" y="-9525"/>
              <a:ext cx="6112165" cy="861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500" dirty="0">
                  <a:solidFill>
                    <a:srgbClr val="FFFFFF"/>
                  </a:solidFill>
                  <a:latin typeface="Fira Sans Medium"/>
                  <a:sym typeface="Fira Sans Medium"/>
                </a:rPr>
                <a:t>Block</a:t>
              </a:r>
              <a:endParaRPr dirty="0"/>
            </a:p>
          </p:txBody>
        </p:sp>
        <p:sp>
          <p:nvSpPr>
            <p:cNvPr id="302" name="Google Shape;302;p19"/>
            <p:cNvSpPr txBox="1"/>
            <p:nvPr/>
          </p:nvSpPr>
          <p:spPr>
            <a:xfrm>
              <a:off x="0" y="781498"/>
              <a:ext cx="6112200" cy="153837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99" dirty="0" err="1">
                  <a:solidFill>
                    <a:srgbClr val="FFFFFF"/>
                  </a:solidFill>
                  <a:latin typeface="Assistant"/>
                  <a:ea typeface="Assistant"/>
                  <a:cs typeface="Assistant"/>
                  <a:sym typeface="Assistant"/>
                </a:rPr>
                <a:t>Toepassing</a:t>
              </a:r>
              <a:r>
                <a:rPr lang="en-US" sz="2499" dirty="0">
                  <a:solidFill>
                    <a:srgbClr val="FFFFFF"/>
                  </a:solidFill>
                  <a:latin typeface="Assistant"/>
                  <a:ea typeface="Assistant"/>
                  <a:cs typeface="Assistant"/>
                  <a:sym typeface="Assistant"/>
                </a:rPr>
                <a:t> van </a:t>
              </a: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99" dirty="0" err="1">
                  <a:solidFill>
                    <a:srgbClr val="FFFFFF"/>
                  </a:solidFill>
                  <a:latin typeface="Assistant"/>
                  <a:ea typeface="Assistant"/>
                  <a:cs typeface="Assistant"/>
                  <a:sym typeface="Assistant"/>
                </a:rPr>
                <a:t>Beweging</a:t>
              </a:r>
              <a:endParaRPr lang="en-US" sz="2499" dirty="0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99" u="none" dirty="0" err="1">
                  <a:solidFill>
                    <a:srgbClr val="FFFFFF"/>
                  </a:solidFill>
                  <a:latin typeface="Assistant"/>
                  <a:ea typeface="Assistant"/>
                  <a:cs typeface="Assistant"/>
                  <a:sym typeface="Assistant"/>
                </a:rPr>
                <a:t>Rotatie</a:t>
              </a:r>
              <a:endParaRPr lang="en-US" sz="2499" u="none" dirty="0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</p:grpSp>
      <p:grpSp>
        <p:nvGrpSpPr>
          <p:cNvPr id="303" name="Google Shape;303;p19"/>
          <p:cNvGrpSpPr/>
          <p:nvPr/>
        </p:nvGrpSpPr>
        <p:grpSpPr>
          <a:xfrm>
            <a:off x="12430771" y="6870730"/>
            <a:ext cx="4584151" cy="1362452"/>
            <a:chOff x="0" y="-9525"/>
            <a:chExt cx="6112200" cy="1816603"/>
          </a:xfrm>
        </p:grpSpPr>
        <p:sp>
          <p:nvSpPr>
            <p:cNvPr id="304" name="Google Shape;304;p19"/>
            <p:cNvSpPr txBox="1"/>
            <p:nvPr/>
          </p:nvSpPr>
          <p:spPr>
            <a:xfrm>
              <a:off x="0" y="-9525"/>
              <a:ext cx="6112165" cy="861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500" u="none" dirty="0">
                  <a:solidFill>
                    <a:srgbClr val="FFFFFF"/>
                  </a:solidFill>
                  <a:latin typeface="Fira Sans Medium"/>
                  <a:ea typeface="Fira Sans Medium"/>
                  <a:cs typeface="Fira Sans Medium"/>
                  <a:sym typeface="Fira Sans Medium"/>
                </a:rPr>
                <a:t>Blocks</a:t>
              </a:r>
              <a:endParaRPr dirty="0"/>
            </a:p>
          </p:txBody>
        </p:sp>
        <p:sp>
          <p:nvSpPr>
            <p:cNvPr id="305" name="Google Shape;305;p19"/>
            <p:cNvSpPr txBox="1"/>
            <p:nvPr/>
          </p:nvSpPr>
          <p:spPr>
            <a:xfrm>
              <a:off x="0" y="781498"/>
              <a:ext cx="6112200" cy="10255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99" u="none" dirty="0" err="1">
                  <a:solidFill>
                    <a:srgbClr val="FFFFFF"/>
                  </a:solidFill>
                  <a:latin typeface="Assistant"/>
                  <a:ea typeface="Assistant"/>
                  <a:cs typeface="Assistant"/>
                  <a:sym typeface="Assistant"/>
                </a:rPr>
                <a:t>Declaratie</a:t>
              </a:r>
              <a:r>
                <a:rPr lang="en-US" sz="2499" u="none" dirty="0">
                  <a:solidFill>
                    <a:srgbClr val="FFFFFF"/>
                  </a:solidFill>
                  <a:latin typeface="Assistant"/>
                  <a:ea typeface="Assistant"/>
                  <a:cs typeface="Assistant"/>
                  <a:sym typeface="Assistant"/>
                </a:rPr>
                <a:t> </a:t>
              </a:r>
              <a:r>
                <a:rPr lang="en-US" sz="2499" u="none" dirty="0" err="1">
                  <a:solidFill>
                    <a:srgbClr val="FFFFFF"/>
                  </a:solidFill>
                  <a:latin typeface="Assistant"/>
                  <a:ea typeface="Assistant"/>
                  <a:cs typeface="Assistant"/>
                  <a:sym typeface="Assistant"/>
                </a:rPr>
                <a:t>blokken</a:t>
              </a:r>
              <a:endParaRPr lang="en-US" sz="2499" u="none" dirty="0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99" dirty="0">
                  <a:solidFill>
                    <a:srgbClr val="FFFFFF"/>
                  </a:solidFill>
                  <a:latin typeface="Assistant"/>
                  <a:ea typeface="Assistant"/>
                  <a:cs typeface="Assistant"/>
                  <a:sym typeface="Assistant"/>
                </a:rPr>
                <a:t>Vorm</a:t>
              </a:r>
            </a:p>
          </p:txBody>
        </p:sp>
      </p:grpSp>
      <p:pic>
        <p:nvPicPr>
          <p:cNvPr id="5" name="Picture 4" descr="A group of colorful blocks&#10;&#10;Description automatically generated">
            <a:extLst>
              <a:ext uri="{FF2B5EF4-FFF2-40B4-BE49-F238E27FC236}">
                <a16:creationId xmlns:a16="http://schemas.microsoft.com/office/drawing/2014/main" id="{90ADA66C-12C5-A779-146E-8651309C418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474" b="92632" l="4762" r="91837">
                        <a14:foregroundMark x1="8163" y1="12632" x2="21769" y2="10526"/>
                        <a14:foregroundMark x1="21769" y1="10526" x2="48299" y2="12632"/>
                        <a14:foregroundMark x1="48299" y1="12632" x2="36735" y2="23158"/>
                        <a14:foregroundMark x1="36735" y1="23158" x2="8163" y2="20000"/>
                        <a14:foregroundMark x1="8163" y1="20000" x2="7483" y2="15789"/>
                        <a14:foregroundMark x1="30612" y1="25263" x2="30612" y2="25263"/>
                        <a14:foregroundMark x1="25850" y1="25263" x2="25850" y2="25263"/>
                        <a14:foregroundMark x1="36735" y1="23158" x2="45578" y2="24211"/>
                        <a14:foregroundMark x1="45578" y1="23158" x2="48299" y2="24211"/>
                        <a14:foregroundMark x1="47619" y1="23158" x2="48299" y2="10526"/>
                        <a14:foregroundMark x1="47619" y1="16842" x2="48299" y2="20000"/>
                        <a14:foregroundMark x1="34694" y1="23158" x2="10884" y2="23158"/>
                        <a14:foregroundMark x1="10884" y1="23158" x2="6803" y2="12632"/>
                        <a14:foregroundMark x1="6122" y1="23158" x2="6122" y2="23158"/>
                        <a14:foregroundMark x1="6803" y1="12632" x2="6122" y2="17895"/>
                        <a14:foregroundMark x1="7483" y1="11579" x2="6803" y2="13684"/>
                        <a14:foregroundMark x1="13605" y1="23158" x2="17007" y2="25263"/>
                        <a14:foregroundMark x1="38095" y1="23158" x2="41497" y2="25263"/>
                        <a14:foregroundMark x1="73469" y1="15789" x2="78231" y2="26316"/>
                        <a14:foregroundMark x1="76871" y1="17895" x2="80952" y2="28421"/>
                        <a14:foregroundMark x1="76190" y1="9474" x2="79592" y2="9474"/>
                        <a14:foregroundMark x1="91156" y1="12632" x2="91837" y2="16842"/>
                        <a14:foregroundMark x1="90476" y1="25263" x2="91837" y2="29474"/>
                        <a14:foregroundMark x1="72789" y1="41053" x2="76190" y2="42105"/>
                        <a14:foregroundMark x1="80272" y1="41053" x2="86395" y2="41053"/>
                        <a14:foregroundMark x1="89116" y1="40000" x2="91156" y2="38947"/>
                        <a14:foregroundMark x1="91156" y1="34737" x2="91837" y2="32632"/>
                        <a14:foregroundMark x1="64626" y1="65263" x2="75510" y2="61053"/>
                        <a14:foregroundMark x1="75510" y1="61053" x2="86395" y2="62105"/>
                        <a14:foregroundMark x1="86395" y1="62105" x2="80272" y2="75789"/>
                        <a14:foregroundMark x1="80272" y1="75789" x2="78231" y2="92632"/>
                        <a14:foregroundMark x1="78231" y1="92632" x2="70748" y2="76842"/>
                        <a14:foregroundMark x1="70748" y1="76842" x2="60544" y2="72632"/>
                        <a14:foregroundMark x1="60544" y1="72632" x2="60544" y2="72632"/>
                        <a14:foregroundMark x1="61905" y1="75789" x2="61905" y2="75789"/>
                        <a14:foregroundMark x1="59184" y1="67368" x2="59184" y2="67368"/>
                        <a14:foregroundMark x1="59184" y1="69474" x2="59184" y2="69474"/>
                        <a14:foregroundMark x1="59864" y1="74737" x2="59864" y2="74737"/>
                        <a14:foregroundMark x1="81633" y1="75789" x2="81633" y2="75789"/>
                        <a14:foregroundMark x1="85714" y1="75789" x2="85714" y2="75789"/>
                        <a14:foregroundMark x1="88435" y1="75789" x2="88435" y2="75789"/>
                        <a14:foregroundMark x1="90476" y1="75789" x2="90476" y2="75789"/>
                        <a14:foregroundMark x1="91156" y1="72632" x2="91156" y2="72632"/>
                        <a14:foregroundMark x1="90476" y1="67368" x2="90476" y2="67368"/>
                        <a14:foregroundMark x1="90476" y1="65263" x2="90476" y2="65263"/>
                        <a14:foregroundMark x1="90476" y1="65263" x2="90476" y2="65263"/>
                        <a14:foregroundMark x1="91156" y1="65263" x2="91156" y2="65263"/>
                        <a14:foregroundMark x1="91156" y1="67368" x2="91156" y2="67368"/>
                        <a14:foregroundMark x1="91156" y1="68421" x2="91156" y2="68421"/>
                        <a14:foregroundMark x1="79592" y1="91579" x2="79592" y2="91579"/>
                        <a14:foregroundMark x1="70748" y1="76842" x2="70748" y2="76842"/>
                        <a14:foregroundMark x1="73469" y1="92632" x2="73469" y2="92632"/>
                        <a14:foregroundMark x1="76190" y1="92632" x2="76190" y2="92632"/>
                        <a14:foregroundMark x1="80952" y1="90526" x2="80952" y2="90526"/>
                        <a14:foregroundMark x1="80272" y1="84211" x2="80272" y2="84211"/>
                        <a14:foregroundMark x1="80952" y1="89474" x2="80952" y2="89474"/>
                        <a14:foregroundMark x1="80952" y1="90526" x2="80952" y2="90526"/>
                        <a14:foregroundMark x1="80952" y1="91579" x2="80952" y2="91579"/>
                        <a14:foregroundMark x1="80272" y1="91579" x2="80272" y2="91579"/>
                        <a14:foregroundMark x1="70748" y1="92632" x2="70748" y2="92632"/>
                        <a14:foregroundMark x1="59864" y1="68421" x2="59864" y2="68421"/>
                        <a14:foregroundMark x1="59864" y1="70526" x2="59864" y2="70526"/>
                        <a14:foregroundMark x1="59864" y1="71579" x2="59864" y2="71579"/>
                        <a14:foregroundMark x1="53061" y1="69474" x2="53061" y2="69474"/>
                        <a14:foregroundMark x1="53741" y1="69474" x2="53741" y2="69474"/>
                        <a14:foregroundMark x1="53741" y1="69474" x2="53741" y2="69474"/>
                        <a14:foregroundMark x1="53061" y1="67368" x2="53061" y2="67368"/>
                        <a14:foregroundMark x1="53061" y1="65263" x2="53061" y2="65263"/>
                        <a14:foregroundMark x1="53061" y1="65263" x2="53061" y2="65263"/>
                        <a14:foregroundMark x1="53061" y1="65263" x2="53061" y2="65263"/>
                        <a14:foregroundMark x1="53061" y1="65263" x2="53061" y2="65263"/>
                        <a14:foregroundMark x1="53061" y1="64211" x2="53061" y2="64211"/>
                        <a14:foregroundMark x1="60544" y1="69474" x2="60544" y2="69474"/>
                        <a14:foregroundMark x1="60544" y1="68421" x2="60544" y2="68421"/>
                        <a14:foregroundMark x1="59864" y1="68421" x2="59864" y2="68421"/>
                        <a14:foregroundMark x1="59184" y1="68421" x2="59184" y2="68421"/>
                        <a14:foregroundMark x1="59184" y1="68421" x2="59184" y2="68421"/>
                        <a14:foregroundMark x1="59184" y1="68421" x2="59184" y2="68421"/>
                        <a14:foregroundMark x1="59184" y1="69474" x2="59184" y2="69474"/>
                        <a14:foregroundMark x1="44218" y1="84211" x2="44218" y2="84211"/>
                        <a14:foregroundMark x1="44218" y1="86316" x2="43537" y2="87368"/>
                        <a14:foregroundMark x1="44218" y1="81053" x2="44898" y2="77895"/>
                        <a14:foregroundMark x1="44898" y1="77895" x2="49660" y2="92632"/>
                        <a14:foregroundMark x1="49660" y1="92632" x2="53061" y2="78947"/>
                        <a14:foregroundMark x1="53061" y1="76842" x2="53061" y2="87368"/>
                        <a14:foregroundMark x1="53061" y1="76842" x2="53741" y2="84211"/>
                        <a14:foregroundMark x1="52381" y1="84211" x2="53741" y2="89474"/>
                        <a14:foregroundMark x1="52381" y1="90526" x2="46939" y2="92632"/>
                        <a14:foregroundMark x1="44218" y1="91579" x2="44218" y2="91579"/>
                        <a14:foregroundMark x1="52381" y1="68421" x2="53741" y2="64211"/>
                        <a14:foregroundMark x1="53741" y1="64211" x2="53061" y2="80000"/>
                        <a14:foregroundMark x1="40136" y1="73684" x2="38776" y2="75789"/>
                        <a14:foregroundMark x1="37415" y1="75789" x2="35374" y2="75789"/>
                        <a14:foregroundMark x1="41497" y1="56842" x2="42857" y2="52632"/>
                        <a14:foregroundMark x1="12245" y1="50526" x2="12925" y2="78947"/>
                        <a14:foregroundMark x1="12925" y1="78947" x2="21769" y2="88421"/>
                        <a14:foregroundMark x1="6122" y1="57895" x2="6803" y2="64211"/>
                        <a14:foregroundMark x1="6803" y1="63158" x2="6803" y2="73684"/>
                        <a14:foregroundMark x1="6122" y1="69474" x2="6803" y2="76842"/>
                        <a14:foregroundMark x1="6803" y1="82105" x2="6803" y2="90526"/>
                        <a14:foregroundMark x1="6803" y1="83158" x2="6122" y2="87368"/>
                        <a14:foregroundMark x1="17687" y1="75789" x2="23810" y2="78947"/>
                        <a14:foregroundMark x1="23129" y1="77895" x2="26531" y2="78947"/>
                        <a14:foregroundMark x1="26531" y1="81053" x2="26531" y2="88421"/>
                        <a14:foregroundMark x1="26531" y1="89474" x2="9524" y2="91579"/>
                        <a14:foregroundMark x1="7483" y1="90526" x2="10204" y2="90526"/>
                        <a14:foregroundMark x1="14966" y1="54737" x2="16327" y2="65263"/>
                        <a14:foregroundMark x1="15646" y1="50526" x2="15646" y2="50526"/>
                        <a14:foregroundMark x1="16327" y1="52632" x2="16327" y2="5263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736918" y="8233182"/>
            <a:ext cx="1474913" cy="953281"/>
          </a:xfrm>
          <a:prstGeom prst="rect">
            <a:avLst/>
          </a:prstGeom>
        </p:spPr>
      </p:pic>
      <p:sp>
        <p:nvSpPr>
          <p:cNvPr id="2" name="Rechthoek 1">
            <a:extLst>
              <a:ext uri="{FF2B5EF4-FFF2-40B4-BE49-F238E27FC236}">
                <a16:creationId xmlns:a16="http://schemas.microsoft.com/office/drawing/2014/main" id="{E09098DF-87E5-D023-54A5-4B1BA609F9E3}"/>
              </a:ext>
            </a:extLst>
          </p:cNvPr>
          <p:cNvSpPr/>
          <p:nvPr/>
        </p:nvSpPr>
        <p:spPr>
          <a:xfrm>
            <a:off x="17629310" y="9627980"/>
            <a:ext cx="312907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nl-NL" sz="1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8</a:t>
            </a:r>
            <a:endParaRPr lang="nl-NL" sz="1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9"/>
          <p:cNvSpPr/>
          <p:nvPr/>
        </p:nvSpPr>
        <p:spPr>
          <a:xfrm>
            <a:off x="0" y="0"/>
            <a:ext cx="18280075" cy="4427418"/>
          </a:xfrm>
          <a:custGeom>
            <a:avLst/>
            <a:gdLst/>
            <a:ahLst/>
            <a:cxnLst/>
            <a:rect l="l" t="t" r="r" b="b"/>
            <a:pathLst>
              <a:path w="8971816" h="2172966" extrusionOk="0">
                <a:moveTo>
                  <a:pt x="0" y="0"/>
                </a:moveTo>
                <a:lnTo>
                  <a:pt x="8971816" y="0"/>
                </a:lnTo>
                <a:lnTo>
                  <a:pt x="8971816" y="2172966"/>
                </a:lnTo>
                <a:lnTo>
                  <a:pt x="0" y="2172966"/>
                </a:lnTo>
                <a:close/>
              </a:path>
            </a:pathLst>
          </a:custGeom>
          <a:solidFill>
            <a:srgbClr val="4BB8BE"/>
          </a:solidFill>
          <a:ln>
            <a:noFill/>
          </a:ln>
        </p:spPr>
        <p:txBody>
          <a:bodyPr/>
          <a:lstStyle/>
          <a:p>
            <a:endParaRPr lang="LID4096"/>
          </a:p>
        </p:txBody>
      </p:sp>
      <p:sp>
        <p:nvSpPr>
          <p:cNvPr id="281" name="Google Shape;281;p19"/>
          <p:cNvSpPr txBox="1"/>
          <p:nvPr/>
        </p:nvSpPr>
        <p:spPr>
          <a:xfrm>
            <a:off x="1028700" y="1019175"/>
            <a:ext cx="11359290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dirty="0" err="1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Resultaat</a:t>
            </a:r>
            <a:endParaRPr dirty="0"/>
          </a:p>
        </p:txBody>
      </p:sp>
      <p:sp>
        <p:nvSpPr>
          <p:cNvPr id="282" name="Google Shape;282;p19"/>
          <p:cNvSpPr/>
          <p:nvPr/>
        </p:nvSpPr>
        <p:spPr>
          <a:xfrm>
            <a:off x="990600" y="3454464"/>
            <a:ext cx="5257275" cy="2825669"/>
          </a:xfrm>
          <a:custGeom>
            <a:avLst/>
            <a:gdLst/>
            <a:ahLst/>
            <a:cxnLst/>
            <a:rect l="l" t="t" r="r" b="b"/>
            <a:pathLst>
              <a:path w="664661" h="357240" extrusionOk="0">
                <a:moveTo>
                  <a:pt x="0" y="0"/>
                </a:moveTo>
                <a:lnTo>
                  <a:pt x="664661" y="0"/>
                </a:lnTo>
                <a:lnTo>
                  <a:pt x="664661" y="357240"/>
                </a:lnTo>
                <a:lnTo>
                  <a:pt x="0" y="357240"/>
                </a:lnTo>
                <a:close/>
              </a:path>
            </a:pathLst>
          </a:custGeom>
          <a:solidFill>
            <a:srgbClr val="EE604A"/>
          </a:solidFill>
          <a:ln>
            <a:noFill/>
          </a:ln>
        </p:spPr>
        <p:txBody>
          <a:bodyPr/>
          <a:lstStyle/>
          <a:p>
            <a:endParaRPr lang="LID4096"/>
          </a:p>
        </p:txBody>
      </p:sp>
      <p:sp>
        <p:nvSpPr>
          <p:cNvPr id="283" name="Google Shape;283;p19"/>
          <p:cNvSpPr/>
          <p:nvPr/>
        </p:nvSpPr>
        <p:spPr>
          <a:xfrm>
            <a:off x="6570341" y="3454464"/>
            <a:ext cx="5257275" cy="2825669"/>
          </a:xfrm>
          <a:custGeom>
            <a:avLst/>
            <a:gdLst/>
            <a:ahLst/>
            <a:cxnLst/>
            <a:rect l="l" t="t" r="r" b="b"/>
            <a:pathLst>
              <a:path w="664661" h="357240" extrusionOk="0">
                <a:moveTo>
                  <a:pt x="0" y="0"/>
                </a:moveTo>
                <a:lnTo>
                  <a:pt x="664661" y="0"/>
                </a:lnTo>
                <a:lnTo>
                  <a:pt x="664661" y="357240"/>
                </a:lnTo>
                <a:lnTo>
                  <a:pt x="0" y="357240"/>
                </a:lnTo>
                <a:close/>
              </a:path>
            </a:pathLst>
          </a:custGeom>
          <a:solidFill>
            <a:srgbClr val="F4C500"/>
          </a:solidFill>
          <a:ln>
            <a:noFill/>
          </a:ln>
        </p:spPr>
        <p:txBody>
          <a:bodyPr/>
          <a:lstStyle/>
          <a:p>
            <a:endParaRPr lang="LID4096"/>
          </a:p>
        </p:txBody>
      </p:sp>
      <p:sp>
        <p:nvSpPr>
          <p:cNvPr id="284" name="Google Shape;284;p19"/>
          <p:cNvSpPr/>
          <p:nvPr/>
        </p:nvSpPr>
        <p:spPr>
          <a:xfrm>
            <a:off x="12151466" y="3454464"/>
            <a:ext cx="5257275" cy="2825669"/>
          </a:xfrm>
          <a:custGeom>
            <a:avLst/>
            <a:gdLst/>
            <a:ahLst/>
            <a:cxnLst/>
            <a:rect l="l" t="t" r="r" b="b"/>
            <a:pathLst>
              <a:path w="664661" h="357240" extrusionOk="0">
                <a:moveTo>
                  <a:pt x="0" y="0"/>
                </a:moveTo>
                <a:lnTo>
                  <a:pt x="664661" y="0"/>
                </a:lnTo>
                <a:lnTo>
                  <a:pt x="664661" y="357240"/>
                </a:lnTo>
                <a:lnTo>
                  <a:pt x="0" y="357240"/>
                </a:lnTo>
                <a:close/>
              </a:path>
            </a:pathLst>
          </a:custGeom>
          <a:solidFill>
            <a:srgbClr val="A16AE8"/>
          </a:solidFill>
          <a:ln>
            <a:noFill/>
          </a:ln>
        </p:spPr>
        <p:txBody>
          <a:bodyPr/>
          <a:lstStyle/>
          <a:p>
            <a:endParaRPr lang="LID4096"/>
          </a:p>
        </p:txBody>
      </p:sp>
      <p:sp>
        <p:nvSpPr>
          <p:cNvPr id="285" name="Google Shape;285;p19"/>
          <p:cNvSpPr/>
          <p:nvPr/>
        </p:nvSpPr>
        <p:spPr>
          <a:xfrm>
            <a:off x="3565153" y="6594194"/>
            <a:ext cx="5257275" cy="2825669"/>
          </a:xfrm>
          <a:custGeom>
            <a:avLst/>
            <a:gdLst/>
            <a:ahLst/>
            <a:cxnLst/>
            <a:rect l="l" t="t" r="r" b="b"/>
            <a:pathLst>
              <a:path w="664661" h="357240" extrusionOk="0">
                <a:moveTo>
                  <a:pt x="0" y="0"/>
                </a:moveTo>
                <a:lnTo>
                  <a:pt x="664661" y="0"/>
                </a:lnTo>
                <a:lnTo>
                  <a:pt x="664661" y="357240"/>
                </a:lnTo>
                <a:lnTo>
                  <a:pt x="0" y="357240"/>
                </a:lnTo>
                <a:close/>
              </a:path>
            </a:pathLst>
          </a:custGeom>
          <a:solidFill>
            <a:srgbClr val="A16AE8"/>
          </a:solidFill>
          <a:ln>
            <a:noFill/>
          </a:ln>
        </p:spPr>
        <p:txBody>
          <a:bodyPr/>
          <a:lstStyle/>
          <a:p>
            <a:endParaRPr lang="LID4096" dirty="0"/>
          </a:p>
        </p:txBody>
      </p:sp>
      <p:sp>
        <p:nvSpPr>
          <p:cNvPr id="286" name="Google Shape;286;p19"/>
          <p:cNvSpPr/>
          <p:nvPr/>
        </p:nvSpPr>
        <p:spPr>
          <a:xfrm>
            <a:off x="9522828" y="6594194"/>
            <a:ext cx="5257275" cy="2825669"/>
          </a:xfrm>
          <a:custGeom>
            <a:avLst/>
            <a:gdLst/>
            <a:ahLst/>
            <a:cxnLst/>
            <a:rect l="l" t="t" r="r" b="b"/>
            <a:pathLst>
              <a:path w="664661" h="357240" extrusionOk="0">
                <a:moveTo>
                  <a:pt x="0" y="0"/>
                </a:moveTo>
                <a:lnTo>
                  <a:pt x="664661" y="0"/>
                </a:lnTo>
                <a:lnTo>
                  <a:pt x="664661" y="357240"/>
                </a:lnTo>
                <a:lnTo>
                  <a:pt x="0" y="357240"/>
                </a:lnTo>
                <a:close/>
              </a:path>
            </a:pathLst>
          </a:custGeom>
          <a:solidFill>
            <a:srgbClr val="EE604A"/>
          </a:solidFill>
          <a:ln>
            <a:noFill/>
          </a:ln>
        </p:spPr>
        <p:txBody>
          <a:bodyPr/>
          <a:lstStyle/>
          <a:p>
            <a:endParaRPr lang="LID4096"/>
          </a:p>
        </p:txBody>
      </p:sp>
      <p:grpSp>
        <p:nvGrpSpPr>
          <p:cNvPr id="288" name="Google Shape;288;p19"/>
          <p:cNvGrpSpPr/>
          <p:nvPr/>
        </p:nvGrpSpPr>
        <p:grpSpPr>
          <a:xfrm>
            <a:off x="1273105" y="3938178"/>
            <a:ext cx="4584151" cy="1362452"/>
            <a:chOff x="0" y="-9525"/>
            <a:chExt cx="6112200" cy="1816603"/>
          </a:xfrm>
        </p:grpSpPr>
        <p:sp>
          <p:nvSpPr>
            <p:cNvPr id="289" name="Google Shape;289;p19"/>
            <p:cNvSpPr txBox="1"/>
            <p:nvPr/>
          </p:nvSpPr>
          <p:spPr>
            <a:xfrm>
              <a:off x="0" y="-9525"/>
              <a:ext cx="6112165" cy="861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500" u="none" dirty="0">
                  <a:solidFill>
                    <a:srgbClr val="FFFFFF"/>
                  </a:solidFill>
                  <a:latin typeface="Fira Sans Medium"/>
                  <a:ea typeface="Fira Sans Medium"/>
                  <a:cs typeface="Fira Sans Medium"/>
                  <a:sym typeface="Fira Sans Medium"/>
                </a:rPr>
                <a:t>Colors</a:t>
              </a:r>
              <a:endParaRPr dirty="0"/>
            </a:p>
          </p:txBody>
        </p:sp>
        <p:sp>
          <p:nvSpPr>
            <p:cNvPr id="290" name="Google Shape;290;p19"/>
            <p:cNvSpPr txBox="1"/>
            <p:nvPr/>
          </p:nvSpPr>
          <p:spPr>
            <a:xfrm>
              <a:off x="0" y="781498"/>
              <a:ext cx="6112200" cy="10255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nl-BE" sz="2499" u="none" dirty="0">
                  <a:solidFill>
                    <a:srgbClr val="FFFFFF"/>
                  </a:solidFill>
                  <a:latin typeface="Assistant"/>
                  <a:ea typeface="Assistant"/>
                  <a:cs typeface="Assistant"/>
                  <a:sym typeface="Assistant"/>
                </a:rPr>
                <a:t>Blokken</a:t>
              </a: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nl-BE" sz="2499" dirty="0">
                  <a:solidFill>
                    <a:srgbClr val="FFFFFF"/>
                  </a:solidFill>
                  <a:latin typeface="Assistant"/>
                  <a:cs typeface="Assistant"/>
                  <a:sym typeface="Assistant"/>
                </a:rPr>
                <a:t>Interface</a:t>
              </a:r>
              <a:endParaRPr dirty="0"/>
            </a:p>
          </p:txBody>
        </p:sp>
      </p:grpSp>
      <p:grpSp>
        <p:nvGrpSpPr>
          <p:cNvPr id="291" name="Google Shape;291;p19"/>
          <p:cNvGrpSpPr/>
          <p:nvPr/>
        </p:nvGrpSpPr>
        <p:grpSpPr>
          <a:xfrm>
            <a:off x="6852846" y="3938178"/>
            <a:ext cx="4584151" cy="977859"/>
            <a:chOff x="0" y="-9525"/>
            <a:chExt cx="6112200" cy="1303812"/>
          </a:xfrm>
        </p:grpSpPr>
        <p:sp>
          <p:nvSpPr>
            <p:cNvPr id="292" name="Google Shape;292;p19"/>
            <p:cNvSpPr txBox="1"/>
            <p:nvPr/>
          </p:nvSpPr>
          <p:spPr>
            <a:xfrm>
              <a:off x="0" y="-9525"/>
              <a:ext cx="6112165" cy="861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500" u="none" dirty="0">
                  <a:solidFill>
                    <a:srgbClr val="FFFFFF"/>
                  </a:solidFill>
                  <a:latin typeface="Fira Sans Medium"/>
                  <a:ea typeface="Fira Sans Medium"/>
                  <a:cs typeface="Fira Sans Medium"/>
                  <a:sym typeface="Fira Sans Medium"/>
                </a:rPr>
                <a:t>Positions</a:t>
              </a:r>
              <a:endParaRPr dirty="0"/>
            </a:p>
          </p:txBody>
        </p:sp>
        <p:sp>
          <p:nvSpPr>
            <p:cNvPr id="293" name="Google Shape;293;p19"/>
            <p:cNvSpPr txBox="1"/>
            <p:nvPr/>
          </p:nvSpPr>
          <p:spPr>
            <a:xfrm>
              <a:off x="0" y="781498"/>
              <a:ext cx="6112200" cy="5127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nl-BE" sz="2499" u="none" dirty="0">
                  <a:solidFill>
                    <a:srgbClr val="FFFFFF"/>
                  </a:solidFill>
                  <a:latin typeface="Assistant"/>
                  <a:ea typeface="Assistant"/>
                  <a:cs typeface="Assistant"/>
                  <a:sym typeface="Assistant"/>
                </a:rPr>
                <a:t>Rijen en kolommen</a:t>
              </a:r>
              <a:endParaRPr dirty="0"/>
            </a:p>
          </p:txBody>
        </p:sp>
      </p:grpSp>
      <p:grpSp>
        <p:nvGrpSpPr>
          <p:cNvPr id="294" name="Google Shape;294;p19"/>
          <p:cNvGrpSpPr/>
          <p:nvPr/>
        </p:nvGrpSpPr>
        <p:grpSpPr>
          <a:xfrm>
            <a:off x="12430771" y="3938178"/>
            <a:ext cx="4584151" cy="1747044"/>
            <a:chOff x="0" y="-9525"/>
            <a:chExt cx="6112200" cy="2329393"/>
          </a:xfrm>
        </p:grpSpPr>
        <p:sp>
          <p:nvSpPr>
            <p:cNvPr id="295" name="Google Shape;295;p19"/>
            <p:cNvSpPr txBox="1"/>
            <p:nvPr/>
          </p:nvSpPr>
          <p:spPr>
            <a:xfrm>
              <a:off x="0" y="-9525"/>
              <a:ext cx="6112165" cy="861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500" dirty="0" err="1">
                  <a:solidFill>
                    <a:srgbClr val="FFFFFF"/>
                  </a:solidFill>
                  <a:latin typeface="Fira Sans Medium"/>
                  <a:ea typeface="Fira Sans Medium"/>
                  <a:cs typeface="Fira Sans Medium"/>
                  <a:sym typeface="Fira Sans Medium"/>
                </a:rPr>
                <a:t>T</a:t>
              </a:r>
              <a:r>
                <a:rPr lang="en-US" sz="3500" u="none" dirty="0" err="1">
                  <a:solidFill>
                    <a:srgbClr val="FFFFFF"/>
                  </a:solidFill>
                  <a:latin typeface="Fira Sans Medium"/>
                  <a:ea typeface="Fira Sans Medium"/>
                  <a:cs typeface="Fira Sans Medium"/>
                  <a:sym typeface="Fira Sans Medium"/>
                </a:rPr>
                <a:t>etrisai</a:t>
              </a:r>
              <a:endParaRPr dirty="0"/>
            </a:p>
          </p:txBody>
        </p:sp>
        <p:sp>
          <p:nvSpPr>
            <p:cNvPr id="296" name="Google Shape;296;p19"/>
            <p:cNvSpPr txBox="1"/>
            <p:nvPr/>
          </p:nvSpPr>
          <p:spPr>
            <a:xfrm>
              <a:off x="0" y="781498"/>
              <a:ext cx="6112200" cy="15383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99" u="none" dirty="0" err="1">
                  <a:solidFill>
                    <a:srgbClr val="FFFFFF"/>
                  </a:solidFill>
                  <a:latin typeface="Assistant"/>
                  <a:ea typeface="Assistant"/>
                  <a:cs typeface="Assistant"/>
                  <a:sym typeface="Assistant"/>
                </a:rPr>
                <a:t>Functies</a:t>
              </a:r>
              <a:r>
                <a:rPr lang="en-US" sz="2499" u="none" dirty="0">
                  <a:solidFill>
                    <a:srgbClr val="FFFFFF"/>
                  </a:solidFill>
                  <a:latin typeface="Assistant"/>
                  <a:ea typeface="Assistant"/>
                  <a:cs typeface="Assistant"/>
                  <a:sym typeface="Assistant"/>
                </a:rPr>
                <a:t> AI </a:t>
              </a:r>
              <a:r>
                <a:rPr lang="en-US" sz="2499" u="none" dirty="0" err="1">
                  <a:solidFill>
                    <a:srgbClr val="FFFFFF"/>
                  </a:solidFill>
                  <a:latin typeface="Assistant"/>
                  <a:ea typeface="Assistant"/>
                  <a:cs typeface="Assistant"/>
                  <a:sym typeface="Assistant"/>
                </a:rPr>
                <a:t>algortime</a:t>
              </a:r>
              <a:endParaRPr lang="en-US" sz="2499" u="none" dirty="0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99" u="none" dirty="0">
                  <a:solidFill>
                    <a:srgbClr val="FFFFFF"/>
                  </a:solidFill>
                  <a:latin typeface="Assistant"/>
                  <a:ea typeface="Assistant"/>
                  <a:cs typeface="Assistant"/>
                  <a:sym typeface="Assistant"/>
                </a:rPr>
                <a:t>Score </a:t>
              </a:r>
              <a:r>
                <a:rPr lang="en-US" sz="2499" u="none" dirty="0" err="1">
                  <a:solidFill>
                    <a:srgbClr val="FFFFFF"/>
                  </a:solidFill>
                  <a:latin typeface="Assistant"/>
                  <a:ea typeface="Assistant"/>
                  <a:cs typeface="Assistant"/>
                  <a:sym typeface="Assistant"/>
                </a:rPr>
                <a:t>berekening</a:t>
              </a:r>
              <a:endParaRPr lang="en-US" sz="2499" u="none" dirty="0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99" dirty="0" err="1">
                  <a:solidFill>
                    <a:srgbClr val="FFFFFF"/>
                  </a:solidFill>
                  <a:latin typeface="Assistant"/>
                  <a:ea typeface="Assistant"/>
                  <a:cs typeface="Assistant"/>
                  <a:sym typeface="Assistant"/>
                </a:rPr>
                <a:t>Uitvoering</a:t>
              </a:r>
              <a:r>
                <a:rPr lang="en-US" sz="2499" dirty="0">
                  <a:solidFill>
                    <a:srgbClr val="FFFFFF"/>
                  </a:solidFill>
                  <a:latin typeface="Assistant"/>
                  <a:ea typeface="Assistant"/>
                  <a:cs typeface="Assistant"/>
                  <a:sym typeface="Assistant"/>
                </a:rPr>
                <a:t> best move</a:t>
              </a:r>
              <a:endParaRPr sz="2499" u="none" dirty="0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</p:grpSp>
      <p:grpSp>
        <p:nvGrpSpPr>
          <p:cNvPr id="297" name="Google Shape;297;p19"/>
          <p:cNvGrpSpPr/>
          <p:nvPr/>
        </p:nvGrpSpPr>
        <p:grpSpPr>
          <a:xfrm>
            <a:off x="3901714" y="6841497"/>
            <a:ext cx="4584151" cy="977859"/>
            <a:chOff x="0" y="-9525"/>
            <a:chExt cx="6112200" cy="1303813"/>
          </a:xfrm>
        </p:grpSpPr>
        <p:sp>
          <p:nvSpPr>
            <p:cNvPr id="298" name="Google Shape;298;p19"/>
            <p:cNvSpPr txBox="1"/>
            <p:nvPr/>
          </p:nvSpPr>
          <p:spPr>
            <a:xfrm>
              <a:off x="0" y="-9525"/>
              <a:ext cx="6112165" cy="861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500" dirty="0">
                  <a:solidFill>
                    <a:srgbClr val="FFFFFF"/>
                  </a:solidFill>
                  <a:latin typeface="Fira Sans Medium"/>
                  <a:ea typeface="Fira Sans Medium"/>
                  <a:cs typeface="Fira Sans Medium"/>
                  <a:sym typeface="Fira Sans Medium"/>
                </a:rPr>
                <a:t>G</a:t>
              </a:r>
              <a:r>
                <a:rPr lang="en-US" sz="3500" u="none" dirty="0">
                  <a:solidFill>
                    <a:srgbClr val="FFFFFF"/>
                  </a:solidFill>
                  <a:latin typeface="Fira Sans Medium"/>
                  <a:ea typeface="Fira Sans Medium"/>
                  <a:cs typeface="Fira Sans Medium"/>
                  <a:sym typeface="Fira Sans Medium"/>
                </a:rPr>
                <a:t>enetic</a:t>
              </a:r>
              <a:endParaRPr dirty="0"/>
            </a:p>
          </p:txBody>
        </p:sp>
        <p:sp>
          <p:nvSpPr>
            <p:cNvPr id="299" name="Google Shape;299;p19"/>
            <p:cNvSpPr txBox="1"/>
            <p:nvPr/>
          </p:nvSpPr>
          <p:spPr>
            <a:xfrm>
              <a:off x="0" y="781498"/>
              <a:ext cx="6112200" cy="5127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99" u="none" dirty="0" err="1">
                  <a:solidFill>
                    <a:srgbClr val="FFFFFF"/>
                  </a:solidFill>
                  <a:latin typeface="Assistant"/>
                  <a:ea typeface="Assistant"/>
                  <a:cs typeface="Assistant"/>
                  <a:sym typeface="Assistant"/>
                </a:rPr>
                <a:t>Mutatie</a:t>
              </a:r>
              <a:r>
                <a:rPr lang="en-GB" sz="2499" u="none" dirty="0">
                  <a:solidFill>
                    <a:srgbClr val="FFFFFF"/>
                  </a:solidFill>
                  <a:latin typeface="Assistant"/>
                  <a:ea typeface="Assistant"/>
                  <a:cs typeface="Assistant"/>
                  <a:sym typeface="Assistant"/>
                </a:rPr>
                <a:t> van </a:t>
              </a:r>
              <a:r>
                <a:rPr lang="en-GB" sz="2499" u="none" dirty="0" err="1">
                  <a:solidFill>
                    <a:srgbClr val="FFFFFF"/>
                  </a:solidFill>
                  <a:latin typeface="Assistant"/>
                  <a:ea typeface="Assistant"/>
                  <a:cs typeface="Assistant"/>
                  <a:sym typeface="Assistant"/>
                </a:rPr>
                <a:t>vermenigvuldigers</a:t>
              </a:r>
              <a:endParaRPr lang="en-GB" sz="2499" u="none" dirty="0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</p:grpSp>
      <p:grpSp>
        <p:nvGrpSpPr>
          <p:cNvPr id="300" name="Google Shape;300;p19"/>
          <p:cNvGrpSpPr/>
          <p:nvPr/>
        </p:nvGrpSpPr>
        <p:grpSpPr>
          <a:xfrm>
            <a:off x="9859389" y="6870730"/>
            <a:ext cx="4584151" cy="977859"/>
            <a:chOff x="0" y="-9525"/>
            <a:chExt cx="6112200" cy="1303812"/>
          </a:xfrm>
        </p:grpSpPr>
        <p:sp>
          <p:nvSpPr>
            <p:cNvPr id="301" name="Google Shape;301;p19"/>
            <p:cNvSpPr txBox="1"/>
            <p:nvPr/>
          </p:nvSpPr>
          <p:spPr>
            <a:xfrm>
              <a:off x="0" y="-9525"/>
              <a:ext cx="6112165" cy="861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500" u="none" dirty="0" err="1">
                  <a:solidFill>
                    <a:srgbClr val="FFFFFF"/>
                  </a:solidFill>
                  <a:latin typeface="Fira Sans Medium"/>
                  <a:ea typeface="Fira Sans Medium"/>
                  <a:cs typeface="Fira Sans Medium"/>
                  <a:sym typeface="Fira Sans Medium"/>
                </a:rPr>
                <a:t>AnalyseData</a:t>
              </a:r>
              <a:endParaRPr dirty="0"/>
            </a:p>
          </p:txBody>
        </p:sp>
        <p:sp>
          <p:nvSpPr>
            <p:cNvPr id="302" name="Google Shape;302;p19"/>
            <p:cNvSpPr txBox="1"/>
            <p:nvPr/>
          </p:nvSpPr>
          <p:spPr>
            <a:xfrm>
              <a:off x="0" y="781498"/>
              <a:ext cx="6112200" cy="5127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nl-BE" sz="2499" u="none" dirty="0">
                  <a:solidFill>
                    <a:srgbClr val="FFFFFF"/>
                  </a:solidFill>
                  <a:latin typeface="Assistant"/>
                  <a:ea typeface="Assistant"/>
                  <a:cs typeface="Assistant"/>
                  <a:sym typeface="Assistant"/>
                </a:rPr>
                <a:t>Opslaan en sorteren van data</a:t>
              </a:r>
              <a:endParaRPr sz="2499" u="none" dirty="0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</p:grpSp>
      <p:sp>
        <p:nvSpPr>
          <p:cNvPr id="2" name="Rechthoek 1">
            <a:extLst>
              <a:ext uri="{FF2B5EF4-FFF2-40B4-BE49-F238E27FC236}">
                <a16:creationId xmlns:a16="http://schemas.microsoft.com/office/drawing/2014/main" id="{391C3A03-31F7-872E-331B-A768122F2337}"/>
              </a:ext>
            </a:extLst>
          </p:cNvPr>
          <p:cNvSpPr/>
          <p:nvPr/>
        </p:nvSpPr>
        <p:spPr>
          <a:xfrm>
            <a:off x="17629310" y="9627980"/>
            <a:ext cx="312907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nl-NL" sz="1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9</a:t>
            </a:r>
            <a:endParaRPr lang="nl-NL" sz="1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5537652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2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635094" h="357240" extrusionOk="0">
                <a:moveTo>
                  <a:pt x="0" y="0"/>
                </a:moveTo>
                <a:lnTo>
                  <a:pt x="635094" y="0"/>
                </a:lnTo>
                <a:lnTo>
                  <a:pt x="635094" y="357240"/>
                </a:lnTo>
                <a:lnTo>
                  <a:pt x="0" y="357240"/>
                </a:lnTo>
                <a:close/>
              </a:path>
            </a:pathLst>
          </a:custGeom>
          <a:solidFill>
            <a:srgbClr val="A16AE8"/>
          </a:solidFill>
          <a:ln>
            <a:noFill/>
          </a:ln>
        </p:spPr>
        <p:txBody>
          <a:bodyPr/>
          <a:lstStyle/>
          <a:p>
            <a:endParaRPr lang="LID4096"/>
          </a:p>
        </p:txBody>
      </p:sp>
      <p:sp>
        <p:nvSpPr>
          <p:cNvPr id="507" name="Google Shape;507;p26"/>
          <p:cNvSpPr/>
          <p:nvPr/>
        </p:nvSpPr>
        <p:spPr>
          <a:xfrm>
            <a:off x="0" y="514350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635094" h="357240" extrusionOk="0">
                <a:moveTo>
                  <a:pt x="0" y="0"/>
                </a:moveTo>
                <a:lnTo>
                  <a:pt x="635094" y="0"/>
                </a:lnTo>
                <a:lnTo>
                  <a:pt x="635094" y="357240"/>
                </a:lnTo>
                <a:lnTo>
                  <a:pt x="0" y="357240"/>
                </a:lnTo>
                <a:close/>
              </a:path>
            </a:pathLst>
          </a:custGeom>
          <a:solidFill>
            <a:srgbClr val="4BB8BE"/>
          </a:solidFill>
          <a:ln>
            <a:noFill/>
          </a:ln>
        </p:spPr>
        <p:txBody>
          <a:bodyPr/>
          <a:lstStyle/>
          <a:p>
            <a:endParaRPr lang="LID4096"/>
          </a:p>
        </p:txBody>
      </p:sp>
      <p:sp>
        <p:nvSpPr>
          <p:cNvPr id="508" name="Google Shape;508;p26"/>
          <p:cNvSpPr/>
          <p:nvPr/>
        </p:nvSpPr>
        <p:spPr>
          <a:xfrm>
            <a:off x="9144000" y="0"/>
            <a:ext cx="9186382" cy="5143500"/>
          </a:xfrm>
          <a:custGeom>
            <a:avLst/>
            <a:gdLst/>
            <a:ahLst/>
            <a:cxnLst/>
            <a:rect l="l" t="t" r="r" b="b"/>
            <a:pathLst>
              <a:path w="638037" h="357240" extrusionOk="0">
                <a:moveTo>
                  <a:pt x="0" y="0"/>
                </a:moveTo>
                <a:lnTo>
                  <a:pt x="638037" y="0"/>
                </a:lnTo>
                <a:lnTo>
                  <a:pt x="638037" y="357240"/>
                </a:lnTo>
                <a:lnTo>
                  <a:pt x="0" y="357240"/>
                </a:lnTo>
                <a:close/>
              </a:path>
            </a:pathLst>
          </a:custGeom>
          <a:solidFill>
            <a:srgbClr val="EE604A"/>
          </a:solidFill>
          <a:ln>
            <a:noFill/>
          </a:ln>
        </p:spPr>
        <p:txBody>
          <a:bodyPr/>
          <a:lstStyle/>
          <a:p>
            <a:endParaRPr lang="LID4096"/>
          </a:p>
        </p:txBody>
      </p:sp>
      <p:sp>
        <p:nvSpPr>
          <p:cNvPr id="509" name="Google Shape;509;p26"/>
          <p:cNvSpPr/>
          <p:nvPr/>
        </p:nvSpPr>
        <p:spPr>
          <a:xfrm>
            <a:off x="9144000" y="514350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635094" h="357240" extrusionOk="0">
                <a:moveTo>
                  <a:pt x="0" y="0"/>
                </a:moveTo>
                <a:lnTo>
                  <a:pt x="635094" y="0"/>
                </a:lnTo>
                <a:lnTo>
                  <a:pt x="635094" y="357240"/>
                </a:lnTo>
                <a:lnTo>
                  <a:pt x="0" y="357240"/>
                </a:lnTo>
                <a:close/>
              </a:path>
            </a:pathLst>
          </a:custGeom>
          <a:solidFill>
            <a:srgbClr val="F4C500"/>
          </a:solidFill>
          <a:ln>
            <a:noFill/>
          </a:ln>
        </p:spPr>
        <p:txBody>
          <a:bodyPr/>
          <a:lstStyle/>
          <a:p>
            <a:endParaRPr lang="LID4096"/>
          </a:p>
        </p:txBody>
      </p:sp>
      <p:sp>
        <p:nvSpPr>
          <p:cNvPr id="510" name="Google Shape;510;p26"/>
          <p:cNvSpPr txBox="1"/>
          <p:nvPr/>
        </p:nvSpPr>
        <p:spPr>
          <a:xfrm>
            <a:off x="2950397" y="3306187"/>
            <a:ext cx="4120135" cy="807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="1" dirty="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(Aggregate) Height</a:t>
            </a:r>
            <a:endParaRPr dirty="0"/>
          </a:p>
        </p:txBody>
      </p:sp>
      <p:sp>
        <p:nvSpPr>
          <p:cNvPr id="511" name="Google Shape;511;p26"/>
          <p:cNvSpPr txBox="1"/>
          <p:nvPr/>
        </p:nvSpPr>
        <p:spPr>
          <a:xfrm>
            <a:off x="2950400" y="3951425"/>
            <a:ext cx="52056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rgbClr val="FFFFFF"/>
                </a:solidFill>
                <a:latin typeface="Assistant"/>
                <a:cs typeface="Assistant"/>
              </a:rPr>
              <a:t>sum of the height of each column</a:t>
            </a:r>
            <a:endParaRPr sz="1800" dirty="0">
              <a:solidFill>
                <a:srgbClr val="FFFFFF"/>
              </a:solidFill>
              <a:latin typeface="Assistant"/>
              <a:cs typeface="Assistant"/>
            </a:endParaRPr>
          </a:p>
        </p:txBody>
      </p:sp>
      <p:sp>
        <p:nvSpPr>
          <p:cNvPr id="512" name="Google Shape;512;p26"/>
          <p:cNvSpPr/>
          <p:nvPr/>
        </p:nvSpPr>
        <p:spPr>
          <a:xfrm>
            <a:off x="2950398" y="3183034"/>
            <a:ext cx="5205619" cy="57816"/>
          </a:xfrm>
          <a:custGeom>
            <a:avLst/>
            <a:gdLst/>
            <a:ahLst/>
            <a:cxnLst/>
            <a:rect l="l" t="t" r="r" b="b"/>
            <a:pathLst>
              <a:path w="1129356" h="12543" extrusionOk="0">
                <a:moveTo>
                  <a:pt x="0" y="0"/>
                </a:moveTo>
                <a:lnTo>
                  <a:pt x="1129356" y="0"/>
                </a:lnTo>
                <a:lnTo>
                  <a:pt x="1129356" y="12543"/>
                </a:lnTo>
                <a:lnTo>
                  <a:pt x="0" y="1254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LID4096"/>
          </a:p>
        </p:txBody>
      </p:sp>
      <p:sp>
        <p:nvSpPr>
          <p:cNvPr id="513" name="Google Shape;513;p26"/>
          <p:cNvSpPr txBox="1"/>
          <p:nvPr/>
        </p:nvSpPr>
        <p:spPr>
          <a:xfrm>
            <a:off x="2950398" y="1291091"/>
            <a:ext cx="661997" cy="2077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1" dirty="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A</a:t>
            </a:r>
            <a:endParaRPr dirty="0"/>
          </a:p>
        </p:txBody>
      </p:sp>
      <p:sp>
        <p:nvSpPr>
          <p:cNvPr id="514" name="Google Shape;514;p26"/>
          <p:cNvSpPr txBox="1"/>
          <p:nvPr/>
        </p:nvSpPr>
        <p:spPr>
          <a:xfrm>
            <a:off x="2950398" y="7569358"/>
            <a:ext cx="3807958" cy="807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="1" dirty="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Complete Lines</a:t>
            </a:r>
            <a:endParaRPr dirty="0"/>
          </a:p>
        </p:txBody>
      </p:sp>
      <p:sp>
        <p:nvSpPr>
          <p:cNvPr id="515" name="Google Shape;515;p26"/>
          <p:cNvSpPr txBox="1"/>
          <p:nvPr/>
        </p:nvSpPr>
        <p:spPr>
          <a:xfrm>
            <a:off x="2950397" y="8259272"/>
            <a:ext cx="4797000" cy="2768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99" dirty="0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Number of complete lines</a:t>
            </a:r>
            <a:endParaRPr dirty="0"/>
          </a:p>
        </p:txBody>
      </p:sp>
      <p:sp>
        <p:nvSpPr>
          <p:cNvPr id="516" name="Google Shape;516;p26"/>
          <p:cNvSpPr/>
          <p:nvPr/>
        </p:nvSpPr>
        <p:spPr>
          <a:xfrm>
            <a:off x="2950398" y="7446204"/>
            <a:ext cx="5205619" cy="57816"/>
          </a:xfrm>
          <a:custGeom>
            <a:avLst/>
            <a:gdLst/>
            <a:ahLst/>
            <a:cxnLst/>
            <a:rect l="l" t="t" r="r" b="b"/>
            <a:pathLst>
              <a:path w="1129356" h="12543" extrusionOk="0">
                <a:moveTo>
                  <a:pt x="0" y="0"/>
                </a:moveTo>
                <a:lnTo>
                  <a:pt x="1129356" y="0"/>
                </a:lnTo>
                <a:lnTo>
                  <a:pt x="1129356" y="12543"/>
                </a:lnTo>
                <a:lnTo>
                  <a:pt x="0" y="1254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LID4096"/>
          </a:p>
        </p:txBody>
      </p:sp>
      <p:sp>
        <p:nvSpPr>
          <p:cNvPr id="517" name="Google Shape;517;p26"/>
          <p:cNvSpPr txBox="1"/>
          <p:nvPr/>
        </p:nvSpPr>
        <p:spPr>
          <a:xfrm>
            <a:off x="2950398" y="5554262"/>
            <a:ext cx="661997" cy="2077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1" dirty="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C</a:t>
            </a:r>
            <a:endParaRPr dirty="0"/>
          </a:p>
        </p:txBody>
      </p:sp>
      <p:sp>
        <p:nvSpPr>
          <p:cNvPr id="518" name="Google Shape;518;p26"/>
          <p:cNvSpPr txBox="1"/>
          <p:nvPr/>
        </p:nvSpPr>
        <p:spPr>
          <a:xfrm>
            <a:off x="9610837" y="3306187"/>
            <a:ext cx="3202301" cy="807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="1" dirty="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Holes</a:t>
            </a:r>
            <a:endParaRPr dirty="0"/>
          </a:p>
        </p:txBody>
      </p:sp>
      <p:sp>
        <p:nvSpPr>
          <p:cNvPr id="519" name="Google Shape;519;p26"/>
          <p:cNvSpPr txBox="1"/>
          <p:nvPr/>
        </p:nvSpPr>
        <p:spPr>
          <a:xfrm>
            <a:off x="9617231" y="4019929"/>
            <a:ext cx="4008600" cy="5537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99" dirty="0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Empty spaces</a:t>
            </a:r>
            <a:endParaRPr lang="en-GB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99" dirty="0">
              <a:solidFill>
                <a:srgbClr val="FFFFFF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520" name="Google Shape;520;p26"/>
          <p:cNvSpPr/>
          <p:nvPr/>
        </p:nvSpPr>
        <p:spPr>
          <a:xfrm>
            <a:off x="9610837" y="3183034"/>
            <a:ext cx="5205619" cy="57816"/>
          </a:xfrm>
          <a:custGeom>
            <a:avLst/>
            <a:gdLst/>
            <a:ahLst/>
            <a:cxnLst/>
            <a:rect l="l" t="t" r="r" b="b"/>
            <a:pathLst>
              <a:path w="1129356" h="12543" extrusionOk="0">
                <a:moveTo>
                  <a:pt x="0" y="0"/>
                </a:moveTo>
                <a:lnTo>
                  <a:pt x="1129356" y="0"/>
                </a:lnTo>
                <a:lnTo>
                  <a:pt x="1129356" y="12543"/>
                </a:lnTo>
                <a:lnTo>
                  <a:pt x="0" y="1254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LID4096"/>
          </a:p>
        </p:txBody>
      </p:sp>
      <p:sp>
        <p:nvSpPr>
          <p:cNvPr id="521" name="Google Shape;521;p26"/>
          <p:cNvSpPr txBox="1"/>
          <p:nvPr/>
        </p:nvSpPr>
        <p:spPr>
          <a:xfrm>
            <a:off x="9610837" y="1291091"/>
            <a:ext cx="661997" cy="2077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1" dirty="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H</a:t>
            </a:r>
            <a:endParaRPr lang="en-US" dirty="0"/>
          </a:p>
        </p:txBody>
      </p:sp>
      <p:sp>
        <p:nvSpPr>
          <p:cNvPr id="522" name="Google Shape;522;p26"/>
          <p:cNvSpPr txBox="1"/>
          <p:nvPr/>
        </p:nvSpPr>
        <p:spPr>
          <a:xfrm>
            <a:off x="9610837" y="7578883"/>
            <a:ext cx="3019125" cy="807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="1" dirty="0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Bumpiness</a:t>
            </a:r>
            <a:endParaRPr dirty="0"/>
          </a:p>
        </p:txBody>
      </p:sp>
      <p:sp>
        <p:nvSpPr>
          <p:cNvPr id="523" name="Google Shape;523;p26"/>
          <p:cNvSpPr txBox="1"/>
          <p:nvPr/>
        </p:nvSpPr>
        <p:spPr>
          <a:xfrm>
            <a:off x="9610837" y="8256549"/>
            <a:ext cx="4062300" cy="2768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99" dirty="0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Variation of the column heights</a:t>
            </a:r>
            <a:endParaRPr dirty="0"/>
          </a:p>
        </p:txBody>
      </p:sp>
      <p:sp>
        <p:nvSpPr>
          <p:cNvPr id="524" name="Google Shape;524;p26"/>
          <p:cNvSpPr/>
          <p:nvPr/>
        </p:nvSpPr>
        <p:spPr>
          <a:xfrm>
            <a:off x="9610837" y="7446204"/>
            <a:ext cx="5205619" cy="57816"/>
          </a:xfrm>
          <a:custGeom>
            <a:avLst/>
            <a:gdLst/>
            <a:ahLst/>
            <a:cxnLst/>
            <a:rect l="l" t="t" r="r" b="b"/>
            <a:pathLst>
              <a:path w="1129356" h="12543" extrusionOk="0">
                <a:moveTo>
                  <a:pt x="0" y="0"/>
                </a:moveTo>
                <a:lnTo>
                  <a:pt x="1129356" y="0"/>
                </a:lnTo>
                <a:lnTo>
                  <a:pt x="1129356" y="12543"/>
                </a:lnTo>
                <a:lnTo>
                  <a:pt x="0" y="1254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LID4096"/>
          </a:p>
        </p:txBody>
      </p:sp>
      <p:sp>
        <p:nvSpPr>
          <p:cNvPr id="525" name="Google Shape;525;p26"/>
          <p:cNvSpPr txBox="1"/>
          <p:nvPr/>
        </p:nvSpPr>
        <p:spPr>
          <a:xfrm>
            <a:off x="9610837" y="5554262"/>
            <a:ext cx="661997" cy="2077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1" dirty="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B</a:t>
            </a:r>
            <a:endParaRPr dirty="0"/>
          </a:p>
        </p:txBody>
      </p:sp>
      <p:pic>
        <p:nvPicPr>
          <p:cNvPr id="5126" name="Picture 6" descr="An unideal grid">
            <a:extLst>
              <a:ext uri="{FF2B5EF4-FFF2-40B4-BE49-F238E27FC236}">
                <a16:creationId xmlns:a16="http://schemas.microsoft.com/office/drawing/2014/main" id="{2F012A30-F360-946E-377A-3362D03C90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28812" y="5358504"/>
            <a:ext cx="2381250" cy="1905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8" name="Picture 8" descr="Number of holes = 2">
            <a:extLst>
              <a:ext uri="{FF2B5EF4-FFF2-40B4-BE49-F238E27FC236}">
                <a16:creationId xmlns:a16="http://schemas.microsoft.com/office/drawing/2014/main" id="{241B2C7E-649F-E4B0-7354-38CEB3AF85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35206" y="1365472"/>
            <a:ext cx="2381250" cy="16668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2" name="Picture 12" descr="Complete lines = 2">
            <a:extLst>
              <a:ext uri="{FF2B5EF4-FFF2-40B4-BE49-F238E27FC236}">
                <a16:creationId xmlns:a16="http://schemas.microsoft.com/office/drawing/2014/main" id="{6B00A0BD-898F-42FF-95CA-7D30060F4B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4750" y="5666796"/>
            <a:ext cx="2381250" cy="16668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6" name="Picture 16" descr="Aggregate Height = 43">
            <a:extLst>
              <a:ext uri="{FF2B5EF4-FFF2-40B4-BE49-F238E27FC236}">
                <a16:creationId xmlns:a16="http://schemas.microsoft.com/office/drawing/2014/main" id="{D18F5B11-418C-9FF4-BA20-21BCA916A8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4750" y="1386489"/>
            <a:ext cx="2381250" cy="16668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hthoek 1">
            <a:extLst>
              <a:ext uri="{FF2B5EF4-FFF2-40B4-BE49-F238E27FC236}">
                <a16:creationId xmlns:a16="http://schemas.microsoft.com/office/drawing/2014/main" id="{BFBF6B52-2698-B32B-432C-7F2F673781E1}"/>
              </a:ext>
            </a:extLst>
          </p:cNvPr>
          <p:cNvSpPr/>
          <p:nvPr/>
        </p:nvSpPr>
        <p:spPr>
          <a:xfrm>
            <a:off x="17565191" y="9627980"/>
            <a:ext cx="441147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nl-NL" sz="1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BB8BE"/>
        </a:solidFill>
        <a:effectLst/>
      </p:bgPr>
    </p:bg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5" name="Google Shape;235;p17"/>
          <p:cNvGrpSpPr/>
          <p:nvPr/>
        </p:nvGrpSpPr>
        <p:grpSpPr>
          <a:xfrm>
            <a:off x="15784644" y="5079352"/>
            <a:ext cx="1437444" cy="1769162"/>
            <a:chOff x="0" y="0"/>
            <a:chExt cx="660400" cy="812800"/>
          </a:xfrm>
        </p:grpSpPr>
        <p:sp>
          <p:nvSpPr>
            <p:cNvPr id="236" name="Google Shape;236;p17"/>
            <p:cNvSpPr/>
            <p:nvPr/>
          </p:nvSpPr>
          <p:spPr>
            <a:xfrm>
              <a:off x="0" y="0"/>
              <a:ext cx="660400" cy="812800"/>
            </a:xfrm>
            <a:custGeom>
              <a:avLst/>
              <a:gdLst/>
              <a:ahLst/>
              <a:cxnLst/>
              <a:rect l="l" t="t" r="r" b="b"/>
              <a:pathLst>
                <a:path w="660400" h="812800" extrusionOk="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28502"/>
                  </a:cubicBezTo>
                  <a:lnTo>
                    <a:pt x="660400" y="812800"/>
                  </a:lnTo>
                  <a:lnTo>
                    <a:pt x="0" y="812800"/>
                  </a:lnTo>
                  <a:lnTo>
                    <a:pt x="0" y="328861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F4C5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17"/>
            <p:cNvSpPr txBox="1"/>
            <p:nvPr/>
          </p:nvSpPr>
          <p:spPr>
            <a:xfrm>
              <a:off x="0" y="60325"/>
              <a:ext cx="660400" cy="7524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7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8" name="Google Shape;238;p17"/>
          <p:cNvGrpSpPr/>
          <p:nvPr/>
        </p:nvGrpSpPr>
        <p:grpSpPr>
          <a:xfrm>
            <a:off x="15784644" y="7087302"/>
            <a:ext cx="1437444" cy="1716258"/>
            <a:chOff x="0" y="-66675"/>
            <a:chExt cx="736600" cy="879475"/>
          </a:xfrm>
        </p:grpSpPr>
        <p:sp>
          <p:nvSpPr>
            <p:cNvPr id="239" name="Google Shape;239;p17"/>
            <p:cNvSpPr/>
            <p:nvPr/>
          </p:nvSpPr>
          <p:spPr>
            <a:xfrm>
              <a:off x="0" y="0"/>
              <a:ext cx="736600" cy="812800"/>
            </a:xfrm>
            <a:custGeom>
              <a:avLst/>
              <a:gdLst/>
              <a:ahLst/>
              <a:cxnLst/>
              <a:rect l="l" t="t" r="r" b="b"/>
              <a:pathLst>
                <a:path w="736600" h="812800" extrusionOk="0">
                  <a:moveTo>
                    <a:pt x="736600" y="0"/>
                  </a:moveTo>
                  <a:lnTo>
                    <a:pt x="736600" y="812800"/>
                  </a:lnTo>
                  <a:lnTo>
                    <a:pt x="368300" y="685800"/>
                  </a:lnTo>
                  <a:lnTo>
                    <a:pt x="0" y="812800"/>
                  </a:lnTo>
                  <a:lnTo>
                    <a:pt x="0" y="0"/>
                  </a:lnTo>
                  <a:lnTo>
                    <a:pt x="736600" y="0"/>
                  </a:lnTo>
                  <a:close/>
                </a:path>
              </a:pathLst>
            </a:custGeom>
            <a:solidFill>
              <a:srgbClr val="EE604A"/>
            </a:solidFill>
            <a:ln>
              <a:noFill/>
            </a:ln>
          </p:spPr>
          <p:txBody>
            <a:bodyPr/>
            <a:lstStyle/>
            <a:p>
              <a:endParaRPr lang="LID4096"/>
            </a:p>
          </p:txBody>
        </p:sp>
        <p:sp>
          <p:nvSpPr>
            <p:cNvPr id="240" name="Google Shape;240;p17"/>
            <p:cNvSpPr txBox="1"/>
            <p:nvPr/>
          </p:nvSpPr>
          <p:spPr>
            <a:xfrm>
              <a:off x="0" y="-66675"/>
              <a:ext cx="736600" cy="7524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7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1" name="Google Shape;241;p17"/>
          <p:cNvSpPr txBox="1"/>
          <p:nvPr/>
        </p:nvSpPr>
        <p:spPr>
          <a:xfrm>
            <a:off x="1028700" y="3236563"/>
            <a:ext cx="5985300" cy="1154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dirty="0" err="1">
                <a:solidFill>
                  <a:srgbClr val="FFFFFF"/>
                </a:solidFill>
                <a:latin typeface="Fira Sans"/>
                <a:sym typeface="Fira Sans"/>
              </a:rPr>
              <a:t>Resultaat</a:t>
            </a:r>
            <a:endParaRPr dirty="0"/>
          </a:p>
        </p:txBody>
      </p:sp>
      <p:sp>
        <p:nvSpPr>
          <p:cNvPr id="242" name="Google Shape;242;p17"/>
          <p:cNvSpPr txBox="1"/>
          <p:nvPr/>
        </p:nvSpPr>
        <p:spPr>
          <a:xfrm>
            <a:off x="599812" y="4390725"/>
            <a:ext cx="4641889" cy="1077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="0" i="0" u="none" strike="noStrike" cap="none" dirty="0" err="1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Toepassen</a:t>
            </a:r>
            <a:r>
              <a:rPr lang="en-US" sz="3500" b="0" i="0" u="none" strike="noStrike" cap="none" dirty="0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 van </a:t>
            </a:r>
            <a:r>
              <a:rPr lang="en-US" sz="3500" dirty="0" err="1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h</a:t>
            </a:r>
            <a:r>
              <a:rPr lang="en-US" sz="3500" b="0" i="0" u="none" strike="noStrike" cap="none" dirty="0" err="1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euristiek</a:t>
            </a:r>
            <a:r>
              <a:rPr lang="en-US" sz="3500" b="0" i="0" u="none" strike="noStrike" cap="none" dirty="0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 parameters</a:t>
            </a:r>
            <a:endParaRPr dirty="0"/>
          </a:p>
        </p:txBody>
      </p:sp>
      <p:grpSp>
        <p:nvGrpSpPr>
          <p:cNvPr id="243" name="Google Shape;243;p17"/>
          <p:cNvGrpSpPr/>
          <p:nvPr/>
        </p:nvGrpSpPr>
        <p:grpSpPr>
          <a:xfrm>
            <a:off x="15628173" y="2890934"/>
            <a:ext cx="1750403" cy="1758249"/>
            <a:chOff x="1813" y="0"/>
            <a:chExt cx="809173" cy="812800"/>
          </a:xfrm>
        </p:grpSpPr>
        <p:sp>
          <p:nvSpPr>
            <p:cNvPr id="244" name="Google Shape;244;p17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A16A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17"/>
            <p:cNvSpPr txBox="1"/>
            <p:nvPr/>
          </p:nvSpPr>
          <p:spPr>
            <a:xfrm>
              <a:off x="76200" y="9525"/>
              <a:ext cx="660300" cy="72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7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04653A18-E957-18B9-3842-A6920E453B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6177" y="1867438"/>
            <a:ext cx="8064601" cy="360050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5EC538A-5701-BA3B-9E63-FF305DD50E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811" y="6662852"/>
            <a:ext cx="4152323" cy="22101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9BE7243-C99B-5347-D5BD-93A377D70D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76199" y="6662852"/>
            <a:ext cx="4163004" cy="22101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4398636-D629-5B65-E7C2-C76960C1C7D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63268" y="6662852"/>
            <a:ext cx="3737510" cy="22101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Rechthoek 1">
            <a:extLst>
              <a:ext uri="{FF2B5EF4-FFF2-40B4-BE49-F238E27FC236}">
                <a16:creationId xmlns:a16="http://schemas.microsoft.com/office/drawing/2014/main" id="{25FAD0C3-B211-C2BD-6126-4A6B1089DC9F}"/>
              </a:ext>
            </a:extLst>
          </p:cNvPr>
          <p:cNvSpPr/>
          <p:nvPr/>
        </p:nvSpPr>
        <p:spPr>
          <a:xfrm>
            <a:off x="17565191" y="9627980"/>
            <a:ext cx="441147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nl-NL" sz="1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8"/>
          <p:cNvSpPr/>
          <p:nvPr/>
        </p:nvSpPr>
        <p:spPr>
          <a:xfrm>
            <a:off x="9488079" y="0"/>
            <a:ext cx="8799921" cy="10287000"/>
          </a:xfrm>
          <a:custGeom>
            <a:avLst/>
            <a:gdLst/>
            <a:ahLst/>
            <a:cxnLst/>
            <a:rect l="l" t="t" r="r" b="b"/>
            <a:pathLst>
              <a:path w="611196" h="714481" extrusionOk="0">
                <a:moveTo>
                  <a:pt x="0" y="0"/>
                </a:moveTo>
                <a:lnTo>
                  <a:pt x="611196" y="0"/>
                </a:lnTo>
                <a:lnTo>
                  <a:pt x="611196" y="714481"/>
                </a:lnTo>
                <a:lnTo>
                  <a:pt x="0" y="714481"/>
                </a:lnTo>
                <a:close/>
              </a:path>
            </a:pathLst>
          </a:custGeom>
          <a:solidFill>
            <a:srgbClr val="4BB8BE"/>
          </a:solidFill>
          <a:ln>
            <a:noFill/>
          </a:ln>
        </p:spPr>
        <p:txBody>
          <a:bodyPr/>
          <a:lstStyle/>
          <a:p>
            <a:endParaRPr lang="LID4096"/>
          </a:p>
        </p:txBody>
      </p:sp>
      <p:sp>
        <p:nvSpPr>
          <p:cNvPr id="251" name="Google Shape;251;p18"/>
          <p:cNvSpPr txBox="1"/>
          <p:nvPr/>
        </p:nvSpPr>
        <p:spPr>
          <a:xfrm>
            <a:off x="1102296" y="828675"/>
            <a:ext cx="7127100" cy="1154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BE" sz="7500" b="1" i="0" u="none" strike="noStrike" cap="none" dirty="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Uitbreiding</a:t>
            </a:r>
            <a:endParaRPr dirty="0"/>
          </a:p>
        </p:txBody>
      </p:sp>
      <p:grpSp>
        <p:nvGrpSpPr>
          <p:cNvPr id="253" name="Google Shape;253;p18"/>
          <p:cNvGrpSpPr/>
          <p:nvPr/>
        </p:nvGrpSpPr>
        <p:grpSpPr>
          <a:xfrm>
            <a:off x="1102296" y="8522768"/>
            <a:ext cx="3989062" cy="959486"/>
            <a:chOff x="0" y="-40383"/>
            <a:chExt cx="5318750" cy="1279314"/>
          </a:xfrm>
        </p:grpSpPr>
        <p:grpSp>
          <p:nvGrpSpPr>
            <p:cNvPr id="254" name="Google Shape;254;p18"/>
            <p:cNvGrpSpPr/>
            <p:nvPr/>
          </p:nvGrpSpPr>
          <p:grpSpPr>
            <a:xfrm>
              <a:off x="0" y="16561"/>
              <a:ext cx="993176" cy="1222370"/>
              <a:chOff x="0" y="0"/>
              <a:chExt cx="660400" cy="812800"/>
            </a:xfrm>
          </p:grpSpPr>
          <p:sp>
            <p:nvSpPr>
              <p:cNvPr id="255" name="Google Shape;255;p18"/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4BB8B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56;p18"/>
              <p:cNvSpPr txBox="1"/>
              <p:nvPr/>
            </p:nvSpPr>
            <p:spPr>
              <a:xfrm>
                <a:off x="0" y="88900"/>
                <a:ext cx="660300" cy="72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22055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7" name="Google Shape;257;p18"/>
            <p:cNvGrpSpPr/>
            <p:nvPr/>
          </p:nvGrpSpPr>
          <p:grpSpPr>
            <a:xfrm>
              <a:off x="2722201" y="-40383"/>
              <a:ext cx="1100922" cy="1271755"/>
              <a:chOff x="0" y="-38100"/>
              <a:chExt cx="736600" cy="850900"/>
            </a:xfrm>
          </p:grpSpPr>
          <p:sp>
            <p:nvSpPr>
              <p:cNvPr id="258" name="Google Shape;258;p18"/>
              <p:cNvSpPr/>
              <p:nvPr/>
            </p:nvSpPr>
            <p:spPr>
              <a:xfrm>
                <a:off x="0" y="0"/>
                <a:ext cx="7366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36600" h="812800" extrusionOk="0">
                    <a:moveTo>
                      <a:pt x="736600" y="0"/>
                    </a:moveTo>
                    <a:lnTo>
                      <a:pt x="736600" y="812800"/>
                    </a:lnTo>
                    <a:lnTo>
                      <a:pt x="368300" y="685800"/>
                    </a:lnTo>
                    <a:lnTo>
                      <a:pt x="0" y="812800"/>
                    </a:lnTo>
                    <a:lnTo>
                      <a:pt x="0" y="0"/>
                    </a:lnTo>
                    <a:lnTo>
                      <a:pt x="736600" y="0"/>
                    </a:lnTo>
                    <a:close/>
                  </a:path>
                </a:pathLst>
              </a:custGeom>
              <a:solidFill>
                <a:srgbClr val="F4C500"/>
              </a:solidFill>
              <a:ln>
                <a:noFill/>
              </a:ln>
            </p:spPr>
            <p:txBody>
              <a:bodyPr/>
              <a:lstStyle/>
              <a:p>
                <a:endParaRPr lang="LID4096"/>
              </a:p>
            </p:txBody>
          </p:sp>
          <p:sp>
            <p:nvSpPr>
              <p:cNvPr id="259" name="Google Shape;259;p18"/>
              <p:cNvSpPr txBox="1"/>
              <p:nvPr/>
            </p:nvSpPr>
            <p:spPr>
              <a:xfrm>
                <a:off x="0" y="-38100"/>
                <a:ext cx="736500" cy="72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22055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60" name="Google Shape;260;p18"/>
            <p:cNvGrpSpPr/>
            <p:nvPr/>
          </p:nvGrpSpPr>
          <p:grpSpPr>
            <a:xfrm>
              <a:off x="1252993" y="16561"/>
              <a:ext cx="1209390" cy="1214811"/>
              <a:chOff x="1813" y="0"/>
              <a:chExt cx="809173" cy="812800"/>
            </a:xfrm>
          </p:grpSpPr>
          <p:sp>
            <p:nvSpPr>
              <p:cNvPr id="261" name="Google Shape;261;p18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A16AE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62;p18"/>
              <p:cNvSpPr txBox="1"/>
              <p:nvPr/>
            </p:nvSpPr>
            <p:spPr>
              <a:xfrm>
                <a:off x="76200" y="38100"/>
                <a:ext cx="660300" cy="6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22055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63" name="Google Shape;263;p18"/>
            <p:cNvSpPr/>
            <p:nvPr/>
          </p:nvSpPr>
          <p:spPr>
            <a:xfrm rot="10800000">
              <a:off x="4094705" y="7409"/>
              <a:ext cx="1224045" cy="1223937"/>
            </a:xfrm>
            <a:custGeom>
              <a:avLst/>
              <a:gdLst/>
              <a:ahLst/>
              <a:cxnLst/>
              <a:rect l="l" t="t" r="r" b="b"/>
              <a:pathLst>
                <a:path w="14400530" h="14399261" extrusionOk="0">
                  <a:moveTo>
                    <a:pt x="7199630" y="0"/>
                  </a:moveTo>
                  <a:cubicBezTo>
                    <a:pt x="3223260" y="0"/>
                    <a:pt x="0" y="3223260"/>
                    <a:pt x="0" y="7199630"/>
                  </a:cubicBezTo>
                  <a:cubicBezTo>
                    <a:pt x="0" y="11176001"/>
                    <a:pt x="3223260" y="14399261"/>
                    <a:pt x="7199630" y="14399261"/>
                  </a:cubicBezTo>
                  <a:lnTo>
                    <a:pt x="14399261" y="14399261"/>
                  </a:lnTo>
                  <a:lnTo>
                    <a:pt x="14399261" y="7199630"/>
                  </a:lnTo>
                  <a:cubicBezTo>
                    <a:pt x="14400530" y="3223260"/>
                    <a:pt x="11176000" y="0"/>
                    <a:pt x="7199630" y="0"/>
                  </a:cubicBezTo>
                  <a:close/>
                </a:path>
              </a:pathLst>
            </a:custGeom>
            <a:solidFill>
              <a:srgbClr val="EE60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4" name="Google Shape;264;p18"/>
          <p:cNvSpPr txBox="1"/>
          <p:nvPr/>
        </p:nvSpPr>
        <p:spPr>
          <a:xfrm>
            <a:off x="10054970" y="1109034"/>
            <a:ext cx="4584124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="0" i="0" u="none" strike="noStrike" cap="none" dirty="0" err="1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Volgende</a:t>
            </a:r>
            <a:r>
              <a:rPr lang="en-US" sz="3500" b="0" i="0" u="none" strike="noStrike" cap="none" dirty="0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 </a:t>
            </a:r>
            <a:r>
              <a:rPr lang="en-US" sz="3500" b="0" i="0" u="none" strike="noStrike" cap="none" dirty="0" err="1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blok</a:t>
            </a:r>
            <a:endParaRPr dirty="0"/>
          </a:p>
        </p:txBody>
      </p:sp>
      <p:sp>
        <p:nvSpPr>
          <p:cNvPr id="265" name="Google Shape;265;p18"/>
          <p:cNvSpPr txBox="1"/>
          <p:nvPr/>
        </p:nvSpPr>
        <p:spPr>
          <a:xfrm>
            <a:off x="10054970" y="1702301"/>
            <a:ext cx="4584000" cy="769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BE" sz="2499" b="0" i="0" u="none" strike="noStrike" cap="none" dirty="0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Extra moeilijkheid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BE" sz="2499" dirty="0">
                <a:solidFill>
                  <a:srgbClr val="FFFFFF"/>
                </a:solidFill>
                <a:latin typeface="Assistant"/>
                <a:cs typeface="Assistant"/>
                <a:sym typeface="Assistant"/>
              </a:rPr>
              <a:t>Hogere score</a:t>
            </a:r>
            <a:endParaRPr dirty="0"/>
          </a:p>
        </p:txBody>
      </p:sp>
      <p:sp>
        <p:nvSpPr>
          <p:cNvPr id="266" name="Google Shape;266;p18"/>
          <p:cNvSpPr txBox="1"/>
          <p:nvPr/>
        </p:nvSpPr>
        <p:spPr>
          <a:xfrm>
            <a:off x="10054970" y="3350077"/>
            <a:ext cx="4584124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="0" i="0" u="none" strike="noStrike" cap="none" dirty="0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Bumpiness</a:t>
            </a:r>
            <a:endParaRPr dirty="0"/>
          </a:p>
        </p:txBody>
      </p:sp>
      <p:sp>
        <p:nvSpPr>
          <p:cNvPr id="267" name="Google Shape;267;p18"/>
          <p:cNvSpPr txBox="1"/>
          <p:nvPr/>
        </p:nvSpPr>
        <p:spPr>
          <a:xfrm>
            <a:off x="10054970" y="3943344"/>
            <a:ext cx="4584000" cy="38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BE" sz="2499" b="0" i="0" u="none" strike="noStrike" cap="none" dirty="0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Verbeteren van huidige methode</a:t>
            </a:r>
            <a:endParaRPr dirty="0"/>
          </a:p>
        </p:txBody>
      </p:sp>
      <p:sp>
        <p:nvSpPr>
          <p:cNvPr id="268" name="Google Shape;268;p18"/>
          <p:cNvSpPr txBox="1"/>
          <p:nvPr/>
        </p:nvSpPr>
        <p:spPr>
          <a:xfrm>
            <a:off x="10054970" y="5591119"/>
            <a:ext cx="4584124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="0" i="0" u="none" strike="noStrike" cap="none" dirty="0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1 vs. 1 mode</a:t>
            </a:r>
            <a:endParaRPr dirty="0"/>
          </a:p>
        </p:txBody>
      </p:sp>
      <p:sp>
        <p:nvSpPr>
          <p:cNvPr id="269" name="Google Shape;269;p18"/>
          <p:cNvSpPr txBox="1"/>
          <p:nvPr/>
        </p:nvSpPr>
        <p:spPr>
          <a:xfrm>
            <a:off x="10054970" y="6184386"/>
            <a:ext cx="4584000" cy="38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BE" sz="2499" dirty="0">
                <a:solidFill>
                  <a:srgbClr val="FFFFFF"/>
                </a:solidFill>
                <a:latin typeface="Assistant"/>
                <a:cs typeface="Assistant"/>
                <a:sym typeface="Assistant"/>
              </a:rPr>
              <a:t>Implementeren van grijze lijnen</a:t>
            </a:r>
            <a:endParaRPr dirty="0"/>
          </a:p>
        </p:txBody>
      </p:sp>
      <p:sp>
        <p:nvSpPr>
          <p:cNvPr id="270" name="Google Shape;270;p18"/>
          <p:cNvSpPr txBox="1"/>
          <p:nvPr/>
        </p:nvSpPr>
        <p:spPr>
          <a:xfrm>
            <a:off x="10054970" y="7832162"/>
            <a:ext cx="4584124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="0" i="0" u="none" strike="noStrike" cap="none" dirty="0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Hold </a:t>
            </a:r>
            <a:r>
              <a:rPr lang="en-US" sz="3500" b="0" i="0" u="none" strike="noStrike" cap="none" dirty="0" err="1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functie</a:t>
            </a:r>
            <a:endParaRPr lang="en-US" dirty="0"/>
          </a:p>
        </p:txBody>
      </p:sp>
      <p:sp>
        <p:nvSpPr>
          <p:cNvPr id="271" name="Google Shape;271;p18"/>
          <p:cNvSpPr txBox="1"/>
          <p:nvPr/>
        </p:nvSpPr>
        <p:spPr>
          <a:xfrm>
            <a:off x="10054970" y="8425429"/>
            <a:ext cx="4584000" cy="38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99" b="0" i="0" u="none" strike="noStrike" cap="none" dirty="0" err="1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Huidige</a:t>
            </a:r>
            <a:r>
              <a:rPr lang="en-US" sz="2499" b="0" i="0" u="none" strike="noStrike" cap="none" dirty="0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 </a:t>
            </a:r>
            <a:r>
              <a:rPr lang="en-US" sz="2499" b="0" i="0" u="none" strike="noStrike" cap="none" dirty="0" err="1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blok</a:t>
            </a:r>
            <a:r>
              <a:rPr lang="en-US" sz="2499" b="0" i="0" u="none" strike="noStrike" cap="none" dirty="0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 </a:t>
            </a:r>
            <a:r>
              <a:rPr lang="en-US" sz="2499" b="0" i="0" u="none" strike="noStrike" cap="none" dirty="0" err="1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vasthouden</a:t>
            </a:r>
            <a:endParaRPr lang="en-US" dirty="0"/>
          </a:p>
        </p:txBody>
      </p:sp>
      <p:sp>
        <p:nvSpPr>
          <p:cNvPr id="272" name="Google Shape;272;p18"/>
          <p:cNvSpPr/>
          <p:nvPr/>
        </p:nvSpPr>
        <p:spPr>
          <a:xfrm>
            <a:off x="9223965" y="1118982"/>
            <a:ext cx="528228" cy="530596"/>
          </a:xfrm>
          <a:custGeom>
            <a:avLst/>
            <a:gdLst/>
            <a:ahLst/>
            <a:cxnLst/>
            <a:rect l="l" t="t" r="r" b="b"/>
            <a:pathLst>
              <a:path w="809173" h="812800" extrusionOk="0">
                <a:moveTo>
                  <a:pt x="404587" y="0"/>
                </a:moveTo>
                <a:cubicBezTo>
                  <a:pt x="628326" y="1001"/>
                  <a:pt x="809174" y="182659"/>
                  <a:pt x="809174" y="406400"/>
                </a:cubicBezTo>
                <a:cubicBezTo>
                  <a:pt x="809174" y="630141"/>
                  <a:pt x="628326" y="811799"/>
                  <a:pt x="404587" y="812800"/>
                </a:cubicBezTo>
                <a:cubicBezTo>
                  <a:pt x="180848" y="811799"/>
                  <a:pt x="0" y="630141"/>
                  <a:pt x="0" y="406400"/>
                </a:cubicBezTo>
                <a:cubicBezTo>
                  <a:pt x="0" y="182659"/>
                  <a:pt x="180848" y="1001"/>
                  <a:pt x="404587" y="0"/>
                </a:cubicBezTo>
                <a:close/>
              </a:path>
            </a:pathLst>
          </a:custGeom>
          <a:solidFill>
            <a:srgbClr val="A16AE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8"/>
          <p:cNvSpPr/>
          <p:nvPr/>
        </p:nvSpPr>
        <p:spPr>
          <a:xfrm>
            <a:off x="9243297" y="3360025"/>
            <a:ext cx="528228" cy="530596"/>
          </a:xfrm>
          <a:custGeom>
            <a:avLst/>
            <a:gdLst/>
            <a:ahLst/>
            <a:cxnLst/>
            <a:rect l="l" t="t" r="r" b="b"/>
            <a:pathLst>
              <a:path w="809173" h="812800" extrusionOk="0">
                <a:moveTo>
                  <a:pt x="404587" y="0"/>
                </a:moveTo>
                <a:cubicBezTo>
                  <a:pt x="628326" y="1001"/>
                  <a:pt x="809174" y="182659"/>
                  <a:pt x="809174" y="406400"/>
                </a:cubicBezTo>
                <a:cubicBezTo>
                  <a:pt x="809174" y="630141"/>
                  <a:pt x="628326" y="811799"/>
                  <a:pt x="404587" y="812800"/>
                </a:cubicBezTo>
                <a:cubicBezTo>
                  <a:pt x="180848" y="811799"/>
                  <a:pt x="0" y="630141"/>
                  <a:pt x="0" y="406400"/>
                </a:cubicBezTo>
                <a:cubicBezTo>
                  <a:pt x="0" y="182659"/>
                  <a:pt x="180848" y="1001"/>
                  <a:pt x="404587" y="0"/>
                </a:cubicBezTo>
                <a:close/>
              </a:path>
            </a:pathLst>
          </a:custGeom>
          <a:solidFill>
            <a:srgbClr val="F5C5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8"/>
          <p:cNvSpPr/>
          <p:nvPr/>
        </p:nvSpPr>
        <p:spPr>
          <a:xfrm>
            <a:off x="9243297" y="5596093"/>
            <a:ext cx="528228" cy="530596"/>
          </a:xfrm>
          <a:custGeom>
            <a:avLst/>
            <a:gdLst/>
            <a:ahLst/>
            <a:cxnLst/>
            <a:rect l="l" t="t" r="r" b="b"/>
            <a:pathLst>
              <a:path w="809173" h="812800" extrusionOk="0">
                <a:moveTo>
                  <a:pt x="404587" y="0"/>
                </a:moveTo>
                <a:cubicBezTo>
                  <a:pt x="628326" y="1001"/>
                  <a:pt x="809174" y="182659"/>
                  <a:pt x="809174" y="406400"/>
                </a:cubicBezTo>
                <a:cubicBezTo>
                  <a:pt x="809174" y="630141"/>
                  <a:pt x="628326" y="811799"/>
                  <a:pt x="404587" y="812800"/>
                </a:cubicBezTo>
                <a:cubicBezTo>
                  <a:pt x="180848" y="811799"/>
                  <a:pt x="0" y="630141"/>
                  <a:pt x="0" y="406400"/>
                </a:cubicBezTo>
                <a:cubicBezTo>
                  <a:pt x="0" y="182659"/>
                  <a:pt x="180848" y="1001"/>
                  <a:pt x="404587" y="0"/>
                </a:cubicBezTo>
                <a:close/>
              </a:path>
            </a:pathLst>
          </a:custGeom>
          <a:solidFill>
            <a:srgbClr val="EF5F4A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8"/>
          <p:cNvSpPr/>
          <p:nvPr/>
        </p:nvSpPr>
        <p:spPr>
          <a:xfrm>
            <a:off x="9223965" y="7832161"/>
            <a:ext cx="528228" cy="530596"/>
          </a:xfrm>
          <a:custGeom>
            <a:avLst/>
            <a:gdLst/>
            <a:ahLst/>
            <a:cxnLst/>
            <a:rect l="l" t="t" r="r" b="b"/>
            <a:pathLst>
              <a:path w="809173" h="812800" extrusionOk="0">
                <a:moveTo>
                  <a:pt x="404587" y="0"/>
                </a:moveTo>
                <a:cubicBezTo>
                  <a:pt x="628326" y="1001"/>
                  <a:pt x="809174" y="182659"/>
                  <a:pt x="809174" y="406400"/>
                </a:cubicBezTo>
                <a:cubicBezTo>
                  <a:pt x="809174" y="630141"/>
                  <a:pt x="628326" y="811799"/>
                  <a:pt x="404587" y="812800"/>
                </a:cubicBezTo>
                <a:cubicBezTo>
                  <a:pt x="180848" y="811799"/>
                  <a:pt x="0" y="630141"/>
                  <a:pt x="0" y="406400"/>
                </a:cubicBezTo>
                <a:cubicBezTo>
                  <a:pt x="0" y="182659"/>
                  <a:pt x="180848" y="1001"/>
                  <a:pt x="404587" y="0"/>
                </a:cubicBezTo>
                <a:close/>
              </a:path>
            </a:pathLst>
          </a:custGeom>
          <a:solidFill>
            <a:srgbClr val="A16AE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CCC485-CB8F-B760-823C-8615AD3252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5380" y="2276729"/>
            <a:ext cx="4602709" cy="582073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Rechthoek 1">
            <a:extLst>
              <a:ext uri="{FF2B5EF4-FFF2-40B4-BE49-F238E27FC236}">
                <a16:creationId xmlns:a16="http://schemas.microsoft.com/office/drawing/2014/main" id="{9A0BA00C-2E39-80CD-E646-5F4FCFA68F2E}"/>
              </a:ext>
            </a:extLst>
          </p:cNvPr>
          <p:cNvSpPr/>
          <p:nvPr/>
        </p:nvSpPr>
        <p:spPr>
          <a:xfrm>
            <a:off x="17565191" y="9627980"/>
            <a:ext cx="441147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nl-NL" sz="1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5"/>
          <p:cNvSpPr txBox="1"/>
          <p:nvPr/>
        </p:nvSpPr>
        <p:spPr>
          <a:xfrm>
            <a:off x="0" y="-253157"/>
            <a:ext cx="3086100" cy="33392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25"/>
          <p:cNvSpPr txBox="1"/>
          <p:nvPr/>
        </p:nvSpPr>
        <p:spPr>
          <a:xfrm>
            <a:off x="1028700" y="1019175"/>
            <a:ext cx="8901455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dirty="0" err="1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Conclusie</a:t>
            </a:r>
            <a:endParaRPr dirty="0"/>
          </a:p>
        </p:txBody>
      </p:sp>
      <p:sp>
        <p:nvSpPr>
          <p:cNvPr id="473" name="Google Shape;473;p25"/>
          <p:cNvSpPr/>
          <p:nvPr/>
        </p:nvSpPr>
        <p:spPr>
          <a:xfrm>
            <a:off x="0" y="3791016"/>
            <a:ext cx="18288001" cy="6495984"/>
          </a:xfrm>
          <a:custGeom>
            <a:avLst/>
            <a:gdLst/>
            <a:ahLst/>
            <a:cxnLst/>
            <a:rect l="l" t="t" r="r" b="b"/>
            <a:pathLst>
              <a:path w="1280043" h="454677" extrusionOk="0">
                <a:moveTo>
                  <a:pt x="0" y="0"/>
                </a:moveTo>
                <a:lnTo>
                  <a:pt x="1280043" y="0"/>
                </a:lnTo>
                <a:lnTo>
                  <a:pt x="1280043" y="454677"/>
                </a:lnTo>
                <a:lnTo>
                  <a:pt x="0" y="454677"/>
                </a:lnTo>
                <a:close/>
              </a:path>
            </a:pathLst>
          </a:custGeom>
          <a:solidFill>
            <a:srgbClr val="A16AE8"/>
          </a:solidFill>
          <a:ln>
            <a:noFill/>
          </a:ln>
        </p:spPr>
        <p:txBody>
          <a:bodyPr/>
          <a:lstStyle/>
          <a:p>
            <a:endParaRPr lang="LID4096"/>
          </a:p>
        </p:txBody>
      </p:sp>
      <p:sp>
        <p:nvSpPr>
          <p:cNvPr id="474" name="Google Shape;474;p25"/>
          <p:cNvSpPr txBox="1"/>
          <p:nvPr/>
        </p:nvSpPr>
        <p:spPr>
          <a:xfrm>
            <a:off x="0" y="2838428"/>
            <a:ext cx="11612491" cy="12565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75" name="Google Shape;475;p25"/>
          <p:cNvCxnSpPr/>
          <p:nvPr/>
        </p:nvCxnSpPr>
        <p:spPr>
          <a:xfrm rot="10800000" flipH="1">
            <a:off x="0" y="3739258"/>
            <a:ext cx="18288000" cy="32642"/>
          </a:xfrm>
          <a:prstGeom prst="straightConnector1">
            <a:avLst/>
          </a:prstGeom>
          <a:noFill/>
          <a:ln w="133350" cap="flat" cmpd="sng">
            <a:solidFill>
              <a:srgbClr val="4BB8BE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476" name="Google Shape;476;p25"/>
          <p:cNvGrpSpPr/>
          <p:nvPr/>
        </p:nvGrpSpPr>
        <p:grpSpPr>
          <a:xfrm>
            <a:off x="1475844" y="5466447"/>
            <a:ext cx="2794725" cy="2009106"/>
            <a:chOff x="0" y="-28575"/>
            <a:chExt cx="3726300" cy="2678808"/>
          </a:xfrm>
        </p:grpSpPr>
        <p:sp>
          <p:nvSpPr>
            <p:cNvPr id="477" name="Google Shape;477;p25"/>
            <p:cNvSpPr txBox="1"/>
            <p:nvPr/>
          </p:nvSpPr>
          <p:spPr>
            <a:xfrm>
              <a:off x="0" y="-28575"/>
              <a:ext cx="3726300" cy="1436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nl-BE" sz="3500" b="1" u="none" dirty="0">
                  <a:solidFill>
                    <a:srgbClr val="FFFFFF"/>
                  </a:solidFill>
                  <a:latin typeface="Assistant"/>
                  <a:ea typeface="Assistant"/>
                  <a:cs typeface="Assistant"/>
                  <a:sym typeface="Assistant"/>
                </a:rPr>
                <a:t>Opbouwen algoritme</a:t>
              </a:r>
              <a:endParaRPr dirty="0"/>
            </a:p>
          </p:txBody>
        </p:sp>
        <p:sp>
          <p:nvSpPr>
            <p:cNvPr id="478" name="Google Shape;478;p25"/>
            <p:cNvSpPr txBox="1"/>
            <p:nvPr/>
          </p:nvSpPr>
          <p:spPr>
            <a:xfrm>
              <a:off x="0" y="1624653"/>
              <a:ext cx="3726300" cy="10255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nl-BE" sz="2499" u="none" dirty="0">
                  <a:solidFill>
                    <a:srgbClr val="FFFFFF"/>
                  </a:solidFill>
                  <a:latin typeface="Assistant"/>
                  <a:ea typeface="Assistant"/>
                  <a:cs typeface="Assistant"/>
                  <a:sym typeface="Assistant"/>
                </a:rPr>
                <a:t>Implementatie algoritmen</a:t>
              </a:r>
              <a:endParaRPr dirty="0"/>
            </a:p>
          </p:txBody>
        </p:sp>
      </p:grpSp>
      <p:grpSp>
        <p:nvGrpSpPr>
          <p:cNvPr id="479" name="Google Shape;479;p25"/>
          <p:cNvGrpSpPr/>
          <p:nvPr/>
        </p:nvGrpSpPr>
        <p:grpSpPr>
          <a:xfrm>
            <a:off x="13977615" y="2911826"/>
            <a:ext cx="1437444" cy="1769162"/>
            <a:chOff x="0" y="0"/>
            <a:chExt cx="660400" cy="812800"/>
          </a:xfrm>
        </p:grpSpPr>
        <p:sp>
          <p:nvSpPr>
            <p:cNvPr id="480" name="Google Shape;480;p25"/>
            <p:cNvSpPr/>
            <p:nvPr/>
          </p:nvSpPr>
          <p:spPr>
            <a:xfrm>
              <a:off x="0" y="0"/>
              <a:ext cx="660400" cy="812800"/>
            </a:xfrm>
            <a:custGeom>
              <a:avLst/>
              <a:gdLst/>
              <a:ahLst/>
              <a:cxnLst/>
              <a:rect l="l" t="t" r="r" b="b"/>
              <a:pathLst>
                <a:path w="660400" h="812800" extrusionOk="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28502"/>
                  </a:cubicBezTo>
                  <a:lnTo>
                    <a:pt x="660400" y="812800"/>
                  </a:lnTo>
                  <a:lnTo>
                    <a:pt x="0" y="812800"/>
                  </a:lnTo>
                  <a:lnTo>
                    <a:pt x="0" y="328861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F4C5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25"/>
            <p:cNvSpPr txBox="1"/>
            <p:nvPr/>
          </p:nvSpPr>
          <p:spPr>
            <a:xfrm>
              <a:off x="0" y="60325"/>
              <a:ext cx="660400" cy="7524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7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82" name="Google Shape;482;p25"/>
          <p:cNvGrpSpPr/>
          <p:nvPr/>
        </p:nvGrpSpPr>
        <p:grpSpPr>
          <a:xfrm>
            <a:off x="5610397" y="2879715"/>
            <a:ext cx="1593396" cy="1902460"/>
            <a:chOff x="0" y="-66675"/>
            <a:chExt cx="736600" cy="879475"/>
          </a:xfrm>
        </p:grpSpPr>
        <p:sp>
          <p:nvSpPr>
            <p:cNvPr id="483" name="Google Shape;483;p25"/>
            <p:cNvSpPr/>
            <p:nvPr/>
          </p:nvSpPr>
          <p:spPr>
            <a:xfrm>
              <a:off x="0" y="0"/>
              <a:ext cx="736600" cy="812800"/>
            </a:xfrm>
            <a:custGeom>
              <a:avLst/>
              <a:gdLst/>
              <a:ahLst/>
              <a:cxnLst/>
              <a:rect l="l" t="t" r="r" b="b"/>
              <a:pathLst>
                <a:path w="736600" h="812800" extrusionOk="0">
                  <a:moveTo>
                    <a:pt x="736600" y="0"/>
                  </a:moveTo>
                  <a:lnTo>
                    <a:pt x="736600" y="812800"/>
                  </a:lnTo>
                  <a:lnTo>
                    <a:pt x="368300" y="685800"/>
                  </a:lnTo>
                  <a:lnTo>
                    <a:pt x="0" y="812800"/>
                  </a:lnTo>
                  <a:lnTo>
                    <a:pt x="0" y="0"/>
                  </a:lnTo>
                  <a:lnTo>
                    <a:pt x="736600" y="0"/>
                  </a:lnTo>
                  <a:close/>
                </a:path>
              </a:pathLst>
            </a:custGeom>
            <a:solidFill>
              <a:srgbClr val="EE604A"/>
            </a:solidFill>
            <a:ln>
              <a:noFill/>
            </a:ln>
          </p:spPr>
          <p:txBody>
            <a:bodyPr/>
            <a:lstStyle/>
            <a:p>
              <a:endParaRPr lang="LID4096"/>
            </a:p>
          </p:txBody>
        </p:sp>
        <p:sp>
          <p:nvSpPr>
            <p:cNvPr id="484" name="Google Shape;484;p25"/>
            <p:cNvSpPr txBox="1"/>
            <p:nvPr/>
          </p:nvSpPr>
          <p:spPr>
            <a:xfrm>
              <a:off x="0" y="-66675"/>
              <a:ext cx="736600" cy="7524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7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85" name="Google Shape;485;p25"/>
          <p:cNvGrpSpPr/>
          <p:nvPr/>
        </p:nvGrpSpPr>
        <p:grpSpPr>
          <a:xfrm>
            <a:off x="1365466" y="3023945"/>
            <a:ext cx="1750384" cy="1758230"/>
            <a:chOff x="1813" y="0"/>
            <a:chExt cx="809173" cy="812800"/>
          </a:xfrm>
        </p:grpSpPr>
        <p:sp>
          <p:nvSpPr>
            <p:cNvPr id="486" name="Google Shape;486;p25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F4C5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25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7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88" name="Google Shape;488;p25"/>
          <p:cNvSpPr/>
          <p:nvPr/>
        </p:nvSpPr>
        <p:spPr>
          <a:xfrm rot="10779982">
            <a:off x="9699589" y="3005306"/>
            <a:ext cx="1782230" cy="1782073"/>
          </a:xfrm>
          <a:custGeom>
            <a:avLst/>
            <a:gdLst/>
            <a:ahLst/>
            <a:cxnLst/>
            <a:rect l="l" t="t" r="r" b="b"/>
            <a:pathLst>
              <a:path w="14400530" h="14399261" extrusionOk="0">
                <a:moveTo>
                  <a:pt x="7199630" y="0"/>
                </a:moveTo>
                <a:cubicBezTo>
                  <a:pt x="3223260" y="0"/>
                  <a:pt x="0" y="3223260"/>
                  <a:pt x="0" y="7199630"/>
                </a:cubicBezTo>
                <a:cubicBezTo>
                  <a:pt x="0" y="11176001"/>
                  <a:pt x="3223260" y="14399261"/>
                  <a:pt x="7199630" y="14399261"/>
                </a:cubicBezTo>
                <a:lnTo>
                  <a:pt x="14399261" y="14399261"/>
                </a:lnTo>
                <a:lnTo>
                  <a:pt x="14399261" y="7199630"/>
                </a:lnTo>
                <a:cubicBezTo>
                  <a:pt x="14400530" y="3223260"/>
                  <a:pt x="11176000" y="0"/>
                  <a:pt x="7199630" y="0"/>
                </a:cubicBezTo>
                <a:close/>
              </a:path>
            </a:pathLst>
          </a:custGeom>
          <a:solidFill>
            <a:srgbClr val="4BB8B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9" name="Google Shape;489;p25"/>
          <p:cNvSpPr txBox="1"/>
          <p:nvPr/>
        </p:nvSpPr>
        <p:spPr>
          <a:xfrm>
            <a:off x="2028237" y="3442614"/>
            <a:ext cx="598892" cy="819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99" b="1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1</a:t>
            </a:r>
            <a:endParaRPr/>
          </a:p>
        </p:txBody>
      </p:sp>
      <p:sp>
        <p:nvSpPr>
          <p:cNvPr id="490" name="Google Shape;490;p25"/>
          <p:cNvSpPr txBox="1"/>
          <p:nvPr/>
        </p:nvSpPr>
        <p:spPr>
          <a:xfrm>
            <a:off x="6232621" y="3442614"/>
            <a:ext cx="598892" cy="819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99" b="1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2</a:t>
            </a:r>
            <a:endParaRPr/>
          </a:p>
        </p:txBody>
      </p:sp>
      <p:sp>
        <p:nvSpPr>
          <p:cNvPr id="491" name="Google Shape;491;p25"/>
          <p:cNvSpPr txBox="1"/>
          <p:nvPr/>
        </p:nvSpPr>
        <p:spPr>
          <a:xfrm>
            <a:off x="10331546" y="3442614"/>
            <a:ext cx="598892" cy="819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99" b="1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3</a:t>
            </a:r>
            <a:endParaRPr/>
          </a:p>
        </p:txBody>
      </p:sp>
      <p:sp>
        <p:nvSpPr>
          <p:cNvPr id="492" name="Google Shape;492;p25"/>
          <p:cNvSpPr txBox="1"/>
          <p:nvPr/>
        </p:nvSpPr>
        <p:spPr>
          <a:xfrm>
            <a:off x="14468317" y="3442614"/>
            <a:ext cx="700492" cy="819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99" b="1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4</a:t>
            </a:r>
            <a:endParaRPr/>
          </a:p>
        </p:txBody>
      </p:sp>
      <p:grpSp>
        <p:nvGrpSpPr>
          <p:cNvPr id="493" name="Google Shape;493;p25"/>
          <p:cNvGrpSpPr/>
          <p:nvPr/>
        </p:nvGrpSpPr>
        <p:grpSpPr>
          <a:xfrm>
            <a:off x="13421229" y="5519995"/>
            <a:ext cx="2794725" cy="2009104"/>
            <a:chOff x="0" y="-28575"/>
            <a:chExt cx="3726300" cy="2678807"/>
          </a:xfrm>
        </p:grpSpPr>
        <p:sp>
          <p:nvSpPr>
            <p:cNvPr id="494" name="Google Shape;494;p25"/>
            <p:cNvSpPr txBox="1"/>
            <p:nvPr/>
          </p:nvSpPr>
          <p:spPr>
            <a:xfrm>
              <a:off x="0" y="-28575"/>
              <a:ext cx="3726300" cy="1436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nl-BE" sz="3500" b="1" u="none" dirty="0">
                  <a:solidFill>
                    <a:srgbClr val="FFFFFF"/>
                  </a:solidFill>
                  <a:latin typeface="Assistant"/>
                  <a:ea typeface="Assistant"/>
                  <a:cs typeface="Assistant"/>
                  <a:sym typeface="Assistant"/>
                </a:rPr>
                <a:t>Succesvolle doelstelling</a:t>
              </a:r>
              <a:endParaRPr dirty="0"/>
            </a:p>
          </p:txBody>
        </p:sp>
        <p:sp>
          <p:nvSpPr>
            <p:cNvPr id="495" name="Google Shape;495;p25"/>
            <p:cNvSpPr txBox="1"/>
            <p:nvPr/>
          </p:nvSpPr>
          <p:spPr>
            <a:xfrm>
              <a:off x="0" y="1624652"/>
              <a:ext cx="3726300" cy="10255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nl-BE" sz="2499" dirty="0">
                  <a:solidFill>
                    <a:srgbClr val="FFFFFF"/>
                  </a:solidFill>
                  <a:latin typeface="Assistant"/>
                  <a:cs typeface="Assistant"/>
                  <a:sym typeface="Assistant"/>
                </a:rPr>
                <a:t>Vanuit een ander perspectief bekijken</a:t>
              </a:r>
              <a:endParaRPr dirty="0"/>
            </a:p>
          </p:txBody>
        </p:sp>
      </p:grpSp>
      <p:grpSp>
        <p:nvGrpSpPr>
          <p:cNvPr id="496" name="Google Shape;496;p25"/>
          <p:cNvGrpSpPr/>
          <p:nvPr/>
        </p:nvGrpSpPr>
        <p:grpSpPr>
          <a:xfrm>
            <a:off x="5134732" y="5466447"/>
            <a:ext cx="2914564" cy="2009106"/>
            <a:chOff x="0" y="-28575"/>
            <a:chExt cx="3886085" cy="2678808"/>
          </a:xfrm>
        </p:grpSpPr>
        <p:sp>
          <p:nvSpPr>
            <p:cNvPr id="497" name="Google Shape;497;p25"/>
            <p:cNvSpPr txBox="1"/>
            <p:nvPr/>
          </p:nvSpPr>
          <p:spPr>
            <a:xfrm>
              <a:off x="0" y="-28575"/>
              <a:ext cx="3886085" cy="1436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nl-BE" sz="3500" b="1" u="none" dirty="0">
                  <a:solidFill>
                    <a:srgbClr val="FFFFFF"/>
                  </a:solidFill>
                  <a:latin typeface="Assistant"/>
                  <a:ea typeface="Assistant"/>
                  <a:cs typeface="Assistant"/>
                  <a:sym typeface="Assistant"/>
                </a:rPr>
                <a:t>Duel functionaliteit</a:t>
              </a:r>
              <a:endParaRPr dirty="0"/>
            </a:p>
          </p:txBody>
        </p:sp>
        <p:sp>
          <p:nvSpPr>
            <p:cNvPr id="498" name="Google Shape;498;p25"/>
            <p:cNvSpPr txBox="1"/>
            <p:nvPr/>
          </p:nvSpPr>
          <p:spPr>
            <a:xfrm>
              <a:off x="0" y="1624653"/>
              <a:ext cx="3726300" cy="10255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nl-BE" sz="2499" u="none" dirty="0">
                  <a:solidFill>
                    <a:srgbClr val="FFFFFF"/>
                  </a:solidFill>
                  <a:latin typeface="Assistant"/>
                  <a:ea typeface="Assistant"/>
                  <a:cs typeface="Assistant"/>
                  <a:sym typeface="Assistant"/>
                </a:rPr>
                <a:t>Onverslaanbaar met goede parameters</a:t>
              </a:r>
            </a:p>
          </p:txBody>
        </p:sp>
      </p:grpSp>
      <p:grpSp>
        <p:nvGrpSpPr>
          <p:cNvPr id="499" name="Google Shape;499;p25"/>
          <p:cNvGrpSpPr/>
          <p:nvPr/>
        </p:nvGrpSpPr>
        <p:grpSpPr>
          <a:xfrm>
            <a:off x="9533075" y="5519995"/>
            <a:ext cx="2841769" cy="1023670"/>
            <a:chOff x="-62725" y="-28575"/>
            <a:chExt cx="3789025" cy="1364893"/>
          </a:xfrm>
        </p:grpSpPr>
        <p:sp>
          <p:nvSpPr>
            <p:cNvPr id="500" name="Google Shape;500;p25"/>
            <p:cNvSpPr txBox="1"/>
            <p:nvPr/>
          </p:nvSpPr>
          <p:spPr>
            <a:xfrm>
              <a:off x="0" y="-28575"/>
              <a:ext cx="3726300" cy="7181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nl-BE" sz="3500" b="1" dirty="0">
                  <a:solidFill>
                    <a:srgbClr val="FFFFFF"/>
                  </a:solidFill>
                  <a:latin typeface="Assistant"/>
                  <a:cs typeface="Assistant"/>
                  <a:sym typeface="Assistant"/>
                </a:rPr>
                <a:t>Score</a:t>
              </a:r>
              <a:endParaRPr dirty="0"/>
            </a:p>
          </p:txBody>
        </p:sp>
        <p:sp>
          <p:nvSpPr>
            <p:cNvPr id="501" name="Google Shape;501;p25"/>
            <p:cNvSpPr txBox="1"/>
            <p:nvPr/>
          </p:nvSpPr>
          <p:spPr>
            <a:xfrm>
              <a:off x="-62725" y="823529"/>
              <a:ext cx="3726300" cy="5127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nl-BE" sz="2499" u="none" dirty="0">
                  <a:solidFill>
                    <a:srgbClr val="FFFFFF"/>
                  </a:solidFill>
                  <a:latin typeface="Assistant"/>
                  <a:ea typeface="Assistant"/>
                  <a:cs typeface="Assistant"/>
                  <a:sym typeface="Assistant"/>
                </a:rPr>
                <a:t>Hoog in korte tijd</a:t>
              </a:r>
              <a:endParaRPr dirty="0"/>
            </a:p>
          </p:txBody>
        </p:sp>
      </p:grpSp>
      <p:sp>
        <p:nvSpPr>
          <p:cNvPr id="2" name="Rechthoek 1">
            <a:extLst>
              <a:ext uri="{FF2B5EF4-FFF2-40B4-BE49-F238E27FC236}">
                <a16:creationId xmlns:a16="http://schemas.microsoft.com/office/drawing/2014/main" id="{799212FA-31BE-B7D6-6601-0B3D0F0E8385}"/>
              </a:ext>
            </a:extLst>
          </p:cNvPr>
          <p:cNvSpPr/>
          <p:nvPr/>
        </p:nvSpPr>
        <p:spPr>
          <a:xfrm>
            <a:off x="17565191" y="9627980"/>
            <a:ext cx="441147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nl-NL" sz="1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8"/>
          <p:cNvSpPr/>
          <p:nvPr/>
        </p:nvSpPr>
        <p:spPr>
          <a:xfrm>
            <a:off x="9488079" y="0"/>
            <a:ext cx="8799921" cy="10287000"/>
          </a:xfrm>
          <a:custGeom>
            <a:avLst/>
            <a:gdLst/>
            <a:ahLst/>
            <a:cxnLst/>
            <a:rect l="l" t="t" r="r" b="b"/>
            <a:pathLst>
              <a:path w="611196" h="714481" extrusionOk="0">
                <a:moveTo>
                  <a:pt x="0" y="0"/>
                </a:moveTo>
                <a:lnTo>
                  <a:pt x="611196" y="0"/>
                </a:lnTo>
                <a:lnTo>
                  <a:pt x="611196" y="714481"/>
                </a:lnTo>
                <a:lnTo>
                  <a:pt x="0" y="714481"/>
                </a:lnTo>
                <a:close/>
              </a:path>
            </a:pathLst>
          </a:custGeom>
          <a:solidFill>
            <a:srgbClr val="4BB8BE"/>
          </a:solidFill>
          <a:ln>
            <a:noFill/>
          </a:ln>
        </p:spPr>
        <p:txBody>
          <a:bodyPr/>
          <a:lstStyle/>
          <a:p>
            <a:endParaRPr lang="LID4096"/>
          </a:p>
        </p:txBody>
      </p:sp>
      <p:sp>
        <p:nvSpPr>
          <p:cNvPr id="251" name="Google Shape;251;p18"/>
          <p:cNvSpPr txBox="1"/>
          <p:nvPr/>
        </p:nvSpPr>
        <p:spPr>
          <a:xfrm>
            <a:off x="1102296" y="828675"/>
            <a:ext cx="7127100" cy="1154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BE" sz="7500" b="1" i="0" u="none" strike="noStrike" cap="none" dirty="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Bibliografie</a:t>
            </a:r>
            <a:endParaRPr dirty="0"/>
          </a:p>
        </p:txBody>
      </p:sp>
      <p:grpSp>
        <p:nvGrpSpPr>
          <p:cNvPr id="253" name="Google Shape;253;p18"/>
          <p:cNvGrpSpPr/>
          <p:nvPr/>
        </p:nvGrpSpPr>
        <p:grpSpPr>
          <a:xfrm>
            <a:off x="1102296" y="8522768"/>
            <a:ext cx="3989062" cy="959486"/>
            <a:chOff x="0" y="-40383"/>
            <a:chExt cx="5318750" cy="1279314"/>
          </a:xfrm>
        </p:grpSpPr>
        <p:grpSp>
          <p:nvGrpSpPr>
            <p:cNvPr id="254" name="Google Shape;254;p18"/>
            <p:cNvGrpSpPr/>
            <p:nvPr/>
          </p:nvGrpSpPr>
          <p:grpSpPr>
            <a:xfrm>
              <a:off x="0" y="16561"/>
              <a:ext cx="993176" cy="1222370"/>
              <a:chOff x="0" y="0"/>
              <a:chExt cx="660400" cy="812800"/>
            </a:xfrm>
          </p:grpSpPr>
          <p:sp>
            <p:nvSpPr>
              <p:cNvPr id="255" name="Google Shape;255;p18"/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4BB8B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56;p18"/>
              <p:cNvSpPr txBox="1"/>
              <p:nvPr/>
            </p:nvSpPr>
            <p:spPr>
              <a:xfrm>
                <a:off x="0" y="88900"/>
                <a:ext cx="660300" cy="72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22055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7" name="Google Shape;257;p18"/>
            <p:cNvGrpSpPr/>
            <p:nvPr/>
          </p:nvGrpSpPr>
          <p:grpSpPr>
            <a:xfrm>
              <a:off x="2722201" y="-40383"/>
              <a:ext cx="1100922" cy="1271755"/>
              <a:chOff x="0" y="-38100"/>
              <a:chExt cx="736600" cy="850900"/>
            </a:xfrm>
          </p:grpSpPr>
          <p:sp>
            <p:nvSpPr>
              <p:cNvPr id="258" name="Google Shape;258;p18"/>
              <p:cNvSpPr/>
              <p:nvPr/>
            </p:nvSpPr>
            <p:spPr>
              <a:xfrm>
                <a:off x="0" y="0"/>
                <a:ext cx="7366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36600" h="812800" extrusionOk="0">
                    <a:moveTo>
                      <a:pt x="736600" y="0"/>
                    </a:moveTo>
                    <a:lnTo>
                      <a:pt x="736600" y="812800"/>
                    </a:lnTo>
                    <a:lnTo>
                      <a:pt x="368300" y="685800"/>
                    </a:lnTo>
                    <a:lnTo>
                      <a:pt x="0" y="812800"/>
                    </a:lnTo>
                    <a:lnTo>
                      <a:pt x="0" y="0"/>
                    </a:lnTo>
                    <a:lnTo>
                      <a:pt x="736600" y="0"/>
                    </a:lnTo>
                    <a:close/>
                  </a:path>
                </a:pathLst>
              </a:custGeom>
              <a:solidFill>
                <a:srgbClr val="F4C500"/>
              </a:solidFill>
              <a:ln>
                <a:noFill/>
              </a:ln>
            </p:spPr>
            <p:txBody>
              <a:bodyPr/>
              <a:lstStyle/>
              <a:p>
                <a:endParaRPr lang="LID4096"/>
              </a:p>
            </p:txBody>
          </p:sp>
          <p:sp>
            <p:nvSpPr>
              <p:cNvPr id="259" name="Google Shape;259;p18"/>
              <p:cNvSpPr txBox="1"/>
              <p:nvPr/>
            </p:nvSpPr>
            <p:spPr>
              <a:xfrm>
                <a:off x="0" y="-38100"/>
                <a:ext cx="736500" cy="72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22055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60" name="Google Shape;260;p18"/>
            <p:cNvGrpSpPr/>
            <p:nvPr/>
          </p:nvGrpSpPr>
          <p:grpSpPr>
            <a:xfrm>
              <a:off x="1252993" y="16561"/>
              <a:ext cx="1209390" cy="1214811"/>
              <a:chOff x="1813" y="0"/>
              <a:chExt cx="809173" cy="812800"/>
            </a:xfrm>
          </p:grpSpPr>
          <p:sp>
            <p:nvSpPr>
              <p:cNvPr id="261" name="Google Shape;261;p18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A16AE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62;p18"/>
              <p:cNvSpPr txBox="1"/>
              <p:nvPr/>
            </p:nvSpPr>
            <p:spPr>
              <a:xfrm>
                <a:off x="76200" y="38100"/>
                <a:ext cx="660300" cy="6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22055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63" name="Google Shape;263;p18"/>
            <p:cNvSpPr/>
            <p:nvPr/>
          </p:nvSpPr>
          <p:spPr>
            <a:xfrm rot="10800000">
              <a:off x="4094705" y="7409"/>
              <a:ext cx="1224045" cy="1223937"/>
            </a:xfrm>
            <a:custGeom>
              <a:avLst/>
              <a:gdLst/>
              <a:ahLst/>
              <a:cxnLst/>
              <a:rect l="l" t="t" r="r" b="b"/>
              <a:pathLst>
                <a:path w="14400530" h="14399261" extrusionOk="0">
                  <a:moveTo>
                    <a:pt x="7199630" y="0"/>
                  </a:moveTo>
                  <a:cubicBezTo>
                    <a:pt x="3223260" y="0"/>
                    <a:pt x="0" y="3223260"/>
                    <a:pt x="0" y="7199630"/>
                  </a:cubicBezTo>
                  <a:cubicBezTo>
                    <a:pt x="0" y="11176001"/>
                    <a:pt x="3223260" y="14399261"/>
                    <a:pt x="7199630" y="14399261"/>
                  </a:cubicBezTo>
                  <a:lnTo>
                    <a:pt x="14399261" y="14399261"/>
                  </a:lnTo>
                  <a:lnTo>
                    <a:pt x="14399261" y="7199630"/>
                  </a:lnTo>
                  <a:cubicBezTo>
                    <a:pt x="14400530" y="3223260"/>
                    <a:pt x="11176000" y="0"/>
                    <a:pt x="7199630" y="0"/>
                  </a:cubicBezTo>
                  <a:close/>
                </a:path>
              </a:pathLst>
            </a:custGeom>
            <a:solidFill>
              <a:srgbClr val="EE60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4" name="Google Shape;264;p18"/>
          <p:cNvSpPr txBox="1"/>
          <p:nvPr/>
        </p:nvSpPr>
        <p:spPr>
          <a:xfrm>
            <a:off x="10054970" y="1109034"/>
            <a:ext cx="4584124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="0" i="0" u="none" strike="noStrike" cap="none" dirty="0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Tetris </a:t>
            </a:r>
            <a:r>
              <a:rPr lang="en-US" sz="3500" b="0" i="0" u="none" strike="noStrike" cap="none" dirty="0" err="1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github</a:t>
            </a:r>
            <a:r>
              <a:rPr lang="en-US" sz="3500" dirty="0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:</a:t>
            </a:r>
            <a:endParaRPr dirty="0"/>
          </a:p>
        </p:txBody>
      </p:sp>
      <p:sp>
        <p:nvSpPr>
          <p:cNvPr id="265" name="Google Shape;265;p18"/>
          <p:cNvSpPr txBox="1"/>
          <p:nvPr/>
        </p:nvSpPr>
        <p:spPr>
          <a:xfrm>
            <a:off x="10054970" y="1702301"/>
            <a:ext cx="4584000" cy="984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l"/>
            <a:r>
              <a:rPr lang="en-GB" sz="2499" dirty="0">
                <a:solidFill>
                  <a:srgbClr val="FFFFFF"/>
                </a:solidFill>
                <a:latin typeface="Assistant"/>
                <a:cs typeface="Assistan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https://github.com/danielchang2002/tetris_ai.git</a:t>
            </a:r>
            <a:endParaRPr lang="en-GB" sz="2499" dirty="0">
              <a:solidFill>
                <a:srgbClr val="FFFFFF"/>
              </a:solidFill>
              <a:latin typeface="Assistant"/>
              <a:cs typeface="Assistan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66" name="Google Shape;266;p18"/>
          <p:cNvSpPr txBox="1"/>
          <p:nvPr/>
        </p:nvSpPr>
        <p:spPr>
          <a:xfrm>
            <a:off x="10054970" y="3350077"/>
            <a:ext cx="4584124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="0" i="0" u="none" strike="noStrike" cap="none" dirty="0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AI bot guide:</a:t>
            </a:r>
            <a:endParaRPr dirty="0"/>
          </a:p>
        </p:txBody>
      </p:sp>
      <p:sp>
        <p:nvSpPr>
          <p:cNvPr id="267" name="Google Shape;267;p18"/>
          <p:cNvSpPr txBox="1"/>
          <p:nvPr/>
        </p:nvSpPr>
        <p:spPr>
          <a:xfrm>
            <a:off x="10054970" y="3943344"/>
            <a:ext cx="4584000" cy="1153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it-IT" sz="2499" dirty="0">
                <a:solidFill>
                  <a:srgbClr val="FFFFFF"/>
                </a:solidFill>
                <a:latin typeface="Assistant"/>
                <a:cs typeface="Assistan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https://codemyroad.wordpress.com/2013/04/14/tetris-ai-the-near-perfect-player/</a:t>
            </a:r>
            <a:endParaRPr lang="it-IT" sz="2499" dirty="0">
              <a:solidFill>
                <a:srgbClr val="FFFFFF"/>
              </a:solidFill>
              <a:latin typeface="Assistant"/>
              <a:cs typeface="Assistant"/>
            </a:endParaRPr>
          </a:p>
        </p:txBody>
      </p:sp>
      <p:sp>
        <p:nvSpPr>
          <p:cNvPr id="268" name="Google Shape;268;p18"/>
          <p:cNvSpPr txBox="1"/>
          <p:nvPr/>
        </p:nvSpPr>
        <p:spPr>
          <a:xfrm>
            <a:off x="10054970" y="5591119"/>
            <a:ext cx="4584124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="0" i="0" u="none" strike="noStrike" cap="none" dirty="0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Tutorial </a:t>
            </a:r>
            <a:r>
              <a:rPr lang="en-US" sz="3500" b="0" i="0" u="none" strike="noStrike" cap="none" dirty="0" err="1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tetris</a:t>
            </a:r>
            <a:r>
              <a:rPr lang="en-US" sz="3500" b="0" i="0" u="none" strike="noStrike" cap="none" dirty="0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 </a:t>
            </a:r>
            <a:r>
              <a:rPr lang="en-US" sz="3500" b="0" i="0" u="none" strike="noStrike" cap="none" dirty="0" err="1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spel</a:t>
            </a:r>
            <a:r>
              <a:rPr lang="en-US" sz="3500" b="0" i="0" u="none" strike="noStrike" cap="none" dirty="0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:</a:t>
            </a:r>
            <a:endParaRPr dirty="0"/>
          </a:p>
        </p:txBody>
      </p:sp>
      <p:sp>
        <p:nvSpPr>
          <p:cNvPr id="269" name="Google Shape;269;p18"/>
          <p:cNvSpPr txBox="1"/>
          <p:nvPr/>
        </p:nvSpPr>
        <p:spPr>
          <a:xfrm>
            <a:off x="10054970" y="6184386"/>
            <a:ext cx="4584000" cy="769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99" dirty="0">
                <a:solidFill>
                  <a:srgbClr val="FFFFFF"/>
                </a:solidFill>
                <a:latin typeface="Assistant"/>
                <a:cs typeface="Assistan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https://www.youtube.com/watch?v=nF_crEtmpBo</a:t>
            </a:r>
            <a:endParaRPr lang="en-GB" sz="2499" dirty="0">
              <a:solidFill>
                <a:srgbClr val="FFFFFF"/>
              </a:solidFill>
              <a:latin typeface="Assistant"/>
              <a:cs typeface="Assistant"/>
            </a:endParaRPr>
          </a:p>
        </p:txBody>
      </p:sp>
      <p:sp>
        <p:nvSpPr>
          <p:cNvPr id="270" name="Google Shape;270;p18"/>
          <p:cNvSpPr txBox="1"/>
          <p:nvPr/>
        </p:nvSpPr>
        <p:spPr>
          <a:xfrm>
            <a:off x="10054970" y="7832162"/>
            <a:ext cx="4584124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="0" i="0" u="none" strike="noStrike" cap="none" dirty="0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Tetris AI </a:t>
            </a:r>
            <a:r>
              <a:rPr lang="en-US" sz="3500" b="0" i="0" u="none" strike="noStrike" cap="none" dirty="0" err="1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Github</a:t>
            </a:r>
            <a:r>
              <a:rPr lang="en-US" sz="3500" b="0" i="0" u="none" strike="noStrike" cap="none" dirty="0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:</a:t>
            </a:r>
            <a:endParaRPr dirty="0"/>
          </a:p>
        </p:txBody>
      </p:sp>
      <p:sp>
        <p:nvSpPr>
          <p:cNvPr id="271" name="Google Shape;271;p18"/>
          <p:cNvSpPr txBox="1"/>
          <p:nvPr/>
        </p:nvSpPr>
        <p:spPr>
          <a:xfrm>
            <a:off x="10054970" y="8425429"/>
            <a:ext cx="4584000" cy="769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99" dirty="0">
                <a:solidFill>
                  <a:srgbClr val="FFFFFF"/>
                </a:solidFill>
                <a:latin typeface="Assistant"/>
                <a:cs typeface="Assistan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https://github.com/estebandesmedt/Tetris-AI</a:t>
            </a:r>
            <a:endParaRPr dirty="0"/>
          </a:p>
        </p:txBody>
      </p:sp>
      <p:sp>
        <p:nvSpPr>
          <p:cNvPr id="272" name="Google Shape;272;p18"/>
          <p:cNvSpPr/>
          <p:nvPr/>
        </p:nvSpPr>
        <p:spPr>
          <a:xfrm>
            <a:off x="9223965" y="1118982"/>
            <a:ext cx="528228" cy="530596"/>
          </a:xfrm>
          <a:custGeom>
            <a:avLst/>
            <a:gdLst/>
            <a:ahLst/>
            <a:cxnLst/>
            <a:rect l="l" t="t" r="r" b="b"/>
            <a:pathLst>
              <a:path w="809173" h="812800" extrusionOk="0">
                <a:moveTo>
                  <a:pt x="404587" y="0"/>
                </a:moveTo>
                <a:cubicBezTo>
                  <a:pt x="628326" y="1001"/>
                  <a:pt x="809174" y="182659"/>
                  <a:pt x="809174" y="406400"/>
                </a:cubicBezTo>
                <a:cubicBezTo>
                  <a:pt x="809174" y="630141"/>
                  <a:pt x="628326" y="811799"/>
                  <a:pt x="404587" y="812800"/>
                </a:cubicBezTo>
                <a:cubicBezTo>
                  <a:pt x="180848" y="811799"/>
                  <a:pt x="0" y="630141"/>
                  <a:pt x="0" y="406400"/>
                </a:cubicBezTo>
                <a:cubicBezTo>
                  <a:pt x="0" y="182659"/>
                  <a:pt x="180848" y="1001"/>
                  <a:pt x="404587" y="0"/>
                </a:cubicBezTo>
                <a:close/>
              </a:path>
            </a:pathLst>
          </a:custGeom>
          <a:solidFill>
            <a:srgbClr val="A16AE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8"/>
          <p:cNvSpPr/>
          <p:nvPr/>
        </p:nvSpPr>
        <p:spPr>
          <a:xfrm>
            <a:off x="9243297" y="3360025"/>
            <a:ext cx="528228" cy="530596"/>
          </a:xfrm>
          <a:custGeom>
            <a:avLst/>
            <a:gdLst/>
            <a:ahLst/>
            <a:cxnLst/>
            <a:rect l="l" t="t" r="r" b="b"/>
            <a:pathLst>
              <a:path w="809173" h="812800" extrusionOk="0">
                <a:moveTo>
                  <a:pt x="404587" y="0"/>
                </a:moveTo>
                <a:cubicBezTo>
                  <a:pt x="628326" y="1001"/>
                  <a:pt x="809174" y="182659"/>
                  <a:pt x="809174" y="406400"/>
                </a:cubicBezTo>
                <a:cubicBezTo>
                  <a:pt x="809174" y="630141"/>
                  <a:pt x="628326" y="811799"/>
                  <a:pt x="404587" y="812800"/>
                </a:cubicBezTo>
                <a:cubicBezTo>
                  <a:pt x="180848" y="811799"/>
                  <a:pt x="0" y="630141"/>
                  <a:pt x="0" y="406400"/>
                </a:cubicBezTo>
                <a:cubicBezTo>
                  <a:pt x="0" y="182659"/>
                  <a:pt x="180848" y="1001"/>
                  <a:pt x="404587" y="0"/>
                </a:cubicBezTo>
                <a:close/>
              </a:path>
            </a:pathLst>
          </a:custGeom>
          <a:solidFill>
            <a:srgbClr val="F5C5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8"/>
          <p:cNvSpPr/>
          <p:nvPr/>
        </p:nvSpPr>
        <p:spPr>
          <a:xfrm>
            <a:off x="9243297" y="5596093"/>
            <a:ext cx="528228" cy="530596"/>
          </a:xfrm>
          <a:custGeom>
            <a:avLst/>
            <a:gdLst/>
            <a:ahLst/>
            <a:cxnLst/>
            <a:rect l="l" t="t" r="r" b="b"/>
            <a:pathLst>
              <a:path w="809173" h="812800" extrusionOk="0">
                <a:moveTo>
                  <a:pt x="404587" y="0"/>
                </a:moveTo>
                <a:cubicBezTo>
                  <a:pt x="628326" y="1001"/>
                  <a:pt x="809174" y="182659"/>
                  <a:pt x="809174" y="406400"/>
                </a:cubicBezTo>
                <a:cubicBezTo>
                  <a:pt x="809174" y="630141"/>
                  <a:pt x="628326" y="811799"/>
                  <a:pt x="404587" y="812800"/>
                </a:cubicBezTo>
                <a:cubicBezTo>
                  <a:pt x="180848" y="811799"/>
                  <a:pt x="0" y="630141"/>
                  <a:pt x="0" y="406400"/>
                </a:cubicBezTo>
                <a:cubicBezTo>
                  <a:pt x="0" y="182659"/>
                  <a:pt x="180848" y="1001"/>
                  <a:pt x="404587" y="0"/>
                </a:cubicBezTo>
                <a:close/>
              </a:path>
            </a:pathLst>
          </a:custGeom>
          <a:solidFill>
            <a:srgbClr val="EF5F4A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8"/>
          <p:cNvSpPr/>
          <p:nvPr/>
        </p:nvSpPr>
        <p:spPr>
          <a:xfrm>
            <a:off x="9223965" y="7832161"/>
            <a:ext cx="528228" cy="530596"/>
          </a:xfrm>
          <a:custGeom>
            <a:avLst/>
            <a:gdLst/>
            <a:ahLst/>
            <a:cxnLst/>
            <a:rect l="l" t="t" r="r" b="b"/>
            <a:pathLst>
              <a:path w="809173" h="812800" extrusionOk="0">
                <a:moveTo>
                  <a:pt x="404587" y="0"/>
                </a:moveTo>
                <a:cubicBezTo>
                  <a:pt x="628326" y="1001"/>
                  <a:pt x="809174" y="182659"/>
                  <a:pt x="809174" y="406400"/>
                </a:cubicBezTo>
                <a:cubicBezTo>
                  <a:pt x="809174" y="630141"/>
                  <a:pt x="628326" y="811799"/>
                  <a:pt x="404587" y="812800"/>
                </a:cubicBezTo>
                <a:cubicBezTo>
                  <a:pt x="180848" y="811799"/>
                  <a:pt x="0" y="630141"/>
                  <a:pt x="0" y="406400"/>
                </a:cubicBezTo>
                <a:cubicBezTo>
                  <a:pt x="0" y="182659"/>
                  <a:pt x="180848" y="1001"/>
                  <a:pt x="404587" y="0"/>
                </a:cubicBezTo>
                <a:close/>
              </a:path>
            </a:pathLst>
          </a:custGeom>
          <a:solidFill>
            <a:srgbClr val="A16AE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F8DA268-96D3-A0C3-28F1-40A0A9559A3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26973" y="2331900"/>
            <a:ext cx="3002423" cy="598478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074" name="Picture 2" descr="Possible pieces and rotations">
            <a:extLst>
              <a:ext uri="{FF2B5EF4-FFF2-40B4-BE49-F238E27FC236}">
                <a16:creationId xmlns:a16="http://schemas.microsoft.com/office/drawing/2014/main" id="{22E108E6-1B92-289B-C465-4B4B5BF04C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9414" y="3294052"/>
            <a:ext cx="2742251" cy="391750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hthoek 1">
            <a:extLst>
              <a:ext uri="{FF2B5EF4-FFF2-40B4-BE49-F238E27FC236}">
                <a16:creationId xmlns:a16="http://schemas.microsoft.com/office/drawing/2014/main" id="{B60FE28B-19E5-F3EA-436C-8ABD629B6AFE}"/>
              </a:ext>
            </a:extLst>
          </p:cNvPr>
          <p:cNvSpPr/>
          <p:nvPr/>
        </p:nvSpPr>
        <p:spPr>
          <a:xfrm>
            <a:off x="17565191" y="9627980"/>
            <a:ext cx="441147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nl-NL" sz="1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5976912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C500"/>
        </a:solidFill>
        <a:effectLst/>
      </p:bgPr>
    </p:bg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If Tetris has taught me anything it's that errors pile up and  accomplishments disappear&quot; -- Unknown (1900x1200) : r/QuotesPorn">
            <a:extLst>
              <a:ext uri="{FF2B5EF4-FFF2-40B4-BE49-F238E27FC236}">
                <a16:creationId xmlns:a16="http://schemas.microsoft.com/office/drawing/2014/main" id="{BF9B0422-7559-E6AA-C2A1-ECB96509CD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6496" y="604024"/>
            <a:ext cx="14375007" cy="9078951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3" name="Rechthoek 2">
            <a:extLst>
              <a:ext uri="{FF2B5EF4-FFF2-40B4-BE49-F238E27FC236}">
                <a16:creationId xmlns:a16="http://schemas.microsoft.com/office/drawing/2014/main" id="{86749B6C-4ACD-8A39-0509-94E1142D7EA2}"/>
              </a:ext>
            </a:extLst>
          </p:cNvPr>
          <p:cNvSpPr/>
          <p:nvPr/>
        </p:nvSpPr>
        <p:spPr>
          <a:xfrm>
            <a:off x="17565191" y="9627980"/>
            <a:ext cx="441147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nl-NL" sz="1800" b="0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15</a:t>
            </a:r>
            <a:endParaRPr lang="nl-NL" sz="1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iolet Yellow and Green Geometric Project Roadmap Presentation ">
  <a:themeElements>
    <a:clrScheme name="Office">
      <a:dk1>
        <a:srgbClr val="000000"/>
      </a:dk1>
      <a:lt1>
        <a:srgbClr val="FFFFFF"/>
      </a:lt1>
      <a:dk2>
        <a:srgbClr val="A16AE8"/>
      </a:dk2>
      <a:lt2>
        <a:srgbClr val="F5C500"/>
      </a:lt2>
      <a:accent1>
        <a:srgbClr val="EE604A"/>
      </a:accent1>
      <a:accent2>
        <a:srgbClr val="4BB8BE"/>
      </a:accent2>
      <a:accent3>
        <a:srgbClr val="F5C500"/>
      </a:accent3>
      <a:accent4>
        <a:srgbClr val="8064A2"/>
      </a:accent4>
      <a:accent5>
        <a:srgbClr val="B7B7B7"/>
      </a:accent5>
      <a:accent6>
        <a:srgbClr val="F3F3F3"/>
      </a:accent6>
      <a:hlink>
        <a:srgbClr val="191919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410</Words>
  <Application>Microsoft Office PowerPoint</Application>
  <PresentationFormat>Aangepast</PresentationFormat>
  <Paragraphs>174</Paragraphs>
  <Slides>15</Slides>
  <Notes>15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5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15</vt:i4>
      </vt:variant>
    </vt:vector>
  </HeadingPairs>
  <TitlesOfParts>
    <vt:vector size="21" baseType="lpstr">
      <vt:lpstr>Arial</vt:lpstr>
      <vt:lpstr>Calibri</vt:lpstr>
      <vt:lpstr>Fira Sans</vt:lpstr>
      <vt:lpstr>Assistant</vt:lpstr>
      <vt:lpstr>Fira Sans Medium</vt:lpstr>
      <vt:lpstr>Violet Yellow and Green Geometric Project Roadmap Presentation </vt:lpstr>
      <vt:lpstr>Tetris AI</vt:lpstr>
      <vt:lpstr>PowerPoint-presentatie</vt:lpstr>
      <vt:lpstr>Doelstellingen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Tetris AI</dc:title>
  <dc:creator>colin bossuyt</dc:creator>
  <cp:lastModifiedBy>Esteban Desmedt</cp:lastModifiedBy>
  <cp:revision>15</cp:revision>
  <dcterms:modified xsi:type="dcterms:W3CDTF">2023-11-30T14:22:40Z</dcterms:modified>
</cp:coreProperties>
</file>